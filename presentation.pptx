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75074"/>
  </p:normalViewPr>
  <p:slideViewPr>
    <p:cSldViewPr snapToGrid="0">
      <p:cViewPr varScale="1">
        <p:scale>
          <a:sx n="86" d="100"/>
          <a:sy n="86" d="100"/>
        </p:scale>
        <p:origin x="1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12 months</c:v>
          </c:tx>
          <c:spPr>
            <a:solidFill>
              <a:srgbClr val="C9785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222222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Low</c:v>
              </c:pt>
              <c:pt idx="1">
                <c:v>Base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-84.3</c:v>
              </c:pt>
              <c:pt idx="1">
                <c:v>-66.7</c:v>
              </c:pt>
              <c:pt idx="2">
                <c:v>-44.3</c:v>
              </c:pt>
            </c:numLit>
          </c:val>
          <c:extLst>
            <c:ext xmlns:c16="http://schemas.microsoft.com/office/drawing/2014/chart" uri="{C3380CC4-5D6E-409C-BE32-E72D297353CC}">
              <c16:uniqueId val="{00000000-D6B5-7041-97AF-8A159F195BE7}"/>
            </c:ext>
          </c:extLst>
        </c:ser>
        <c:ser>
          <c:idx val="1"/>
          <c:order val="1"/>
          <c:tx>
            <c:v>36 months</c:v>
          </c:tx>
          <c:spPr>
            <a:solidFill>
              <a:srgbClr val="1F6F6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222222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Low</c:v>
              </c:pt>
              <c:pt idx="1">
                <c:v>Base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-60.9</c:v>
              </c:pt>
              <c:pt idx="1">
                <c:v>22.3</c:v>
              </c:pt>
              <c:pt idx="2">
                <c:v>116.1</c:v>
              </c:pt>
            </c:numLit>
          </c:val>
          <c:extLst>
            <c:ext xmlns:c16="http://schemas.microsoft.com/office/drawing/2014/chart" uri="{C3380CC4-5D6E-409C-BE32-E72D297353CC}">
              <c16:uniqueId val="{00000001-D6B5-7041-97AF-8A159F195B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7D1"/>
            </a:solidFill>
            <a:prstDash val="solid"/>
          </a:ln>
        </c:spPr>
        <c:txPr>
          <a:bodyPr anchorCtr="1"/>
          <a:lstStyle/>
          <a:p>
            <a:pPr>
              <a:defRPr sz="975" b="1">
                <a:solidFill>
                  <a:srgbClr val="222222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D7D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B7280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25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B7280"/>
              </a:solidFill>
            </a:defRPr>
          </a:pPr>
          <a:endParaRPr lang="es-E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5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57CE9D0-6954-42EF-8888-ADDF839FF54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9DCD4"/>
                </a:solidFill>
              </a:defRPr>
            </a:pPr>
            <a:r>
              <a:rPr sz="1200" b="1">
                <a:solidFill>
                  <a:srgbClr val="B9DCD4"/>
                </a:solidFill>
              </a:rPr>
              <a:t>KINDERFLOW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B6B996-9AD1-496D-8FB0-6B4C5C7074BD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609600" cy="57150"/>
          </a:xfrm>
          <a:prstGeom prst="rect">
            <a:avLst/>
          </a:prstGeom>
          <a:solidFill>
            <a:srgbClr val="C978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itle-slide-title">
            <a:extLst>
              <a:ext uri="{FF2B5EF4-FFF2-40B4-BE49-F238E27FC236}">
                <a16:creationId xmlns:a16="http://schemas.microsoft.com/office/drawing/2014/main" id="{C3603D7B-60DB-48C0-9824-8822142A4657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54292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 dirty="0" err="1">
                <a:solidFill>
                  <a:srgbClr val="FFFFFF"/>
                </a:solidFill>
              </a:rPr>
              <a:t>KinderFlow</a:t>
            </a:r>
            <a:r>
              <a:rPr sz="3150" b="1" dirty="0">
                <a:solidFill>
                  <a:srgbClr val="FFFFFF"/>
                </a:solidFill>
              </a:rPr>
              <a:t> turns nursery expertise into a school-to-home service.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33A652-6FC5-4FAD-96CF-BA3732DE0EEA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Kinder Signs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0D284A-B40B-4203-8DA2-B7EB66E23DFF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7EAE6"/>
                </a:solidFill>
              </a:defRPr>
            </a:pPr>
            <a:r>
              <a:rPr sz="1650" b="0" dirty="0">
                <a:solidFill>
                  <a:srgbClr val="D7EAE6"/>
                </a:solidFill>
              </a:rPr>
              <a:t>Early childhood education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77EA72-0BF9-4AD7-B1E1-E3D35C96DCA5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Gretel Ceballos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C324C4-379A-4A2F-BBC4-9C7396C74EFB}"/>
              </a:ext>
            </a:extLst>
          </p:cNvPr>
          <p:cNvSpPr>
            <a:spLocks noGrp="1"/>
          </p:cNvSpPr>
          <p:nvPr/>
        </p:nvSpPr>
        <p:spPr>
          <a:xfrm>
            <a:off x="6949440" y="140970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INSERT 01_kinderflow_overview.png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CB40ED4-961A-4A1C-866B-8277D8ED808D}"/>
              </a:ext>
            </a:extLst>
          </p:cNvPr>
          <p:cNvSpPr>
            <a:spLocks noGrp="1"/>
          </p:cNvSpPr>
          <p:nvPr/>
        </p:nvSpPr>
        <p:spPr>
          <a:xfrm>
            <a:off x="6949440" y="1924050"/>
            <a:ext cx="44958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</a:defRPr>
            </a:pPr>
            <a:r>
              <a:rPr sz="1350" b="0" dirty="0">
                <a:solidFill>
                  <a:srgbClr val="6B7280"/>
                </a:solidFill>
              </a:rPr>
              <a:t>Capture /content-</a:t>
            </a:r>
            <a:r>
              <a:rPr sz="1350" b="0" dirty="0" err="1">
                <a:solidFill>
                  <a:srgbClr val="6B7280"/>
                </a:solidFill>
              </a:rPr>
              <a:t>studio.html</a:t>
            </a:r>
            <a:r>
              <a:rPr sz="1350" b="0" dirty="0">
                <a:solidFill>
                  <a:srgbClr val="6B7280"/>
                </a:solidFill>
              </a:rPr>
              <a:t> at 1440 x 900. Keep </a:t>
            </a:r>
            <a:r>
              <a:rPr sz="1350" b="0" dirty="0" err="1">
                <a:solidFill>
                  <a:srgbClr val="6B7280"/>
                </a:solidFill>
              </a:rPr>
              <a:t>KinderFlow</a:t>
            </a:r>
            <a:r>
              <a:rPr sz="1350" b="0" dirty="0">
                <a:solidFill>
                  <a:srgbClr val="6B7280"/>
                </a:solidFill>
              </a:rPr>
              <a:t> name and value proposition visible.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2B43FA7-ADAD-4371-8FAC-CA1165870524}"/>
              </a:ext>
            </a:extLst>
          </p:cNvPr>
          <p:cNvSpPr>
            <a:spLocks noGrp="1"/>
          </p:cNvSpPr>
          <p:nvPr/>
        </p:nvSpPr>
        <p:spPr>
          <a:xfrm>
            <a:off x="7962900" y="4114800"/>
            <a:ext cx="2171700" cy="2152650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4192" y="4162425"/>
            <a:ext cx="1949116" cy="2057400"/>
          </a:xfrm>
          <a:prstGeom prst="roundRect">
            <a:avLst>
              <a:gd name="adj" fmla="val 6481"/>
            </a:avLst>
          </a:prstGeom>
        </p:spPr>
      </p:pic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E344135-1F90-4158-ADE0-EC554DF33748}"/>
              </a:ext>
            </a:extLst>
          </p:cNvPr>
          <p:cNvSpPr>
            <a:spLocks noGrp="1"/>
          </p:cNvSpPr>
          <p:nvPr/>
        </p:nvSpPr>
        <p:spPr>
          <a:xfrm>
            <a:off x="6972300" y="6382512"/>
            <a:ext cx="4152900" cy="285750"/>
          </a:xfrm>
          <a:prstGeom prst="roundRect">
            <a:avLst>
              <a:gd name="adj" fmla="val 50000"/>
            </a:avLst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DRAFT VISUAL  |  HUMAN REVIEW REQUIRED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8D2E93B-9EEB-4B10-E3D8-F422089D3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792480"/>
            <a:ext cx="5852160" cy="289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áfico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C1A33F6-634D-490B-99D6-18A1118D8246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514850" cy="1783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55451"/>
                </a:solidFill>
              </a:defRPr>
            </a:pPr>
            <a:r>
              <a:rPr lang="es-ES" sz="2400" b="1">
                <a:solidFill>
                  <a:srgbClr val="155451"/>
                </a:solidFill>
              </a:rPr>
              <a:t>She teaches Baby Sign and sells training. Repeated family support is not yet a recurring digital service.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32D7D4-22FE-4447-817F-A6B9E3CB4628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305300" cy="1051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00" b="0">
                <a:solidFill>
                  <a:srgbClr val="222222"/>
                </a:solidFill>
              </a:defRPr>
            </a:pPr>
            <a:r>
              <a:rPr lang="es-ES" sz="2000" b="0">
                <a:solidFill>
                  <a:srgbClr val="222222"/>
                </a:solidFill>
              </a:rPr>
              <a:t>That knowledge lives in conversations and materials she prepares herself.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076E21-F034-4987-A6CF-33FAEFC213B2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4381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Founder-observed inputs, public evidence and calculated scenarios. Not audited financial data.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F82618A-E5AA-4E81-A8F9-C32284C5F8C3}"/>
              </a:ext>
            </a:extLst>
          </p:cNvPr>
          <p:cNvSpPr>
            <a:spLocks noGrp="1"/>
          </p:cNvSpPr>
          <p:nvPr/>
        </p:nvSpPr>
        <p:spPr>
          <a:xfrm>
            <a:off x="5581650" y="1618488"/>
            <a:ext cx="2628900" cy="1325880"/>
          </a:xfrm>
          <a:prstGeom prst="roundRect">
            <a:avLst>
              <a:gd name="adj" fmla="val 16071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AC33FB-C2C9-4336-BCC1-53F92D0F769F}"/>
              </a:ext>
            </a:extLst>
          </p:cNvPr>
          <p:cNvSpPr>
            <a:spLocks noGrp="1"/>
          </p:cNvSpPr>
          <p:nvPr/>
        </p:nvSpPr>
        <p:spPr>
          <a:xfrm>
            <a:off x="5581650" y="1618488"/>
            <a:ext cx="66675" cy="1325880"/>
          </a:xfrm>
          <a:prstGeom prst="rect">
            <a:avLst/>
          </a:prstGeom>
          <a:solidFill>
            <a:srgbClr val="1F6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EE73B5-3A54-4C6C-9849-035529C008A5}"/>
              </a:ext>
            </a:extLst>
          </p:cNvPr>
          <p:cNvSpPr>
            <a:spLocks noGrp="1"/>
          </p:cNvSpPr>
          <p:nvPr/>
        </p:nvSpPr>
        <p:spPr>
          <a:xfrm>
            <a:off x="5791200" y="1764792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42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501230D-C970-4683-98A2-A9454E5F2542}"/>
              </a:ext>
            </a:extLst>
          </p:cNvPr>
          <p:cNvSpPr>
            <a:spLocks noGrp="1"/>
          </p:cNvSpPr>
          <p:nvPr/>
        </p:nvSpPr>
        <p:spPr>
          <a:xfrm>
            <a:off x="5791200" y="224028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rPr lang="es-ES" sz="1400" b="0">
                <a:solidFill>
                  <a:srgbClr val="6B7280"/>
                </a:solidFill>
              </a:rPr>
              <a:t>theoretical capacity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190C59C9-3B95-4E68-9B83-515C86679AD9}"/>
              </a:ext>
            </a:extLst>
          </p:cNvPr>
          <p:cNvSpPr>
            <a:spLocks noGrp="1"/>
          </p:cNvSpPr>
          <p:nvPr/>
        </p:nvSpPr>
        <p:spPr>
          <a:xfrm>
            <a:off x="5848350" y="2578608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FOUNDER-OBSERVED UNITS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C3A76888-939F-4C14-B550-6DAEC48930F2}"/>
              </a:ext>
            </a:extLst>
          </p:cNvPr>
          <p:cNvSpPr>
            <a:spLocks noGrp="1"/>
          </p:cNvSpPr>
          <p:nvPr/>
        </p:nvSpPr>
        <p:spPr>
          <a:xfrm>
            <a:off x="8516874" y="1618488"/>
            <a:ext cx="2628900" cy="1325880"/>
          </a:xfrm>
          <a:prstGeom prst="roundRect">
            <a:avLst>
              <a:gd name="adj" fmla="val 16071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42D011-D45A-4D2C-89CF-07B94B92A644}"/>
              </a:ext>
            </a:extLst>
          </p:cNvPr>
          <p:cNvSpPr>
            <a:spLocks noGrp="1"/>
          </p:cNvSpPr>
          <p:nvPr/>
        </p:nvSpPr>
        <p:spPr>
          <a:xfrm>
            <a:off x="8516874" y="1618488"/>
            <a:ext cx="66675" cy="1325880"/>
          </a:xfrm>
          <a:prstGeom prst="rect">
            <a:avLst/>
          </a:prstGeom>
          <a:solidFill>
            <a:srgbClr val="8A6F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363175E-6788-41B0-B7A0-9E85341C9143}"/>
              </a:ext>
            </a:extLst>
          </p:cNvPr>
          <p:cNvSpPr>
            <a:spLocks noGrp="1"/>
          </p:cNvSpPr>
          <p:nvPr/>
        </p:nvSpPr>
        <p:spPr>
          <a:xfrm>
            <a:off x="8726424" y="1764792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EUR 195k–238k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1C5C770-A8DE-41D8-B895-6FE209709728}"/>
              </a:ext>
            </a:extLst>
          </p:cNvPr>
          <p:cNvSpPr>
            <a:spLocks noGrp="1"/>
          </p:cNvSpPr>
          <p:nvPr/>
        </p:nvSpPr>
        <p:spPr>
          <a:xfrm>
            <a:off x="8726424" y="224028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rPr lang="es-ES" sz="1400" b="0">
                <a:solidFill>
                  <a:srgbClr val="6B7280"/>
                </a:solidFill>
              </a:rPr>
              <a:t>annual tuition lens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710507F-0AAF-4B36-A376-9EEC0835584D}"/>
              </a:ext>
            </a:extLst>
          </p:cNvPr>
          <p:cNvSpPr>
            <a:spLocks noGrp="1"/>
          </p:cNvSpPr>
          <p:nvPr/>
        </p:nvSpPr>
        <p:spPr>
          <a:xfrm>
            <a:off x="8878824" y="2578608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CALCULATED SCENARIO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94E1392C-9945-4683-944F-A3C4C68C3781}"/>
              </a:ext>
            </a:extLst>
          </p:cNvPr>
          <p:cNvSpPr>
            <a:spLocks noGrp="1"/>
          </p:cNvSpPr>
          <p:nvPr/>
        </p:nvSpPr>
        <p:spPr>
          <a:xfrm>
            <a:off x="5577840" y="3154680"/>
            <a:ext cx="5559552" cy="1325880"/>
          </a:xfrm>
          <a:prstGeom prst="roundRect">
            <a:avLst>
              <a:gd name="adj" fmla="val 16071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3E60C9A-15E8-4548-A9FD-229FC51847A4}"/>
              </a:ext>
            </a:extLst>
          </p:cNvPr>
          <p:cNvSpPr>
            <a:spLocks noGrp="1"/>
          </p:cNvSpPr>
          <p:nvPr/>
        </p:nvSpPr>
        <p:spPr>
          <a:xfrm>
            <a:off x="5577840" y="3154680"/>
            <a:ext cx="66675" cy="1325880"/>
          </a:xfrm>
          <a:prstGeom prst="rect">
            <a:avLst/>
          </a:prstGeom>
          <a:solidFill>
            <a:srgbClr val="C978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AEC1AB2-703D-43AD-88A8-5D881D21320E}"/>
              </a:ext>
            </a:extLst>
          </p:cNvPr>
          <p:cNvSpPr>
            <a:spLocks noGrp="1"/>
          </p:cNvSpPr>
          <p:nvPr/>
        </p:nvSpPr>
        <p:spPr>
          <a:xfrm>
            <a:off x="5788152" y="3300984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11–15 h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6AA3CE5-973F-4560-91ED-473F9096B262}"/>
              </a:ext>
            </a:extLst>
          </p:cNvPr>
          <p:cNvSpPr>
            <a:spLocks noGrp="1"/>
          </p:cNvSpPr>
          <p:nvPr/>
        </p:nvSpPr>
        <p:spPr>
          <a:xfrm>
            <a:off x="5788152" y="3776472"/>
            <a:ext cx="502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rPr lang="es-ES" sz="1400" b="0">
                <a:solidFill>
                  <a:srgbClr val="6B7280"/>
                </a:solidFill>
              </a:rPr>
              <a:t>monthly support-time range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3BF5DA04-B346-46C6-BBFC-8008FD977043}"/>
              </a:ext>
            </a:extLst>
          </p:cNvPr>
          <p:cNvSpPr>
            <a:spLocks noGrp="1"/>
          </p:cNvSpPr>
          <p:nvPr/>
        </p:nvSpPr>
        <p:spPr>
          <a:xfrm>
            <a:off x="5943600" y="4114800"/>
            <a:ext cx="18288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PILOT HYPOTHESIS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B2B6DA85-B80A-4411-96B3-2F680C098567}"/>
              </a:ext>
            </a:extLst>
          </p:cNvPr>
          <p:cNvSpPr>
            <a:spLocks noGrp="1"/>
          </p:cNvSpPr>
          <p:nvPr/>
        </p:nvSpPr>
        <p:spPr>
          <a:xfrm>
            <a:off x="5581650" y="4610100"/>
            <a:ext cx="5562600" cy="10972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C3B5DEE-9A8B-4437-950C-C00D4D1A1A2E}"/>
              </a:ext>
            </a:extLst>
          </p:cNvPr>
          <p:cNvSpPr>
            <a:spLocks noGrp="1"/>
          </p:cNvSpPr>
          <p:nvPr/>
        </p:nvSpPr>
        <p:spPr>
          <a:xfrm>
            <a:off x="5810250" y="4709160"/>
            <a:ext cx="38404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00" b="1">
                <a:solidFill>
                  <a:srgbClr val="6B7280"/>
                </a:solidFill>
              </a:defRPr>
            </a:pPr>
            <a:r>
              <a:rPr lang="es-ES" sz="1400" b="1">
                <a:solidFill>
                  <a:srgbClr val="6B7280"/>
                </a:solidFill>
              </a:rPr>
              <a:t>Baseline KinderFlow recurring school revenue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01D605C-1B37-41E2-A5C0-A989F2A38067}"/>
              </a:ext>
            </a:extLst>
          </p:cNvPr>
          <p:cNvSpPr>
            <a:spLocks noGrp="1"/>
          </p:cNvSpPr>
          <p:nvPr/>
        </p:nvSpPr>
        <p:spPr>
          <a:xfrm>
            <a:off x="9372600" y="4733925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250" b="1">
                <a:solidFill>
                  <a:srgbClr val="C97855"/>
                </a:solidFill>
              </a:defRPr>
            </a:pPr>
            <a:r>
              <a:rPr sz="2250" b="1">
                <a:solidFill>
                  <a:srgbClr val="C97855"/>
                </a:solidFill>
              </a:rPr>
              <a:t>EUR 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67751A2-73A7-4BB7-917B-2A0D44D11D35}"/>
              </a:ext>
            </a:extLst>
          </p:cNvPr>
          <p:cNvSpPr>
            <a:spLocks noGrp="1"/>
          </p:cNvSpPr>
          <p:nvPr/>
        </p:nvSpPr>
        <p:spPr>
          <a:xfrm>
            <a:off x="5810250" y="5285232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lang="en-US" sz="1275" b="0">
                <a:solidFill>
                  <a:srgbClr val="222222"/>
                </a:solidFill>
              </a:rPr>
              <a:t>Families ask for materials; income today is mainly one-off courses.</a:t>
            </a:r>
            <a:endParaRPr sz="1275" b="0">
              <a:solidFill>
                <a:srgbClr val="222222"/>
              </a:solidFill>
            </a:endParaRPr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163E8D3B-2217-4888-93FC-3B25F2E9A68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0A4A67E-29B4-4E44-A940-092E66A00C5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Source: docs/little_steps_operating_case_kpis.md; pseudonymised, not audited client financial data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FA7BDCD-ADA0-45E9-8537-ADA0DE7DB34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719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áfico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Flecha derecha 1">
            <a:extLst>
              <a:ext uri="{FF2B5EF4-FFF2-40B4-BE49-F238E27FC236}">
                <a16:creationId xmlns:a16="http://schemas.microsoft.com/office/drawing/2014/main" id="{399155D3-E9E9-487C-9FE4-0548FB6077A4}"/>
              </a:ext>
            </a:extLst>
          </p:cNvPr>
          <p:cNvSpPr>
            <a:spLocks noGrp="1"/>
          </p:cNvSpPr>
          <p:nvPr/>
        </p:nvSpPr>
        <p:spPr>
          <a:xfrm>
            <a:off x="2238375" y="2009775"/>
            <a:ext cx="2286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Flecha derecha 2">
            <a:extLst>
              <a:ext uri="{FF2B5EF4-FFF2-40B4-BE49-F238E27FC236}">
                <a16:creationId xmlns:a16="http://schemas.microsoft.com/office/drawing/2014/main" id="{D6FBE347-AC63-4033-A4CA-ED9922152210}"/>
              </a:ext>
            </a:extLst>
          </p:cNvPr>
          <p:cNvSpPr>
            <a:spLocks noGrp="1"/>
          </p:cNvSpPr>
          <p:nvPr/>
        </p:nvSpPr>
        <p:spPr>
          <a:xfrm>
            <a:off x="4057650" y="2009775"/>
            <a:ext cx="2286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Flecha derecha 3">
            <a:extLst>
              <a:ext uri="{FF2B5EF4-FFF2-40B4-BE49-F238E27FC236}">
                <a16:creationId xmlns:a16="http://schemas.microsoft.com/office/drawing/2014/main" id="{9817C5BC-80A9-4B4B-9CF2-8A55DF9D73B3}"/>
              </a:ext>
            </a:extLst>
          </p:cNvPr>
          <p:cNvSpPr>
            <a:spLocks noGrp="1"/>
          </p:cNvSpPr>
          <p:nvPr/>
        </p:nvSpPr>
        <p:spPr>
          <a:xfrm>
            <a:off x="5876925" y="2009775"/>
            <a:ext cx="2286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Flecha derecha 4">
            <a:extLst>
              <a:ext uri="{FF2B5EF4-FFF2-40B4-BE49-F238E27FC236}">
                <a16:creationId xmlns:a16="http://schemas.microsoft.com/office/drawing/2014/main" id="{4448E2DF-B597-4803-A289-F197D543C1F2}"/>
              </a:ext>
            </a:extLst>
          </p:cNvPr>
          <p:cNvSpPr>
            <a:spLocks noGrp="1"/>
          </p:cNvSpPr>
          <p:nvPr/>
        </p:nvSpPr>
        <p:spPr>
          <a:xfrm>
            <a:off x="7696200" y="2009775"/>
            <a:ext cx="2286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A7BA3620-CFC4-4A75-A898-54DD1EFBBE5A}"/>
              </a:ext>
            </a:extLst>
          </p:cNvPr>
          <p:cNvSpPr>
            <a:spLocks noGrp="1"/>
          </p:cNvSpPr>
          <p:nvPr/>
        </p:nvSpPr>
        <p:spPr>
          <a:xfrm>
            <a:off x="9515475" y="2009775"/>
            <a:ext cx="2286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B86A6615-04AD-484B-9105-E121DAEBA59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C1930A8-936A-4EED-9B2E-662CDE7704A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FA4C96-F296-4E21-A6B6-3A2745D91E20}"/>
              </a:ext>
            </a:extLst>
          </p:cNvPr>
          <p:cNvSpPr>
            <a:spLocks noGrp="1"/>
          </p:cNvSpPr>
          <p:nvPr/>
        </p:nvSpPr>
        <p:spPr>
          <a:xfrm>
            <a:off x="819150" y="1897592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Reviewed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reference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25FEE94-F196-46EE-B2C2-283D3C9D0E02}"/>
              </a:ext>
            </a:extLst>
          </p:cNvPr>
          <p:cNvSpPr>
            <a:spLocks noGrp="1"/>
          </p:cNvSpPr>
          <p:nvPr/>
        </p:nvSpPr>
        <p:spPr>
          <a:xfrm>
            <a:off x="2505075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46804F-B108-4E5E-B5D0-B1365CC0E539}"/>
              </a:ext>
            </a:extLst>
          </p:cNvPr>
          <p:cNvSpPr>
            <a:spLocks noGrp="1"/>
          </p:cNvSpPr>
          <p:nvPr/>
        </p:nvSpPr>
        <p:spPr>
          <a:xfrm>
            <a:off x="2638425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F62AC5-236E-442A-BB5A-5A0D8ED159D8}"/>
              </a:ext>
            </a:extLst>
          </p:cNvPr>
          <p:cNvSpPr>
            <a:spLocks noGrp="1"/>
          </p:cNvSpPr>
          <p:nvPr/>
        </p:nvSpPr>
        <p:spPr>
          <a:xfrm>
            <a:off x="2686050" y="1839383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Computer Vision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2482E46-C0B8-4D7E-8022-2F58BCBF80F5}"/>
              </a:ext>
            </a:extLst>
          </p:cNvPr>
          <p:cNvSpPr>
            <a:spLocks noGrp="1"/>
          </p:cNvSpPr>
          <p:nvPr/>
        </p:nvSpPr>
        <p:spPr>
          <a:xfrm>
            <a:off x="4324350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E5F0EC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456F33-70CF-4D4C-A71D-E8279CB3F5F5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CFF783-8C17-40E3-B79F-CF8A0165DBD7}"/>
              </a:ext>
            </a:extLst>
          </p:cNvPr>
          <p:cNvSpPr>
            <a:spLocks noGrp="1"/>
          </p:cNvSpPr>
          <p:nvPr/>
        </p:nvSpPr>
        <p:spPr>
          <a:xfrm>
            <a:off x="4467225" y="1830917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Human-reviewed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sign asset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576D6F9D-D580-4FAE-9655-42914CF09F10}"/>
              </a:ext>
            </a:extLst>
          </p:cNvPr>
          <p:cNvSpPr>
            <a:spLocks noGrp="1"/>
          </p:cNvSpPr>
          <p:nvPr/>
        </p:nvSpPr>
        <p:spPr>
          <a:xfrm>
            <a:off x="6143625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00E46D-A6A3-4386-8E83-8CF9DB32EB52}"/>
              </a:ext>
            </a:extLst>
          </p:cNvPr>
          <p:cNvSpPr>
            <a:spLocks noGrp="1"/>
          </p:cNvSpPr>
          <p:nvPr/>
        </p:nvSpPr>
        <p:spPr>
          <a:xfrm>
            <a:off x="6276975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460E52F-A2A1-482E-B477-4EDCDB0E0373}"/>
              </a:ext>
            </a:extLst>
          </p:cNvPr>
          <p:cNvSpPr>
            <a:spLocks noGrp="1"/>
          </p:cNvSpPr>
          <p:nvPr/>
        </p:nvSpPr>
        <p:spPr>
          <a:xfrm>
            <a:off x="6309633" y="1884587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Family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materials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3044EB45-26E9-41B7-8C39-E38D914EA48D}"/>
              </a:ext>
            </a:extLst>
          </p:cNvPr>
          <p:cNvSpPr>
            <a:spLocks noGrp="1"/>
          </p:cNvSpPr>
          <p:nvPr/>
        </p:nvSpPr>
        <p:spPr>
          <a:xfrm>
            <a:off x="7962900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B77E58-3FE9-4B5E-856B-5B2A468AFA35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39328B8-9FF7-44FE-8A9B-045675E8EE60}"/>
              </a:ext>
            </a:extLst>
          </p:cNvPr>
          <p:cNvSpPr>
            <a:spLocks noGrp="1"/>
          </p:cNvSpPr>
          <p:nvPr/>
        </p:nvSpPr>
        <p:spPr>
          <a:xfrm>
            <a:off x="8096250" y="1957388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Nursery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assignment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192703F1-DFDA-40FD-8B78-42100D7727B9}"/>
              </a:ext>
            </a:extLst>
          </p:cNvPr>
          <p:cNvSpPr>
            <a:spLocks noGrp="1"/>
          </p:cNvSpPr>
          <p:nvPr/>
        </p:nvSpPr>
        <p:spPr>
          <a:xfrm>
            <a:off x="9782175" y="1676400"/>
            <a:ext cx="15049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2CAE955-ABD8-48ED-82AE-0AC847F56A68}"/>
              </a:ext>
            </a:extLst>
          </p:cNvPr>
          <p:cNvSpPr>
            <a:spLocks noGrp="1"/>
          </p:cNvSpPr>
          <p:nvPr/>
        </p:nvSpPr>
        <p:spPr>
          <a:xfrm>
            <a:off x="9915525" y="1809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06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586FF0-2DA5-4056-878E-F50DEF1916DA}"/>
              </a:ext>
            </a:extLst>
          </p:cNvPr>
          <p:cNvSpPr>
            <a:spLocks noGrp="1"/>
          </p:cNvSpPr>
          <p:nvPr/>
        </p:nvSpPr>
        <p:spPr>
          <a:xfrm>
            <a:off x="9915525" y="1967442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Home</a:t>
            </a:r>
          </a:p>
          <a:p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 dirty="0">
                <a:solidFill>
                  <a:srgbClr val="222222"/>
                </a:solidFill>
              </a:rPr>
              <a:t>use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86FC9EB-F59E-4BE7-A116-1B4CF418153A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6F6B"/>
                </a:solidFill>
              </a:defRPr>
            </a:pPr>
            <a:r>
              <a:rPr sz="1800" b="1">
                <a:solidFill>
                  <a:srgbClr val="1F6F6B"/>
                </a:solidFill>
              </a:rPr>
              <a:t>AI where it adds value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E76B0A4-EBAD-43AD-8E59-3407FADBA70C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4864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rPr lang="es-ES" sz="1700" b="0" dirty="0" err="1">
                <a:solidFill>
                  <a:srgbClr val="222222"/>
                </a:solidFill>
              </a:rPr>
              <a:t>MediaPipe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checks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the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movement</a:t>
            </a:r>
            <a:endParaRPr lang="es-ES" sz="1700" b="0" dirty="0">
              <a:solidFill>
                <a:srgbClr val="222222"/>
              </a:solidFill>
            </a:endParaRPr>
          </a:p>
          <a:p>
            <a:pPr algn="l">
              <a:defRPr sz="1700" b="0">
                <a:solidFill>
                  <a:srgbClr val="222222"/>
                </a:solidFill>
              </a:defRPr>
            </a:pPr>
            <a:r>
              <a:rPr lang="es-ES" sz="1700" b="0" dirty="0">
                <a:solidFill>
                  <a:srgbClr val="222222"/>
                </a:solidFill>
              </a:rPr>
              <a:t>AI drafts </a:t>
            </a:r>
            <a:r>
              <a:rPr lang="es-ES" sz="1700" b="0" dirty="0" err="1">
                <a:solidFill>
                  <a:srgbClr val="222222"/>
                </a:solidFill>
              </a:rPr>
              <a:t>wording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inside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fixed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limits</a:t>
            </a:r>
            <a:endParaRPr lang="es-ES" sz="1700" b="0" dirty="0">
              <a:solidFill>
                <a:srgbClr val="222222"/>
              </a:solidFill>
            </a:endParaRPr>
          </a:p>
          <a:p>
            <a:pPr algn="l">
              <a:defRPr sz="1700" b="0">
                <a:solidFill>
                  <a:srgbClr val="222222"/>
                </a:solidFill>
              </a:defRPr>
            </a:pPr>
            <a:r>
              <a:rPr lang="es-ES" sz="1000" b="0" dirty="0">
                <a:solidFill>
                  <a:srgbClr val="222222"/>
                </a:solidFill>
              </a:rPr>
              <a:t>***Gemini FX: demo </a:t>
            </a:r>
            <a:r>
              <a:rPr lang="es-ES" sz="1000" b="0" dirty="0" err="1">
                <a:solidFill>
                  <a:srgbClr val="222222"/>
                </a:solidFill>
              </a:rPr>
              <a:t>only</a:t>
            </a:r>
            <a:r>
              <a:rPr lang="es-ES" sz="1000" b="0" dirty="0">
                <a:solidFill>
                  <a:srgbClr val="222222"/>
                </a:solidFill>
              </a:rPr>
              <a:t>, </a:t>
            </a:r>
            <a:r>
              <a:rPr lang="es-ES" sz="1000" b="0" dirty="0" err="1">
                <a:solidFill>
                  <a:srgbClr val="222222"/>
                </a:solidFill>
              </a:rPr>
              <a:t>not</a:t>
            </a:r>
            <a:r>
              <a:rPr lang="es-ES" sz="1000" b="0" dirty="0">
                <a:solidFill>
                  <a:srgbClr val="222222"/>
                </a:solidFill>
              </a:rPr>
              <a:t> in </a:t>
            </a:r>
            <a:r>
              <a:rPr lang="es-ES" sz="1000" b="0" dirty="0" err="1">
                <a:solidFill>
                  <a:srgbClr val="222222"/>
                </a:solidFill>
              </a:rPr>
              <a:t>the</a:t>
            </a:r>
            <a:r>
              <a:rPr lang="es-ES" sz="1000" b="0" dirty="0">
                <a:solidFill>
                  <a:srgbClr val="222222"/>
                </a:solidFill>
              </a:rPr>
              <a:t> </a:t>
            </a:r>
            <a:r>
              <a:rPr lang="es-ES" sz="1000" b="0" dirty="0" err="1">
                <a:solidFill>
                  <a:srgbClr val="222222"/>
                </a:solidFill>
              </a:rPr>
              <a:t>product</a:t>
            </a:r>
            <a:endParaRPr lang="es-ES" sz="1000" b="0" dirty="0">
              <a:solidFill>
                <a:srgbClr val="222222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1E97EEE-6736-41D1-B9DE-C679EBA4D135}"/>
              </a:ext>
            </a:extLst>
          </p:cNvPr>
          <p:cNvSpPr>
            <a:spLocks noGrp="1"/>
          </p:cNvSpPr>
          <p:nvPr/>
        </p:nvSpPr>
        <p:spPr>
          <a:xfrm>
            <a:off x="6591300" y="31623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 dirty="0">
                <a:solidFill>
                  <a:srgbClr val="155451"/>
                </a:solidFill>
              </a:rPr>
              <a:t>Control where reliability matters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5C25A21-0C38-4D36-B8C2-427233CF83CD}"/>
              </a:ext>
            </a:extLst>
          </p:cNvPr>
          <p:cNvSpPr>
            <a:spLocks noGrp="1"/>
          </p:cNvSpPr>
          <p:nvPr/>
        </p:nvSpPr>
        <p:spPr>
          <a:xfrm>
            <a:off x="6591300" y="3581400"/>
            <a:ext cx="475488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00" b="0">
                <a:solidFill>
                  <a:srgbClr val="222222"/>
                </a:solidFill>
              </a:defRPr>
            </a:pPr>
            <a:r>
              <a:rPr lang="es-ES" sz="1700" b="0" dirty="0">
                <a:solidFill>
                  <a:srgbClr val="222222"/>
                </a:solidFill>
              </a:rPr>
              <a:t>The </a:t>
            </a:r>
            <a:r>
              <a:rPr lang="es-ES" sz="1700" b="0" dirty="0" err="1">
                <a:solidFill>
                  <a:srgbClr val="222222"/>
                </a:solidFill>
              </a:rPr>
              <a:t>sign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is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retrieved</a:t>
            </a:r>
            <a:r>
              <a:rPr lang="es-ES" sz="1700" b="0" dirty="0">
                <a:solidFill>
                  <a:srgbClr val="222222"/>
                </a:solidFill>
              </a:rPr>
              <a:t>, </a:t>
            </a:r>
            <a:r>
              <a:rPr lang="es-ES" sz="1700" b="0" dirty="0" err="1">
                <a:solidFill>
                  <a:srgbClr val="222222"/>
                </a:solidFill>
              </a:rPr>
              <a:t>never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invented</a:t>
            </a:r>
            <a:endParaRPr lang="es-ES" sz="1700" b="0" dirty="0">
              <a:solidFill>
                <a:srgbClr val="222222"/>
              </a:solidFill>
            </a:endParaRPr>
          </a:p>
          <a:p>
            <a:pPr algn="ctr">
              <a:defRPr sz="1700" b="0">
                <a:solidFill>
                  <a:srgbClr val="222222"/>
                </a:solidFill>
              </a:defRPr>
            </a:pPr>
            <a:r>
              <a:rPr lang="es-ES" sz="1700" b="0" dirty="0" err="1">
                <a:solidFill>
                  <a:srgbClr val="222222"/>
                </a:solidFill>
              </a:rPr>
              <a:t>Fixed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templates</a:t>
            </a:r>
            <a:r>
              <a:rPr lang="es-ES" sz="1700" b="0" dirty="0">
                <a:solidFill>
                  <a:srgbClr val="222222"/>
                </a:solidFill>
              </a:rPr>
              <a:t> and </a:t>
            </a:r>
            <a:r>
              <a:rPr lang="es-ES" sz="1700" b="0" dirty="0" err="1">
                <a:solidFill>
                  <a:srgbClr val="222222"/>
                </a:solidFill>
              </a:rPr>
              <a:t>quality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checks</a:t>
            </a:r>
            <a:endParaRPr lang="es-ES" sz="1700" b="0" dirty="0">
              <a:solidFill>
                <a:srgbClr val="222222"/>
              </a:solidFill>
            </a:endParaRPr>
          </a:p>
          <a:p>
            <a:pPr algn="ctr">
              <a:defRPr sz="1700" b="0">
                <a:solidFill>
                  <a:srgbClr val="222222"/>
                </a:solidFill>
              </a:defRPr>
            </a:pPr>
            <a:r>
              <a:rPr lang="es-ES" sz="1700" b="0" dirty="0">
                <a:solidFill>
                  <a:srgbClr val="222222"/>
                </a:solidFill>
              </a:rPr>
              <a:t>A </a:t>
            </a:r>
            <a:r>
              <a:rPr lang="es-ES" sz="1700" b="0" dirty="0" err="1">
                <a:solidFill>
                  <a:srgbClr val="222222"/>
                </a:solidFill>
              </a:rPr>
              <a:t>person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reviews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before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anything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is</a:t>
            </a:r>
            <a:r>
              <a:rPr lang="es-ES" sz="1700" b="0" dirty="0">
                <a:solidFill>
                  <a:srgbClr val="222222"/>
                </a:solidFill>
              </a:rPr>
              <a:t> </a:t>
            </a:r>
            <a:r>
              <a:rPr lang="es-ES" sz="1700" b="0" dirty="0" err="1">
                <a:solidFill>
                  <a:srgbClr val="222222"/>
                </a:solidFill>
              </a:rPr>
              <a:t>published</a:t>
            </a:r>
            <a:endParaRPr lang="es-ES" sz="1700" b="0" dirty="0">
              <a:solidFill>
                <a:srgbClr val="222222"/>
              </a:solidFill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DF4D6D05-3A83-4F92-B746-8A0EA58429BE}"/>
              </a:ext>
            </a:extLst>
          </p:cNvPr>
          <p:cNvSpPr>
            <a:spLocks noGrp="1"/>
          </p:cNvSpPr>
          <p:nvPr/>
        </p:nvSpPr>
        <p:spPr>
          <a:xfrm>
            <a:off x="612648" y="5486400"/>
            <a:ext cx="10972800" cy="603504"/>
          </a:xfrm>
          <a:prstGeom prst="roundRect">
            <a:avLst>
              <a:gd name="adj" fmla="val 20000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AE85492-09DF-4350-8E68-FAD38E8D396A}"/>
              </a:ext>
            </a:extLst>
          </p:cNvPr>
          <p:cNvSpPr>
            <a:spLocks noGrp="1"/>
          </p:cNvSpPr>
          <p:nvPr/>
        </p:nvSpPr>
        <p:spPr>
          <a:xfrm>
            <a:off x="896112" y="5614416"/>
            <a:ext cx="10405872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The moat is not Spanish content. It is the school-to-home workflow and controlled reuse.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ECC92240-E915-40EB-8CD5-623CCBA535A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03F7339-2433-4CC9-88FA-43A6D2408D6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use_case_definition.md; ai_responsibility_matrix.json; Round 1 research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0B00F6B-65AC-40F5-8308-D6465E8FFDC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43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Flecha derecha 1">
            <a:extLst>
              <a:ext uri="{FF2B5EF4-FFF2-40B4-BE49-F238E27FC236}">
                <a16:creationId xmlns:a16="http://schemas.microsoft.com/office/drawing/2014/main" id="{63D401AF-8533-4B54-B962-4B490FCF78FE}"/>
              </a:ext>
            </a:extLst>
          </p:cNvPr>
          <p:cNvSpPr>
            <a:spLocks noGrp="1"/>
          </p:cNvSpPr>
          <p:nvPr/>
        </p:nvSpPr>
        <p:spPr>
          <a:xfrm>
            <a:off x="2000250" y="1609725"/>
            <a:ext cx="133350" cy="19050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023A102-30A7-485C-A98E-6C00507045FE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1333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8DB484-9F27-44E3-9A8C-60D8E829E9D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28B58F-695C-40D0-A533-54EBAC0D929B}"/>
              </a:ext>
            </a:extLst>
          </p:cNvPr>
          <p:cNvSpPr>
            <a:spLocks noGrp="1"/>
          </p:cNvSpPr>
          <p:nvPr/>
        </p:nvSpPr>
        <p:spPr>
          <a:xfrm>
            <a:off x="781050" y="160292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 dirty="0">
                <a:solidFill>
                  <a:srgbClr val="222222"/>
                </a:solidFill>
              </a:rPr>
              <a:t>Reference</a:t>
            </a:r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C42BCBBB-E02D-423B-8267-AB0DBAA1D959}"/>
              </a:ext>
            </a:extLst>
          </p:cNvPr>
          <p:cNvSpPr>
            <a:spLocks noGrp="1"/>
          </p:cNvSpPr>
          <p:nvPr/>
        </p:nvSpPr>
        <p:spPr>
          <a:xfrm>
            <a:off x="3505200" y="1609725"/>
            <a:ext cx="133350" cy="19050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5122EB1B-D93D-41E1-9BB0-5F4FC1F26C24}"/>
              </a:ext>
            </a:extLst>
          </p:cNvPr>
          <p:cNvSpPr>
            <a:spLocks noGrp="1"/>
          </p:cNvSpPr>
          <p:nvPr/>
        </p:nvSpPr>
        <p:spPr>
          <a:xfrm>
            <a:off x="2152650" y="1333500"/>
            <a:ext cx="1333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394906-A2F4-4F09-A3BF-40E763F99869}"/>
              </a:ext>
            </a:extLst>
          </p:cNvPr>
          <p:cNvSpPr>
            <a:spLocks noGrp="1"/>
          </p:cNvSpPr>
          <p:nvPr/>
        </p:nvSpPr>
        <p:spPr>
          <a:xfrm>
            <a:off x="2286000" y="1466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C46F9B-1594-4BFD-80C1-BE71B5CB0D2A}"/>
              </a:ext>
            </a:extLst>
          </p:cNvPr>
          <p:cNvSpPr>
            <a:spLocks noGrp="1"/>
          </p:cNvSpPr>
          <p:nvPr/>
        </p:nvSpPr>
        <p:spPr>
          <a:xfrm>
            <a:off x="2286000" y="160292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MediaPipe</a:t>
            </a:r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8E1A5F1F-7FD3-4140-AD88-D9B15667E0B5}"/>
              </a:ext>
            </a:extLst>
          </p:cNvPr>
          <p:cNvSpPr>
            <a:spLocks noGrp="1"/>
          </p:cNvSpPr>
          <p:nvPr/>
        </p:nvSpPr>
        <p:spPr>
          <a:xfrm>
            <a:off x="5010150" y="1609725"/>
            <a:ext cx="133350" cy="19050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962C77A-8303-49A9-8336-9B6DAD60604F}"/>
              </a:ext>
            </a:extLst>
          </p:cNvPr>
          <p:cNvSpPr>
            <a:spLocks noGrp="1"/>
          </p:cNvSpPr>
          <p:nvPr/>
        </p:nvSpPr>
        <p:spPr>
          <a:xfrm>
            <a:off x="3657600" y="1333500"/>
            <a:ext cx="1333500" cy="876300"/>
          </a:xfrm>
          <a:prstGeom prst="roundRect">
            <a:avLst>
              <a:gd name="adj" fmla="val 17391"/>
            </a:avLst>
          </a:prstGeom>
          <a:solidFill>
            <a:srgbClr val="E5F0EC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A3C5BD-EC79-41F0-B4AA-2C25AF339584}"/>
              </a:ext>
            </a:extLst>
          </p:cNvPr>
          <p:cNvSpPr>
            <a:spLocks noGrp="1"/>
          </p:cNvSpPr>
          <p:nvPr/>
        </p:nvSpPr>
        <p:spPr>
          <a:xfrm>
            <a:off x="3790950" y="1466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1F3BAF-DF55-4055-830B-277F383AA902}"/>
              </a:ext>
            </a:extLst>
          </p:cNvPr>
          <p:cNvSpPr>
            <a:spLocks noGrp="1"/>
          </p:cNvSpPr>
          <p:nvPr/>
        </p:nvSpPr>
        <p:spPr>
          <a:xfrm>
            <a:off x="3790950" y="1602920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73266F7C-325E-436D-B91B-50CD73740711}"/>
              </a:ext>
            </a:extLst>
          </p:cNvPr>
          <p:cNvSpPr>
            <a:spLocks noGrp="1"/>
          </p:cNvSpPr>
          <p:nvPr/>
        </p:nvSpPr>
        <p:spPr>
          <a:xfrm>
            <a:off x="5162550" y="1333500"/>
            <a:ext cx="1333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E2BB20-AE28-4EF6-8B5E-4B7A9E836BCF}"/>
              </a:ext>
            </a:extLst>
          </p:cNvPr>
          <p:cNvSpPr>
            <a:spLocks noGrp="1"/>
          </p:cNvSpPr>
          <p:nvPr/>
        </p:nvSpPr>
        <p:spPr>
          <a:xfrm>
            <a:off x="5295900" y="1466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7855"/>
                </a:solidFill>
              </a:defRPr>
            </a:pPr>
            <a:r>
              <a:rPr sz="900" b="1">
                <a:solidFill>
                  <a:srgbClr val="C97855"/>
                </a:solidFill>
              </a:rPr>
              <a:t>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009AC86-5BD5-4AE6-8874-C578E999044B}"/>
              </a:ext>
            </a:extLst>
          </p:cNvPr>
          <p:cNvSpPr>
            <a:spLocks noGrp="1"/>
          </p:cNvSpPr>
          <p:nvPr/>
        </p:nvSpPr>
        <p:spPr>
          <a:xfrm>
            <a:off x="5295900" y="1559376"/>
            <a:ext cx="106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 dirty="0">
                <a:solidFill>
                  <a:srgbClr val="222222"/>
                </a:solidFill>
              </a:rPr>
              <a:t>Human review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B5A9F165-5DF7-4F2A-84A8-1B5F7E967EF4}"/>
              </a:ext>
            </a:extLst>
          </p:cNvPr>
          <p:cNvSpPr>
            <a:spLocks noGrp="1"/>
          </p:cNvSpPr>
          <p:nvPr/>
        </p:nvSpPr>
        <p:spPr>
          <a:xfrm>
            <a:off x="6819900" y="140970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 dirty="0">
                <a:solidFill>
                  <a:srgbClr val="8A6F55"/>
                </a:solidFill>
              </a:rPr>
              <a:t>VERSIONED </a:t>
            </a:r>
            <a:r>
              <a:rPr lang="es-ES" sz="1050" b="1">
                <a:solidFill>
                  <a:srgbClr val="8A6F55"/>
                </a:solidFill>
              </a:rPr>
              <a:t>MORE </a:t>
            </a:r>
            <a:r>
              <a:rPr sz="1050" b="1" dirty="0">
                <a:solidFill>
                  <a:srgbClr val="8A6F55"/>
                </a:solidFill>
              </a:rPr>
              <a:t>REFERENCE RUN</a:t>
            </a:r>
          </a:p>
        </p:txBody>
      </p:sp>
      <p:sp>
        <p:nvSpPr>
          <p:cNvPr id="100" name="Rectangulo demo label"/>
          <p:cNvSpPr>
            <a:spLocks noGrp="1"/>
          </p:cNvSpPr>
          <p:nvPr/>
        </p:nvSpPr>
        <p:spPr>
          <a:xfrm>
            <a:off x="8686800" y="502920"/>
            <a:ext cx="2898648" cy="310896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LIVE MVP DEMO + RECORDED BACKUP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5AAD6A23-336A-4594-B122-84D3DD999CE8}"/>
              </a:ext>
            </a:extLst>
          </p:cNvPr>
          <p:cNvSpPr>
            <a:spLocks noGrp="1"/>
          </p:cNvSpPr>
          <p:nvPr/>
        </p:nvSpPr>
        <p:spPr>
          <a:xfrm>
            <a:off x="6819900" y="186690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76839D3-74BF-4B95-A396-004B9EFB7658}"/>
              </a:ext>
            </a:extLst>
          </p:cNvPr>
          <p:cNvSpPr>
            <a:spLocks noGrp="1"/>
          </p:cNvSpPr>
          <p:nvPr/>
        </p:nvSpPr>
        <p:spPr>
          <a:xfrm>
            <a:off x="6819900" y="1866900"/>
            <a:ext cx="66675" cy="1066800"/>
          </a:xfrm>
          <a:prstGeom prst="rect">
            <a:avLst/>
          </a:prstGeom>
          <a:solidFill>
            <a:srgbClr val="1F6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5BF8836-D130-485F-9B54-41ADB67531D3}"/>
              </a:ext>
            </a:extLst>
          </p:cNvPr>
          <p:cNvSpPr>
            <a:spLocks noGrp="1"/>
          </p:cNvSpPr>
          <p:nvPr/>
        </p:nvSpPr>
        <p:spPr>
          <a:xfrm>
            <a:off x="7029450" y="20097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lang="es-ES" sz="2250" b="1" dirty="0">
                <a:solidFill>
                  <a:srgbClr val="222222"/>
                </a:solidFill>
              </a:rPr>
              <a:t>285</a:t>
            </a:r>
            <a:endParaRPr sz="2250" b="1" dirty="0">
              <a:solidFill>
                <a:srgbClr val="222222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B3AF014-4FD2-4883-A994-AD54AD2D45A4}"/>
              </a:ext>
            </a:extLst>
          </p:cNvPr>
          <p:cNvSpPr>
            <a:spLocks noGrp="1"/>
          </p:cNvSpPr>
          <p:nvPr/>
        </p:nvSpPr>
        <p:spPr>
          <a:xfrm>
            <a:off x="7029450" y="24574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frames processed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27A2E845-0030-4B3B-91FB-A1401CAD3792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4321DE5-F602-4748-BF3B-AE56D2AEB359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66675" cy="1066800"/>
          </a:xfrm>
          <a:prstGeom prst="rect">
            <a:avLst/>
          </a:prstGeom>
          <a:solidFill>
            <a:srgbClr val="1F6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8EADCE5-BCCB-4282-926D-46334389D9AC}"/>
              </a:ext>
            </a:extLst>
          </p:cNvPr>
          <p:cNvSpPr>
            <a:spLocks noGrp="1"/>
          </p:cNvSpPr>
          <p:nvPr/>
        </p:nvSpPr>
        <p:spPr>
          <a:xfrm>
            <a:off x="9239250" y="20097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100%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0E71800-47B1-4120-A68F-60EA4891BC49}"/>
              </a:ext>
            </a:extLst>
          </p:cNvPr>
          <p:cNvSpPr>
            <a:spLocks noGrp="1"/>
          </p:cNvSpPr>
          <p:nvPr/>
        </p:nvSpPr>
        <p:spPr>
          <a:xfrm>
            <a:off x="9239250" y="24574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pose coverage</a:t>
            </a: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322D7CA3-470A-461D-8188-0658F7182AAA}"/>
              </a:ext>
            </a:extLst>
          </p:cNvPr>
          <p:cNvSpPr>
            <a:spLocks noGrp="1"/>
          </p:cNvSpPr>
          <p:nvPr/>
        </p:nvSpPr>
        <p:spPr>
          <a:xfrm>
            <a:off x="6819900" y="310515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916303-32ED-4277-8F62-D62818678463}"/>
              </a:ext>
            </a:extLst>
          </p:cNvPr>
          <p:cNvSpPr>
            <a:spLocks noGrp="1"/>
          </p:cNvSpPr>
          <p:nvPr/>
        </p:nvSpPr>
        <p:spPr>
          <a:xfrm>
            <a:off x="6819900" y="3105150"/>
            <a:ext cx="66675" cy="1066800"/>
          </a:xfrm>
          <a:prstGeom prst="rect">
            <a:avLst/>
          </a:prstGeom>
          <a:solidFill>
            <a:srgbClr val="1F6F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DA15253-ED4F-4266-B9B1-9106AA6B744A}"/>
              </a:ext>
            </a:extLst>
          </p:cNvPr>
          <p:cNvSpPr>
            <a:spLocks noGrp="1"/>
          </p:cNvSpPr>
          <p:nvPr/>
        </p:nvSpPr>
        <p:spPr>
          <a:xfrm>
            <a:off x="7029450" y="32480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 dirty="0">
                <a:solidFill>
                  <a:srgbClr val="222222"/>
                </a:solidFill>
              </a:rPr>
              <a:t>9</a:t>
            </a:r>
            <a:r>
              <a:rPr lang="es-ES" sz="2250" b="1">
                <a:solidFill>
                  <a:srgbClr val="222222"/>
                </a:solidFill>
              </a:rPr>
              <a:t>1</a:t>
            </a:r>
            <a:r>
              <a:rPr sz="2250" b="1" dirty="0">
                <a:solidFill>
                  <a:srgbClr val="222222"/>
                </a:solidFill>
              </a:rPr>
              <a:t>.9</a:t>
            </a:r>
            <a:r>
              <a:rPr lang="es-ES" sz="2250" b="1">
                <a:solidFill>
                  <a:srgbClr val="222222"/>
                </a:solidFill>
              </a:rPr>
              <a:t>3</a:t>
            </a:r>
            <a:r>
              <a:rPr sz="2250" b="1" dirty="0">
                <a:solidFill>
                  <a:srgbClr val="222222"/>
                </a:solidFill>
              </a:rPr>
              <a:t>%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D2A0113-C954-4DAA-A35F-5068BC23554C}"/>
              </a:ext>
            </a:extLst>
          </p:cNvPr>
          <p:cNvSpPr>
            <a:spLocks noGrp="1"/>
          </p:cNvSpPr>
          <p:nvPr/>
        </p:nvSpPr>
        <p:spPr>
          <a:xfrm>
            <a:off x="7029450" y="3695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dominant-hand coverage</a:t>
            </a:r>
          </a:p>
        </p:txBody>
      </p:sp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C08FF57C-CADC-4577-AC47-8834696B4B24}"/>
              </a:ext>
            </a:extLst>
          </p:cNvPr>
          <p:cNvSpPr>
            <a:spLocks noGrp="1"/>
          </p:cNvSpPr>
          <p:nvPr/>
        </p:nvSpPr>
        <p:spPr>
          <a:xfrm>
            <a:off x="9029700" y="310515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DBD7880-AC8E-44D5-B7E7-7636C0E274A5}"/>
              </a:ext>
            </a:extLst>
          </p:cNvPr>
          <p:cNvSpPr>
            <a:spLocks noGrp="1"/>
          </p:cNvSpPr>
          <p:nvPr/>
        </p:nvSpPr>
        <p:spPr>
          <a:xfrm>
            <a:off x="9029700" y="3105150"/>
            <a:ext cx="66675" cy="1066800"/>
          </a:xfrm>
          <a:prstGeom prst="rect">
            <a:avLst/>
          </a:prstGeom>
          <a:solidFill>
            <a:srgbClr val="C978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DA32FD5-5464-4FA5-BE9B-4A6AFB3C2FEF}"/>
              </a:ext>
            </a:extLst>
          </p:cNvPr>
          <p:cNvSpPr>
            <a:spLocks noGrp="1"/>
          </p:cNvSpPr>
          <p:nvPr/>
        </p:nvSpPr>
        <p:spPr>
          <a:xfrm>
            <a:off x="9239250" y="32480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2222"/>
                </a:solidFill>
              </a:defRPr>
            </a:pPr>
            <a:r>
              <a:rPr sz="2250" b="1" dirty="0">
                <a:solidFill>
                  <a:srgbClr val="222222"/>
                </a:solidFill>
              </a:rPr>
              <a:t>2</a:t>
            </a:r>
            <a:r>
              <a:rPr lang="es-ES" sz="2250" b="1">
                <a:solidFill>
                  <a:srgbClr val="222222"/>
                </a:solidFill>
              </a:rPr>
              <a:t>5</a:t>
            </a:r>
            <a:endParaRPr sz="2250" b="1" dirty="0">
              <a:solidFill>
                <a:srgbClr val="222222"/>
              </a:solidFill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17D3325-731D-438E-BA53-9ACB5C85423E}"/>
              </a:ext>
            </a:extLst>
          </p:cNvPr>
          <p:cNvSpPr>
            <a:spLocks noGrp="1"/>
          </p:cNvSpPr>
          <p:nvPr/>
        </p:nvSpPr>
        <p:spPr>
          <a:xfrm>
            <a:off x="9239250" y="3695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missing hand frames</a:t>
            </a:r>
          </a:p>
        </p:txBody>
      </p:sp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62C04398-483C-45A1-A71E-B47EFD8EAC4D}"/>
              </a:ext>
            </a:extLst>
          </p:cNvPr>
          <p:cNvSpPr>
            <a:spLocks noGrp="1"/>
          </p:cNvSpPr>
          <p:nvPr/>
        </p:nvSpPr>
        <p:spPr>
          <a:xfrm>
            <a:off x="6819900" y="447675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4" name="Imagen 8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7525" y="4762919"/>
            <a:ext cx="1943100" cy="494463"/>
          </a:xfrm>
          <a:prstGeom prst="roundRect">
            <a:avLst>
              <a:gd name="adj" fmla="val 13725"/>
            </a:avLst>
          </a:prstGeom>
        </p:spPr>
      </p:pic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7BCF26C0-202A-4E9F-AF5A-0A085EC67432}"/>
              </a:ext>
            </a:extLst>
          </p:cNvPr>
          <p:cNvSpPr>
            <a:spLocks noGrp="1"/>
          </p:cNvSpPr>
          <p:nvPr/>
        </p:nvSpPr>
        <p:spPr>
          <a:xfrm>
            <a:off x="9029700" y="4476750"/>
            <a:ext cx="20383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6" name="Imagen 8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02325" y="4524375"/>
            <a:ext cx="1093101" cy="971550"/>
          </a:xfrm>
          <a:prstGeom prst="roundRect">
            <a:avLst>
              <a:gd name="adj" fmla="val 13725"/>
            </a:avLst>
          </a:prstGeom>
        </p:spPr>
      </p:pic>
      <p:sp>
        <p:nvSpPr>
          <p:cNvPr id="42" name="Rectángulo 41">
            <a:extLst>
              <a:ext uri="{FF2B5EF4-FFF2-40B4-BE49-F238E27FC236}">
                <a16:creationId xmlns:a16="http://schemas.microsoft.com/office/drawing/2014/main" id="{2A5D7CD1-7B5A-477C-BB5B-208A993D9EBE}"/>
              </a:ext>
            </a:extLst>
          </p:cNvPr>
          <p:cNvSpPr>
            <a:spLocks noGrp="1"/>
          </p:cNvSpPr>
          <p:nvPr/>
        </p:nvSpPr>
        <p:spPr>
          <a:xfrm>
            <a:off x="6781800" y="5676900"/>
            <a:ext cx="432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C97855"/>
                </a:solidFill>
              </a:defRPr>
            </a:pPr>
            <a:r>
              <a:rPr sz="1425" b="1">
                <a:solidFill>
                  <a:srgbClr val="C97855"/>
                </a:solidFill>
              </a:rPr>
              <a:t>Capture quality is not sign-language certification.</a:t>
            </a:r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15373648-8C01-4B33-B766-2B7C3ECC37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2E6CEBA-5740-4A50-BCAC-CCDEC1E0161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 dirty="0">
                <a:solidFill>
                  <a:srgbClr val="6B7280"/>
                </a:solidFill>
              </a:rPr>
              <a:t>Source: </a:t>
            </a:r>
            <a:r>
              <a:rPr lang="es-ES" sz="825" b="0">
                <a:solidFill>
                  <a:srgbClr val="6B7280"/>
                </a:solidFill>
              </a:rPr>
              <a:t>poc</a:t>
            </a:r>
            <a:r>
              <a:rPr sz="825" b="0" dirty="0">
                <a:solidFill>
                  <a:srgbClr val="6B7280"/>
                </a:solidFill>
              </a:rPr>
              <a:t>/</a:t>
            </a:r>
            <a:r>
              <a:rPr lang="es-ES" sz="825" b="0">
                <a:solidFill>
                  <a:srgbClr val="6B7280"/>
                </a:solidFill>
              </a:rPr>
              <a:t>poc_documentation.md</a:t>
            </a:r>
            <a:r>
              <a:rPr sz="825" b="0" dirty="0">
                <a:solidFill>
                  <a:srgbClr val="6B7280"/>
                </a:solidFill>
              </a:rPr>
              <a:t> and </a:t>
            </a:r>
            <a:r>
              <a:rPr lang="es-ES" sz="825" b="0">
                <a:solidFill>
                  <a:srgbClr val="6B7280"/>
                </a:solidFill>
              </a:rPr>
              <a:t>poc</a:t>
            </a:r>
            <a:r>
              <a:rPr sz="825" b="0" dirty="0">
                <a:solidFill>
                  <a:srgbClr val="6B7280"/>
                </a:solidFill>
              </a:rPr>
              <a:t>/output/; metrics apply only to the </a:t>
            </a:r>
            <a:r>
              <a:rPr lang="es-ES" sz="825" b="0">
                <a:solidFill>
                  <a:srgbClr val="6B7280"/>
                </a:solidFill>
              </a:rPr>
              <a:t>MORE </a:t>
            </a:r>
            <a:r>
              <a:rPr sz="825" b="0" dirty="0">
                <a:solidFill>
                  <a:srgbClr val="6B7280"/>
                </a:solidFill>
              </a:rPr>
              <a:t> run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57EEB1D-B953-409F-B46A-8CE77C554F6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4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2EC18E27-8492-A6EA-4272-97BBA7FC1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72" y="2633133"/>
            <a:ext cx="5833204" cy="323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2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E4654A5-E50F-468C-82DC-803C4A844D0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55451"/>
                </a:solidFill>
              </a:defRPr>
            </a:pPr>
            <a:r>
              <a:rPr sz="1650" b="1">
                <a:solidFill>
                  <a:srgbClr val="155451"/>
                </a:solidFill>
              </a:rPr>
              <a:t>Every first-year case is negative; scale drives the longer-term case.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A54BAD8-E8FF-4079-BC37-0CA2B174618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334250" cy="337185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72EC03-3196-45AF-AF0C-103BF2E9C259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ROI by scenario (%)</a:t>
            </a: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2976155842"/>
              </p:ext>
            </p:extLst>
          </p:nvPr>
        </p:nvGraphicFramePr>
        <p:xfrm>
          <a:off x="990600" y="2571750"/>
          <a:ext cx="6667500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A875748D-1672-4909-84AF-EC26DEB37993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Calculated scenarios — not forecasts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EE0BD2D-9517-42E9-9D03-84EA70FFBAE9}"/>
              </a:ext>
            </a:extLst>
          </p:cNvPr>
          <p:cNvSpPr>
            <a:spLocks noGrp="1"/>
          </p:cNvSpPr>
          <p:nvPr/>
        </p:nvSpPr>
        <p:spPr>
          <a:xfrm>
            <a:off x="8343900" y="1695450"/>
            <a:ext cx="3086100" cy="1333500"/>
          </a:xfrm>
          <a:prstGeom prst="roundRect">
            <a:avLst>
              <a:gd name="adj" fmla="val 14286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9AAFDE4-8642-4B1C-85C9-0A8985FE302E}"/>
              </a:ext>
            </a:extLst>
          </p:cNvPr>
          <p:cNvSpPr>
            <a:spLocks noGrp="1"/>
          </p:cNvSpPr>
          <p:nvPr/>
        </p:nvSpPr>
        <p:spPr>
          <a:xfrm>
            <a:off x="8591550" y="1885950"/>
            <a:ext cx="2590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9DCD4"/>
                </a:solidFill>
              </a:defRPr>
            </a:pPr>
            <a:r>
              <a:rPr sz="1275" b="1">
                <a:solidFill>
                  <a:srgbClr val="B9DCD4"/>
                </a:solidFill>
              </a:rPr>
              <a:t>Base case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680AEC-6182-4A21-B626-CC947543D312}"/>
              </a:ext>
            </a:extLst>
          </p:cNvPr>
          <p:cNvSpPr>
            <a:spLocks noGrp="1"/>
          </p:cNvSpPr>
          <p:nvPr/>
        </p:nvSpPr>
        <p:spPr>
          <a:xfrm>
            <a:off x="8591550" y="222885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22.3% ROI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6350177-CBBE-4018-82C2-015E72D3DBDC}"/>
              </a:ext>
            </a:extLst>
          </p:cNvPr>
          <p:cNvSpPr>
            <a:spLocks noGrp="1"/>
          </p:cNvSpPr>
          <p:nvPr/>
        </p:nvSpPr>
        <p:spPr>
          <a:xfrm>
            <a:off x="8591550" y="26670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D7EAE6"/>
                </a:solidFill>
              </a:defRPr>
            </a:pPr>
            <a:r>
              <a:rPr sz="1200" b="0">
                <a:solidFill>
                  <a:srgbClr val="D7EAE6"/>
                </a:solidFill>
              </a:rPr>
              <a:t>at 36 months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1DF4709B-E868-4BC5-A8E6-13A11E2DF771}"/>
              </a:ext>
            </a:extLst>
          </p:cNvPr>
          <p:cNvSpPr>
            <a:spLocks noGrp="1"/>
          </p:cNvSpPr>
          <p:nvPr/>
        </p:nvSpPr>
        <p:spPr>
          <a:xfrm>
            <a:off x="8343900" y="3219450"/>
            <a:ext cx="3086100" cy="1028700"/>
          </a:xfrm>
          <a:prstGeom prst="roundRect">
            <a:avLst>
              <a:gd name="adj" fmla="val 16667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87DDD8-A201-4C86-BD4F-7BAF7CD32F5B}"/>
              </a:ext>
            </a:extLst>
          </p:cNvPr>
          <p:cNvSpPr>
            <a:spLocks noGrp="1"/>
          </p:cNvSpPr>
          <p:nvPr/>
        </p:nvSpPr>
        <p:spPr>
          <a:xfrm>
            <a:off x="8572500" y="339090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8A6F55"/>
                </a:solidFill>
              </a:defRPr>
            </a:pPr>
            <a:r>
              <a:rPr sz="1200" b="1">
                <a:solidFill>
                  <a:srgbClr val="8A6F55"/>
                </a:solidFill>
              </a:rPr>
              <a:t>Break-even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7418CB0-ABA1-4E6F-A424-89F3E91D976B}"/>
              </a:ext>
            </a:extLst>
          </p:cNvPr>
          <p:cNvSpPr>
            <a:spLocks noGrp="1"/>
          </p:cNvSpPr>
          <p:nvPr/>
        </p:nvSpPr>
        <p:spPr>
          <a:xfrm>
            <a:off x="8572500" y="367665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55451"/>
                </a:solidFill>
              </a:defRPr>
            </a:pPr>
            <a:r>
              <a:rPr sz="1950" b="1">
                <a:solidFill>
                  <a:srgbClr val="155451"/>
                </a:solidFill>
              </a:rPr>
              <a:t>Month 29.3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7C3CF591-911B-490E-9AED-02E225EA555B}"/>
              </a:ext>
            </a:extLst>
          </p:cNvPr>
          <p:cNvSpPr>
            <a:spLocks noGrp="1"/>
          </p:cNvSpPr>
          <p:nvPr/>
        </p:nvSpPr>
        <p:spPr>
          <a:xfrm>
            <a:off x="8343900" y="4438650"/>
            <a:ext cx="3086100" cy="933450"/>
          </a:xfrm>
          <a:prstGeom prst="roundRect">
            <a:avLst>
              <a:gd name="adj" fmla="val 18367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848768E-D8F4-4E46-8EF5-4342FC133DDB}"/>
              </a:ext>
            </a:extLst>
          </p:cNvPr>
          <p:cNvSpPr>
            <a:spLocks noGrp="1"/>
          </p:cNvSpPr>
          <p:nvPr/>
        </p:nvSpPr>
        <p:spPr>
          <a:xfrm>
            <a:off x="8572500" y="459105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C97855"/>
                </a:solidFill>
              </a:defRPr>
            </a:pPr>
            <a:r>
              <a:rPr sz="2025" b="1">
                <a:solidFill>
                  <a:srgbClr val="C97855"/>
                </a:solidFill>
              </a:rPr>
              <a:t>EUR 1,200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E836C27-5B9D-4F0E-B886-3E4E5D136EDC}"/>
              </a:ext>
            </a:extLst>
          </p:cNvPr>
          <p:cNvSpPr>
            <a:spLocks noGrp="1"/>
          </p:cNvSpPr>
          <p:nvPr/>
        </p:nvSpPr>
        <p:spPr>
          <a:xfrm>
            <a:off x="8572500" y="4972050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base annual price hypothesis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43ED892-A997-41E2-B73D-5D476C4A9BA4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C97855"/>
                </a:solidFill>
              </a:defRPr>
            </a:pPr>
            <a:r>
              <a:rPr sz="1575" b="1">
                <a:solidFill>
                  <a:srgbClr val="C97855"/>
                </a:solidFill>
              </a:rPr>
              <a:t>Base ROI turns negative if price is 20% lower or centre-years are 25% lower.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DB4E71C4-7C95-4C8B-9C11-1B6E1A7428D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36C4BAE-2BE8-4669-977E-E3481C3AC57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presentation/roi_slide_inputs.md; roi_risk_assessment.md; add-on revenue set to EUR 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E9A8C72-3B4D-4BFC-A781-49D5F1314BA7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833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áfico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A21100E3-5BCD-4137-A863-FEDCE30FBF1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238500" cy="3524250"/>
          </a:xfrm>
          <a:prstGeom prst="roundRect">
            <a:avLst>
              <a:gd name="adj" fmla="val 5882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F541BA-2DD0-421F-B7EF-301B1D022413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9ACDF9-6858-4423-B2A5-6A815190E3FE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Content fidelity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610A3F-5C86-44B0-9151-7616FA2AFF0A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55451"/>
                </a:solidFill>
              </a:defRPr>
            </a:pPr>
            <a:r>
              <a:rPr lang="es-ES" sz="1425" b="1">
                <a:solidFill>
                  <a:srgbClr val="155451"/>
                </a:solidFill>
              </a:rPr>
              <a:t>4 x 5  |  DECISION-CRITICAL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879EFE-3F3F-4777-9356-91D11EB14A3A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278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Current control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F67B3C7-082B-4272-B76B-F970B45CDEDB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78130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rPr lang="es-ES" sz="1600" b="0">
                <a:solidFill>
                  <a:srgbClr val="222222"/>
                </a:solidFill>
              </a:rPr>
              <a:t>3–5 cleared signs, qualified review, zero critical incidents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CA25D85-4AB2-4B1D-A02C-3BACECA86A9E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27813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lang="es-ES" sz="1275" b="0">
                <a:solidFill>
                  <a:srgbClr val="6B7280"/>
                </a:solidFill>
              </a:rPr>
              <a:t>Technical Lead + Qualified Reviewer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8383CAEC-9944-4D75-BDAD-68BE217A8405}"/>
              </a:ext>
            </a:extLst>
          </p:cNvPr>
          <p:cNvSpPr>
            <a:spLocks noGrp="1"/>
          </p:cNvSpPr>
          <p:nvPr/>
        </p:nvSpPr>
        <p:spPr>
          <a:xfrm>
            <a:off x="4305300" y="1619250"/>
            <a:ext cx="3238500" cy="3524250"/>
          </a:xfrm>
          <a:prstGeom prst="roundRect">
            <a:avLst>
              <a:gd name="adj" fmla="val 5882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B6B739-9A95-4317-8939-3B2C3109720F}"/>
              </a:ext>
            </a:extLst>
          </p:cNvPr>
          <p:cNvSpPr>
            <a:spLocks noGrp="1"/>
          </p:cNvSpPr>
          <p:nvPr/>
        </p:nvSpPr>
        <p:spPr>
          <a:xfrm>
            <a:off x="4533900" y="1847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846A1E-9C3C-4B9A-A702-E930ACC181D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Willingness to pay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F0AB53-6177-4CB7-878E-5E2AB438B683}"/>
              </a:ext>
            </a:extLst>
          </p:cNvPr>
          <p:cNvSpPr>
            <a:spLocks noGrp="1"/>
          </p:cNvSpPr>
          <p:nvPr/>
        </p:nvSpPr>
        <p:spPr>
          <a:xfrm>
            <a:off x="4533900" y="30099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55451"/>
                </a:solidFill>
              </a:defRPr>
            </a:pPr>
            <a:r>
              <a:rPr lang="es-ES" sz="1425" b="1">
                <a:solidFill>
                  <a:srgbClr val="155451"/>
                </a:solidFill>
              </a:rPr>
              <a:t>4 x 5  |  DECISION-CRITICAL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8D4F26-0598-49D6-B9D2-F16CFA22E0F4}"/>
              </a:ext>
            </a:extLst>
          </p:cNvPr>
          <p:cNvSpPr>
            <a:spLocks noGrp="1"/>
          </p:cNvSpPr>
          <p:nvPr/>
        </p:nvSpPr>
        <p:spPr>
          <a:xfrm>
            <a:off x="4533900" y="3562350"/>
            <a:ext cx="278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Current control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1769100-1EAA-495C-A8C4-C13A8C34ACF6}"/>
              </a:ext>
            </a:extLst>
          </p:cNvPr>
          <p:cNvSpPr>
            <a:spLocks noGrp="1"/>
          </p:cNvSpPr>
          <p:nvPr/>
        </p:nvSpPr>
        <p:spPr>
          <a:xfrm>
            <a:off x="4533900" y="3867150"/>
            <a:ext cx="278130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rPr lang="es-ES" sz="1600" b="0">
                <a:solidFill>
                  <a:srgbClr val="222222"/>
                </a:solidFill>
              </a:rPr>
              <a:t>Ask schools to choose between EUR 600, 1,200 and 1,800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71FACB-1062-4375-9896-F4C011F8AD53}"/>
              </a:ext>
            </a:extLst>
          </p:cNvPr>
          <p:cNvSpPr>
            <a:spLocks noGrp="1"/>
          </p:cNvSpPr>
          <p:nvPr/>
        </p:nvSpPr>
        <p:spPr>
          <a:xfrm>
            <a:off x="4533900" y="4686300"/>
            <a:ext cx="27813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lang="es-ES" sz="1275" b="0">
                <a:solidFill>
                  <a:srgbClr val="6B7280"/>
                </a:solidFill>
              </a:rPr>
              <a:t>Commercial Lead + Nursery Sponsor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EAAD9B55-E071-4ECE-BA5F-1AB1E7098513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238500" cy="3524250"/>
          </a:xfrm>
          <a:prstGeom prst="roundRect">
            <a:avLst>
              <a:gd name="adj" fmla="val 5882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155530-F4A7-4E8B-987B-5ED9F1871D90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D20706D-5FD4-406F-8453-6057A393DAD3}"/>
              </a:ext>
            </a:extLst>
          </p:cNvPr>
          <p:cNvSpPr>
            <a:spLocks noGrp="1"/>
          </p:cNvSpPr>
          <p:nvPr/>
        </p:nvSpPr>
        <p:spPr>
          <a:xfrm>
            <a:off x="8229600" y="222885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Rights + provenance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465F84-BE89-4746-BB5A-3BA28820F927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55451"/>
                </a:solidFill>
              </a:defRPr>
            </a:pPr>
            <a:r>
              <a:rPr lang="es-ES" sz="1425" b="1">
                <a:solidFill>
                  <a:srgbClr val="155451"/>
                </a:solidFill>
              </a:rPr>
              <a:t>3 x 5  |  MITIGATE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A03671A-3330-440D-B387-61104A33BEE6}"/>
              </a:ext>
            </a:extLst>
          </p:cNvPr>
          <p:cNvSpPr>
            <a:spLocks noGrp="1"/>
          </p:cNvSpPr>
          <p:nvPr/>
        </p:nvSpPr>
        <p:spPr>
          <a:xfrm>
            <a:off x="8229600" y="3562350"/>
            <a:ext cx="278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Current control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11D27CF-FFB0-422B-BFA7-23C1F3297288}"/>
              </a:ext>
            </a:extLst>
          </p:cNvPr>
          <p:cNvSpPr>
            <a:spLocks noGrp="1"/>
          </p:cNvSpPr>
          <p:nvPr/>
        </p:nvSpPr>
        <p:spPr>
          <a:xfrm>
            <a:off x="8229600" y="3867150"/>
            <a:ext cx="278130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rPr lang="es-ES" sz="1600" b="0">
                <a:solidFill>
                  <a:srgbClr val="222222"/>
                </a:solidFill>
              </a:rPr>
              <a:t>Every asset keeps proof of permission, reuse, credit and withdrawal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21E3CD3-7F74-47D9-9135-63178CD3A19D}"/>
              </a:ext>
            </a:extLst>
          </p:cNvPr>
          <p:cNvSpPr>
            <a:spLocks noGrp="1"/>
          </p:cNvSpPr>
          <p:nvPr/>
        </p:nvSpPr>
        <p:spPr>
          <a:xfrm>
            <a:off x="8229600" y="4686300"/>
            <a:ext cx="27813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lang="es-ES" sz="1275" b="0">
                <a:solidFill>
                  <a:srgbClr val="6B7280"/>
                </a:solidFill>
              </a:rPr>
              <a:t>Content Operations + Rights Owner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2E436361-AA5C-4D3A-A8DC-AE9ADDC65E92}"/>
              </a:ext>
            </a:extLst>
          </p:cNvPr>
          <p:cNvSpPr>
            <a:spLocks noGrp="1"/>
          </p:cNvSpPr>
          <p:nvPr/>
        </p:nvSpPr>
        <p:spPr>
          <a:xfrm>
            <a:off x="612648" y="5486400"/>
            <a:ext cx="10972800" cy="603504"/>
          </a:xfrm>
          <a:prstGeom prst="roundRect">
            <a:avLst>
              <a:gd name="adj" fmla="val 29630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A70BDB4-36AD-4304-BFB7-476D49A77B46}"/>
              </a:ext>
            </a:extLst>
          </p:cNvPr>
          <p:cNvSpPr>
            <a:spLocks noGrp="1"/>
          </p:cNvSpPr>
          <p:nvPr/>
        </p:nvSpPr>
        <p:spPr>
          <a:xfrm>
            <a:off x="896112" y="5614416"/>
            <a:ext cx="10405872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The risks are manageable only through a controlled pilot.</a:t>
            </a: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FAB39BA0-6402-42A4-AA10-9F5F3CC86B3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4269422-437E-47AF-8D7F-1FC50EF446A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roi_risk_assessment.md; docs/facts_risk.md; assets/registry/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FD9C84A-6734-4D7D-B2CF-A73765458AA1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550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5D5FE181-A880-4BB7-A723-D1235538460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3718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 dirty="0">
                <a:solidFill>
                  <a:srgbClr val="155451"/>
                </a:solidFill>
              </a:rPr>
              <a:t>PRELIMINARY INTENDED-PURPOSE ASSESSMENT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B5DF83-6E02-4029-9077-5085B850068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55451"/>
                </a:solidFill>
              </a:defRPr>
            </a:pPr>
            <a:r>
              <a:rPr sz="2025" b="1">
                <a:solidFill>
                  <a:srgbClr val="155451"/>
                </a:solidFill>
              </a:rPr>
              <a:t>EU AI Act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9127DE-FE3E-4FEC-A724-E59FA2EA6BB2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5212080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admissions or child scoring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evaluation of learning outcomes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level determination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proctoring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emotion recognition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biometric identity or categorisation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lang="es-ES" sz="1300" b="0">
                <a:solidFill>
                  <a:srgbClr val="222222"/>
                </a:solidFill>
              </a:rPr>
              <a:t>No automated educational decisions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88CFA5B-87FF-4292-9EA9-551DCCDF7C12}"/>
              </a:ext>
            </a:extLst>
          </p:cNvPr>
          <p:cNvSpPr>
            <a:spLocks noGrp="1"/>
          </p:cNvSpPr>
          <p:nvPr/>
        </p:nvSpPr>
        <p:spPr>
          <a:xfrm>
            <a:off x="685800" y="2432304"/>
            <a:ext cx="5212080" cy="960120"/>
          </a:xfrm>
          <a:prstGeom prst="roundRect">
            <a:avLst>
              <a:gd name="adj" fmla="val 10526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E20217-7C82-4291-9683-81A2A85B333F}"/>
              </a:ext>
            </a:extLst>
          </p:cNvPr>
          <p:cNvSpPr>
            <a:spLocks noGrp="1"/>
          </p:cNvSpPr>
          <p:nvPr/>
        </p:nvSpPr>
        <p:spPr>
          <a:xfrm>
            <a:off x="914400" y="2560320"/>
            <a:ext cx="475488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s-ES" sz="1100" b="1" dirty="0" err="1">
                <a:solidFill>
                  <a:srgbClr val="FFFFFF"/>
                </a:solidFill>
              </a:rPr>
              <a:t>Preliminary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intended-purpose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assessment</a:t>
            </a:r>
            <a:r>
              <a:rPr lang="es-ES" sz="1100" b="1" dirty="0">
                <a:solidFill>
                  <a:srgbClr val="FFFFFF"/>
                </a:solidFill>
              </a:rPr>
              <a:t>: </a:t>
            </a:r>
            <a:r>
              <a:rPr lang="es-ES" sz="1100" b="1" dirty="0" err="1">
                <a:solidFill>
                  <a:srgbClr val="FFFFFF"/>
                </a:solidFill>
              </a:rPr>
              <a:t>the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current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intended</a:t>
            </a:r>
            <a:r>
              <a:rPr lang="es-ES" sz="1100" b="1" dirty="0">
                <a:solidFill>
                  <a:srgbClr val="FFFFFF"/>
                </a:solidFill>
              </a:rPr>
              <a:t> use </a:t>
            </a:r>
            <a:r>
              <a:rPr lang="es-ES" sz="1100" b="1" dirty="0" err="1">
                <a:solidFill>
                  <a:srgbClr val="FFFFFF"/>
                </a:solidFill>
              </a:rPr>
              <a:t>does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not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appear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to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perform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an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education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or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biometric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function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listed</a:t>
            </a:r>
            <a:r>
              <a:rPr lang="es-ES" sz="1100" b="1" dirty="0">
                <a:solidFill>
                  <a:srgbClr val="FFFFFF"/>
                </a:solidFill>
              </a:rPr>
              <a:t> as </a:t>
            </a:r>
            <a:r>
              <a:rPr lang="es-ES" sz="1100" b="1" dirty="0" err="1">
                <a:solidFill>
                  <a:srgbClr val="FFFFFF"/>
                </a:solidFill>
              </a:rPr>
              <a:t>high</a:t>
            </a:r>
            <a:r>
              <a:rPr lang="es-ES" sz="1100" b="1" dirty="0">
                <a:solidFill>
                  <a:srgbClr val="FFFFFF"/>
                </a:solidFill>
              </a:rPr>
              <a:t> </a:t>
            </a:r>
            <a:r>
              <a:rPr lang="es-ES" sz="1100" b="1" dirty="0" err="1">
                <a:solidFill>
                  <a:srgbClr val="FFFFFF"/>
                </a:solidFill>
              </a:rPr>
              <a:t>risk</a:t>
            </a:r>
            <a:r>
              <a:rPr lang="es-ES" sz="1100" b="1" dirty="0">
                <a:solidFill>
                  <a:srgbClr val="FFFFFF"/>
                </a:solidFill>
              </a:rPr>
              <a:t> in </a:t>
            </a:r>
            <a:r>
              <a:rPr lang="es-ES" sz="1100" b="1" dirty="0" err="1">
                <a:solidFill>
                  <a:srgbClr val="FFFFFF"/>
                </a:solidFill>
              </a:rPr>
              <a:t>Annex</a:t>
            </a:r>
            <a:r>
              <a:rPr lang="es-ES" sz="1100" b="1" dirty="0">
                <a:solidFill>
                  <a:srgbClr val="FFFFFF"/>
                </a:solidFill>
              </a:rPr>
              <a:t> III.</a:t>
            </a:r>
          </a:p>
        </p:txBody>
      </p:sp>
      <p:sp>
        <p:nvSpPr>
          <p:cNvPr id="20" name="Rectangulo compliance note"/>
          <p:cNvSpPr>
            <a:spLocks noGrp="1"/>
          </p:cNvSpPr>
          <p:nvPr/>
        </p:nvSpPr>
        <p:spPr>
          <a:xfrm>
            <a:off x="685800" y="5257800"/>
            <a:ext cx="521208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rPr sz="1000" b="0">
                <a:solidFill>
                  <a:srgbClr val="6B7280"/>
                </a:solidFill>
              </a:rPr>
              <a:t>Preliminary and function-based. Not legal advice, not a regulatory classification and not a compliance certificate. Subject to reassessment if intended purpose, data, users or deployment change.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28CA586-6F17-45B7-98BB-9CD86992757A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0" cy="4000500"/>
          </a:xfrm>
          <a:prstGeom prst="line">
            <a:avLst/>
          </a:prstGeom>
          <a:noFill/>
          <a:ln w="19050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B55918A-E95D-4EB5-910E-114418161559}"/>
              </a:ext>
            </a:extLst>
          </p:cNvPr>
          <p:cNvSpPr>
            <a:spLocks noGrp="1"/>
          </p:cNvSpPr>
          <p:nvPr/>
        </p:nvSpPr>
        <p:spPr>
          <a:xfrm>
            <a:off x="6610350" y="1504950"/>
            <a:ext cx="285750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PRIVACY-MINIMISED BY DESIGN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A9C463-3365-4C6E-9797-21DF1EBDBA06}"/>
              </a:ext>
            </a:extLst>
          </p:cNvPr>
          <p:cNvSpPr>
            <a:spLocks noGrp="1"/>
          </p:cNvSpPr>
          <p:nvPr/>
        </p:nvSpPr>
        <p:spPr>
          <a:xfrm>
            <a:off x="6610350" y="19621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55451"/>
                </a:solidFill>
              </a:defRPr>
            </a:pPr>
            <a:r>
              <a:rPr sz="2025" b="1">
                <a:solidFill>
                  <a:srgbClr val="155451"/>
                </a:solidFill>
              </a:rPr>
              <a:t>GDPR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49F926A-D4DB-4CAE-A089-AE1884DA912F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6F6B"/>
                </a:solidFill>
              </a:defRPr>
            </a:pPr>
            <a:r>
              <a:rPr sz="1575" b="1">
                <a:solidFill>
                  <a:srgbClr val="1F6F6B"/>
                </a:solidFill>
              </a:rPr>
              <a:t>Current local MVP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1D05EE-04D9-42CF-8CFD-B9718281BCC1}"/>
              </a:ext>
            </a:extLst>
          </p:cNvPr>
          <p:cNvSpPr>
            <a:spLocks noGrp="1"/>
          </p:cNvSpPr>
          <p:nvPr/>
        </p:nvSpPr>
        <p:spPr>
          <a:xfrm>
            <a:off x="6610350" y="2895600"/>
            <a:ext cx="4381500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lang="es-ES" sz="1200" b="0">
                <a:solidFill>
                  <a:srgbClr val="222222"/>
                </a:solidFill>
              </a:rPr>
              <a:t>Adult reference video, processed locally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lang="es-ES" sz="1200" b="0">
                <a:solidFill>
                  <a:srgbClr val="222222"/>
                </a:solidFill>
              </a:rPr>
              <a:t>Synthetic school and family records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lang="es-ES" sz="1200" b="0">
                <a:solidFill>
                  <a:srgbClr val="222222"/>
                </a:solidFill>
              </a:rPr>
              <a:t>No production delivery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10F4C2B-0217-4C17-AD01-04C66785C920}"/>
              </a:ext>
            </a:extLst>
          </p:cNvPr>
          <p:cNvSpPr>
            <a:spLocks noGrp="1"/>
          </p:cNvSpPr>
          <p:nvPr/>
        </p:nvSpPr>
        <p:spPr>
          <a:xfrm>
            <a:off x="6610350" y="393192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C97855"/>
                </a:solidFill>
              </a:defRPr>
            </a:pPr>
            <a:r>
              <a:rPr lang="es-ES" sz="1575" b="1">
                <a:solidFill>
                  <a:srgbClr val="C97855"/>
                </a:solidFill>
              </a:rPr>
              <a:t>Legal basis: to be confirmed</a:t>
            </a:r>
            <a:endParaRPr sz="1575" b="1">
              <a:solidFill>
                <a:srgbClr val="C97855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491FE8-A4D6-4E8C-9B96-5BF94D41C79C}"/>
              </a:ext>
            </a:extLst>
          </p:cNvPr>
          <p:cNvSpPr>
            <a:spLocks noGrp="1"/>
          </p:cNvSpPr>
          <p:nvPr/>
        </p:nvSpPr>
        <p:spPr>
          <a:xfrm>
            <a:off x="6610350" y="4315968"/>
            <a:ext cx="4381500" cy="141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00" b="0">
                <a:solidFill>
                  <a:srgbClr val="222222"/>
                </a:solidFill>
              </a:defRPr>
            </a:pPr>
            <a:r>
              <a:rPr lang="es-ES" sz="1000" b="0">
                <a:solidFill>
                  <a:srgbClr val="222222"/>
                </a:solidFill>
              </a:rPr>
              <a:t>Legal basis must be confirmed by processing purpose and controller before pilot.</a:t>
            </a:r>
          </a:p>
          <a:p>
            <a:pPr algn="l">
              <a:defRPr sz="1000" b="0">
                <a:solidFill>
                  <a:srgbClr val="222222"/>
                </a:solidFill>
              </a:defRPr>
            </a:pPr>
            <a:r>
              <a:rPr lang="es-ES" sz="1000" b="0">
                <a:solidFill>
                  <a:srgbClr val="222222"/>
                </a:solidFill>
              </a:rPr>
              <a:t>Candidate Article 6 bases: contract, legitimate interests, legal obligation where applicable, and a nursery educational or public-task basis where applicable.</a:t>
            </a:r>
          </a:p>
          <a:p>
            <a:pPr algn="l">
              <a:defRPr sz="1000" b="0">
                <a:solidFill>
                  <a:srgbClr val="222222"/>
                </a:solidFill>
              </a:defRPr>
            </a:pPr>
            <a:r>
              <a:rPr lang="es-ES" sz="1000" b="0">
                <a:solidFill>
                  <a:srgbClr val="222222"/>
                </a:solidFill>
              </a:rPr>
              <a:t>Adult reference media: consent, contract or legitimate interests, assessed against the real relationship.</a:t>
            </a:r>
          </a:p>
          <a:p>
            <a:pPr algn="l">
              <a:defRPr sz="1000" b="0">
                <a:solidFill>
                  <a:srgbClr val="222222"/>
                </a:solidFill>
              </a:defRPr>
            </a:pPr>
            <a:r>
              <a:rPr lang="es-ES" sz="1000" b="0">
                <a:solidFill>
                  <a:srgbClr val="222222"/>
                </a:solidFill>
              </a:rPr>
              <a:t>Roles and legal bases for school and family data must be fixed before real pilot processing.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D190148-CA23-4B0F-A29D-B8070D32C7A5}"/>
              </a:ext>
            </a:extLst>
          </p:cNvPr>
          <p:cNvSpPr>
            <a:spLocks noGrp="1"/>
          </p:cNvSpPr>
          <p:nvPr/>
        </p:nvSpPr>
        <p:spPr>
          <a:xfrm>
            <a:off x="685800" y="5897880"/>
            <a:ext cx="10287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97855"/>
                </a:solidFill>
              </a:defRPr>
            </a:pPr>
            <a:r>
              <a:rPr lang="es-ES" sz="1200" b="1">
                <a:solidFill>
                  <a:srgbClr val="C97855"/>
                </a:solidFill>
              </a:rPr>
              <a:t>On the current intended purpose, a controlled pilot could move toward compliant deployment only after roles, lawful bases, DPIA, rights, security, retention and deletion controls are completed and tested.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438831CC-12DC-4AC8-BBED-E460D067462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FC2F9A4-CB2F-4F6F-9D21-C105C7B1C9C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preliminary internal EU AI Act and GDPR assessments; official EU/AEPD texts in source_map.md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962F107-4C85-4739-B70D-4680AC8A1AB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33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Flecha derecha 1">
            <a:extLst>
              <a:ext uri="{FF2B5EF4-FFF2-40B4-BE49-F238E27FC236}">
                <a16:creationId xmlns:a16="http://schemas.microsoft.com/office/drawing/2014/main" id="{23E98600-B7E8-4A27-AD2B-F28F699C3ADA}"/>
              </a:ext>
            </a:extLst>
          </p:cNvPr>
          <p:cNvSpPr>
            <a:spLocks noGrp="1"/>
          </p:cNvSpPr>
          <p:nvPr/>
        </p:nvSpPr>
        <p:spPr>
          <a:xfrm>
            <a:off x="2457450" y="200025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Flecha derecha 2">
            <a:extLst>
              <a:ext uri="{FF2B5EF4-FFF2-40B4-BE49-F238E27FC236}">
                <a16:creationId xmlns:a16="http://schemas.microsoft.com/office/drawing/2014/main" id="{0DD38A8B-0C95-47A5-A5B7-44E4F5AAB7E4}"/>
              </a:ext>
            </a:extLst>
          </p:cNvPr>
          <p:cNvSpPr>
            <a:spLocks noGrp="1"/>
          </p:cNvSpPr>
          <p:nvPr/>
        </p:nvSpPr>
        <p:spPr>
          <a:xfrm>
            <a:off x="4629150" y="200025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Flecha derecha 3">
            <a:extLst>
              <a:ext uri="{FF2B5EF4-FFF2-40B4-BE49-F238E27FC236}">
                <a16:creationId xmlns:a16="http://schemas.microsoft.com/office/drawing/2014/main" id="{00BE269A-648F-4B6E-9427-02DC6DB68D00}"/>
              </a:ext>
            </a:extLst>
          </p:cNvPr>
          <p:cNvSpPr>
            <a:spLocks noGrp="1"/>
          </p:cNvSpPr>
          <p:nvPr/>
        </p:nvSpPr>
        <p:spPr>
          <a:xfrm>
            <a:off x="6800850" y="200025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Flecha derecha 4">
            <a:extLst>
              <a:ext uri="{FF2B5EF4-FFF2-40B4-BE49-F238E27FC236}">
                <a16:creationId xmlns:a16="http://schemas.microsoft.com/office/drawing/2014/main" id="{5D019D89-2BAF-4ECE-9558-5C8490FFE663}"/>
              </a:ext>
            </a:extLst>
          </p:cNvPr>
          <p:cNvSpPr>
            <a:spLocks noGrp="1"/>
          </p:cNvSpPr>
          <p:nvPr/>
        </p:nvSpPr>
        <p:spPr>
          <a:xfrm>
            <a:off x="8972550" y="200025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A8082CD-5D0A-450F-8175-C3F03AA19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6764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FB4A6A-B75F-45F7-8BE6-11A8493EB70D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Current MVP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6BC3A3-239E-4CA0-A53B-1ADD7E80728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Local connected proof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CB03DE06-A32C-4613-9C56-4D113D074A45}"/>
              </a:ext>
            </a:extLst>
          </p:cNvPr>
          <p:cNvSpPr>
            <a:spLocks noGrp="1"/>
          </p:cNvSpPr>
          <p:nvPr/>
        </p:nvSpPr>
        <p:spPr>
          <a:xfrm>
            <a:off x="2781300" y="1619250"/>
            <a:ext cx="16764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0EDD02-4AB3-47DE-961E-EDB8217D3AB0}"/>
              </a:ext>
            </a:extLst>
          </p:cNvPr>
          <p:cNvSpPr>
            <a:spLocks noGrp="1"/>
          </p:cNvSpPr>
          <p:nvPr/>
        </p:nvSpPr>
        <p:spPr>
          <a:xfrm>
            <a:off x="2914650" y="18288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Pilot readiness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38B27E9-AB1B-4144-8098-19D02A9FA259}"/>
              </a:ext>
            </a:extLst>
          </p:cNvPr>
          <p:cNvSpPr>
            <a:spLocks noGrp="1"/>
          </p:cNvSpPr>
          <p:nvPr/>
        </p:nvSpPr>
        <p:spPr>
          <a:xfrm>
            <a:off x="2914650" y="22479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Rights, review, privacy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3DD146C3-A42E-456C-84C2-234AC3D774DE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1676400" cy="1104900"/>
          </a:xfrm>
          <a:prstGeom prst="roundRect">
            <a:avLst>
              <a:gd name="adj" fmla="val 15517"/>
            </a:avLst>
          </a:prstGeom>
          <a:solidFill>
            <a:srgbClr val="E5F0EC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C3000A-4BD1-40E5-BD76-9CC1849FD964}"/>
              </a:ext>
            </a:extLst>
          </p:cNvPr>
          <p:cNvSpPr>
            <a:spLocks noGrp="1"/>
          </p:cNvSpPr>
          <p:nvPr/>
        </p:nvSpPr>
        <p:spPr>
          <a:xfrm>
            <a:off x="5086350" y="18288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Controlled test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D9A7F42-F275-41C4-9239-E46605CD12DB}"/>
              </a:ext>
            </a:extLst>
          </p:cNvPr>
          <p:cNvSpPr>
            <a:spLocks noGrp="1"/>
          </p:cNvSpPr>
          <p:nvPr/>
        </p:nvSpPr>
        <p:spPr>
          <a:xfrm>
            <a:off x="5086350" y="22479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3 to 4 weeks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9835AFC4-D0E0-443C-8283-C699A55886A7}"/>
              </a:ext>
            </a:extLst>
          </p:cNvPr>
          <p:cNvSpPr>
            <a:spLocks noGrp="1"/>
          </p:cNvSpPr>
          <p:nvPr/>
        </p:nvSpPr>
        <p:spPr>
          <a:xfrm>
            <a:off x="7124700" y="1619250"/>
            <a:ext cx="16764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B5CC6F1-8266-491A-B3BC-CA6B8E5EFA18}"/>
              </a:ext>
            </a:extLst>
          </p:cNvPr>
          <p:cNvSpPr>
            <a:spLocks noGrp="1"/>
          </p:cNvSpPr>
          <p:nvPr/>
        </p:nvSpPr>
        <p:spPr>
          <a:xfrm>
            <a:off x="7258050" y="18288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Decision review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56488ED-8EDC-4C96-8859-EABB435D4A20}"/>
              </a:ext>
            </a:extLst>
          </p:cNvPr>
          <p:cNvSpPr>
            <a:spLocks noGrp="1"/>
          </p:cNvSpPr>
          <p:nvPr/>
        </p:nvSpPr>
        <p:spPr>
          <a:xfrm>
            <a:off x="7258050" y="22479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GO / ITERATE / STOP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53C3C86F-9F5E-485C-B9EB-F0A5BBEA3923}"/>
              </a:ext>
            </a:extLst>
          </p:cNvPr>
          <p:cNvSpPr>
            <a:spLocks noGrp="1"/>
          </p:cNvSpPr>
          <p:nvPr/>
        </p:nvSpPr>
        <p:spPr>
          <a:xfrm>
            <a:off x="9296400" y="1619250"/>
            <a:ext cx="16764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FBF833F-66CD-430D-950A-CF6C9D0BCEEF}"/>
              </a:ext>
            </a:extLst>
          </p:cNvPr>
          <p:cNvSpPr>
            <a:spLocks noGrp="1"/>
          </p:cNvSpPr>
          <p:nvPr/>
        </p:nvSpPr>
        <p:spPr>
          <a:xfrm>
            <a:off x="9429750" y="18288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Limited deployment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5A68813-915B-4EB5-A1A1-870AEF7B2976}"/>
              </a:ext>
            </a:extLst>
          </p:cNvPr>
          <p:cNvSpPr>
            <a:spLocks noGrp="1"/>
          </p:cNvSpPr>
          <p:nvPr/>
        </p:nvSpPr>
        <p:spPr>
          <a:xfrm>
            <a:off x="9429750" y="22479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Only after GO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2DA401E-7C26-4B98-B5BE-73CA82DC63B1}"/>
              </a:ext>
            </a:extLst>
          </p:cNvPr>
          <p:cNvSpPr>
            <a:spLocks noGrp="1"/>
          </p:cNvSpPr>
          <p:nvPr/>
        </p:nvSpPr>
        <p:spPr>
          <a:xfrm>
            <a:off x="609600" y="301752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>
                <a:solidFill>
                  <a:srgbClr val="155451"/>
                </a:solidFill>
              </a:rPr>
              <a:t>Scope + workflow targets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30A0A1F-9C4B-4E32-A0E5-E1151802FA64}"/>
              </a:ext>
            </a:extLst>
          </p:cNvPr>
          <p:cNvSpPr>
            <a:spLocks noGrp="1"/>
          </p:cNvSpPr>
          <p:nvPr/>
        </p:nvSpPr>
        <p:spPr>
          <a:xfrm>
            <a:off x="609600" y="3456432"/>
            <a:ext cx="4857750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2–3 nurseries, 3–5 cleared signs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All 3 Little Steps groups active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First assignment in 2 minutes or less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80% or more finish without help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2+ repeat assignments per group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AD7C902-C83A-4F47-BD2D-627793F2BD7E}"/>
              </a:ext>
            </a:extLst>
          </p:cNvPr>
          <p:cNvSpPr>
            <a:spLocks noGrp="1"/>
          </p:cNvSpPr>
          <p:nvPr/>
        </p:nvSpPr>
        <p:spPr>
          <a:xfrm>
            <a:off x="5989320" y="301752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>
                <a:solidFill>
                  <a:srgbClr val="155451"/>
                </a:solidFill>
              </a:rPr>
              <a:t>GO decision requires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EF8D594-2409-4FF9-B3F9-EE65C94CB7D8}"/>
              </a:ext>
            </a:extLst>
          </p:cNvPr>
          <p:cNvSpPr>
            <a:spLocks noGrp="1"/>
          </p:cNvSpPr>
          <p:nvPr/>
        </p:nvSpPr>
        <p:spPr>
          <a:xfrm>
            <a:off x="5989320" y="3456432"/>
            <a:ext cx="5157216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Families reach the agreed value thresholds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Every asset has complete rights and origin records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No critical or unreviewed deliveries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2+ schools would pay to continue at a stated price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31" name="Rectangulo commercial 1"/>
          <p:cNvSpPr>
            <a:spLocks noGrp="1"/>
          </p:cNvSpPr>
          <p:nvPr/>
        </p:nvSpPr>
        <p:spPr>
          <a:xfrm>
            <a:off x="609600" y="4800600"/>
            <a:ext cx="485546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>
                <a:solidFill>
                  <a:srgbClr val="155451"/>
                </a:solidFill>
              </a:rPr>
              <a:t>Commercial model</a:t>
            </a:r>
          </a:p>
        </p:txBody>
      </p:sp>
      <p:sp>
        <p:nvSpPr>
          <p:cNvPr id="32" name="Rectangulo commercial 2"/>
          <p:cNvSpPr>
            <a:spLocks noGrp="1"/>
          </p:cNvSpPr>
          <p:nvPr/>
        </p:nvSpPr>
        <p:spPr>
          <a:xfrm>
            <a:off x="609600" y="5120640"/>
            <a:ext cx="485546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1">
                <a:solidFill>
                  <a:srgbClr val="222222"/>
                </a:solidFill>
              </a:rPr>
              <a:t>Buyer: </a:t>
            </a:r>
            <a:r>
              <a:rPr sz="1300" b="0">
                <a:solidFill>
                  <a:srgbClr val="222222"/>
                </a:solidFill>
              </a:rPr>
              <a:t>nursery owner or director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1">
                <a:solidFill>
                  <a:srgbClr val="222222"/>
                </a:solidFill>
              </a:rPr>
              <a:t>Model: </a:t>
            </a:r>
            <a:r>
              <a:rPr sz="1300" b="0">
                <a:solidFill>
                  <a:srgbClr val="222222"/>
                </a:solidFill>
              </a:rPr>
              <a:t>B2B / B2B2C school subscription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1">
                <a:solidFill>
                  <a:srgbClr val="222222"/>
                </a:solidFill>
              </a:rPr>
              <a:t>Channel: </a:t>
            </a:r>
            <a:r>
              <a:rPr sz="1300" b="0">
                <a:solidFill>
                  <a:srgbClr val="222222"/>
                </a:solidFill>
              </a:rPr>
              <a:t>founder-led pilot with 2–3 nurseries first</a:t>
            </a:r>
          </a:p>
        </p:txBody>
      </p:sp>
      <p:sp>
        <p:nvSpPr>
          <p:cNvPr id="33" name="Rectangulo commercial 3"/>
          <p:cNvSpPr>
            <a:spLocks noGrp="1"/>
          </p:cNvSpPr>
          <p:nvPr/>
        </p:nvSpPr>
        <p:spPr>
          <a:xfrm>
            <a:off x="5989320" y="4800600"/>
            <a:ext cx="485546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>
                <a:solidFill>
                  <a:srgbClr val="155451"/>
                </a:solidFill>
              </a:rPr>
              <a:t>Price hypotheses</a:t>
            </a:r>
          </a:p>
        </p:txBody>
      </p:sp>
      <p:sp>
        <p:nvSpPr>
          <p:cNvPr id="34" name="Rectangulo commercial 4"/>
          <p:cNvSpPr>
            <a:spLocks noGrp="1"/>
          </p:cNvSpPr>
          <p:nvPr/>
        </p:nvSpPr>
        <p:spPr>
          <a:xfrm>
            <a:off x="5989320" y="5120640"/>
            <a:ext cx="5157216" cy="7132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0">
                <a:solidFill>
                  <a:srgbClr val="222222"/>
                </a:solidFill>
              </a:rPr>
              <a:t>EUR 600 / 1,200 / 1,800 per centre per year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1">
                <a:solidFill>
                  <a:srgbClr val="222222"/>
                </a:solidFill>
              </a:rPr>
              <a:t>Base case: </a:t>
            </a:r>
            <a:r>
              <a:rPr sz="1300" b="0">
                <a:solidFill>
                  <a:srgbClr val="222222"/>
                </a:solidFill>
              </a:rPr>
              <a:t>EUR 1,200 per centre per year</a:t>
            </a:r>
          </a:p>
          <a:p>
            <a:pPr algn="l">
              <a:defRPr sz="1300" b="0">
                <a:solidFill>
                  <a:srgbClr val="222222"/>
                </a:solidFill>
              </a:defRPr>
            </a:pPr>
            <a:r>
              <a:rPr sz="1300" b="0">
                <a:solidFill>
                  <a:srgbClr val="222222"/>
                </a:solidFill>
              </a:rPr>
              <a:t>Not validated — the pilot tests whether nurseries would actually pay</a:t>
            </a:r>
          </a:p>
        </p:txBody>
      </p:sp>
      <p:sp>
        <p:nvSpPr>
          <p:cNvPr id="35" name="Rectangulo commercial 5"/>
          <p:cNvSpPr>
            <a:spLocks noGrp="1"/>
          </p:cNvSpPr>
          <p:nvPr/>
        </p:nvSpPr>
        <p:spPr>
          <a:xfrm>
            <a:off x="612648" y="5742432"/>
            <a:ext cx="512064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rPr sz="1000" b="0">
                <a:solidFill>
                  <a:srgbClr val="6B7280"/>
                </a:solidFill>
              </a:rPr>
              <a:t>The nursery pays; families are users.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257B3273-2C48-4461-A567-FF0364738868}"/>
              </a:ext>
            </a:extLst>
          </p:cNvPr>
          <p:cNvSpPr>
            <a:spLocks noGrp="1"/>
          </p:cNvSpPr>
          <p:nvPr/>
        </p:nvSpPr>
        <p:spPr>
          <a:xfrm>
            <a:off x="2496312" y="5989320"/>
            <a:ext cx="7205472" cy="457200"/>
          </a:xfrm>
          <a:prstGeom prst="roundRect">
            <a:avLst>
              <a:gd name="adj" fmla="val 28571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D458EE6-A99D-4381-AD5D-3B0901008FC3}"/>
              </a:ext>
            </a:extLst>
          </p:cNvPr>
          <p:cNvSpPr>
            <a:spLocks noGrp="1"/>
          </p:cNvSpPr>
          <p:nvPr/>
        </p:nvSpPr>
        <p:spPr>
          <a:xfrm>
            <a:off x="2779776" y="6089904"/>
            <a:ext cx="6629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The pilot is a decision instrument — not a launch.</a:t>
            </a: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679B952-7D60-4CB8-AF54-AFAE8D02DF5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4AE1DB0-4C12-433B-9D3D-7FFF1F45A02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Source: strategic_plan.md; proposed scale and duration are pilot hypotheses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5DB9208-FC3C-464A-B7BB-431817E5BF94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4664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áfico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23406786-E22F-47EB-AED2-C8BD11638BB7}"/>
              </a:ext>
            </a:extLst>
          </p:cNvPr>
          <p:cNvSpPr>
            <a:spLocks noGrp="1"/>
          </p:cNvSpPr>
          <p:nvPr/>
        </p:nvSpPr>
        <p:spPr>
          <a:xfrm>
            <a:off x="612648" y="1856232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REVIEW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25B3BA14-0DD9-45A5-8AB5-48BD1C515FE2}"/>
              </a:ext>
            </a:extLst>
          </p:cNvPr>
          <p:cNvSpPr>
            <a:spLocks noGrp="1"/>
          </p:cNvSpPr>
          <p:nvPr/>
        </p:nvSpPr>
        <p:spPr>
          <a:xfrm>
            <a:off x="4270248" y="1856232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CREATE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D5E14148-6B4B-4C85-AA31-11905923935C}"/>
              </a:ext>
            </a:extLst>
          </p:cNvPr>
          <p:cNvSpPr>
            <a:spLocks noGrp="1"/>
          </p:cNvSpPr>
          <p:nvPr/>
        </p:nvSpPr>
        <p:spPr>
          <a:xfrm>
            <a:off x="7927848" y="1856232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SHARE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6D07317E-74AB-4BD8-B47F-7882380984DC}"/>
              </a:ext>
            </a:extLst>
          </p:cNvPr>
          <p:cNvSpPr>
            <a:spLocks noGrp="1"/>
          </p:cNvSpPr>
          <p:nvPr/>
        </p:nvSpPr>
        <p:spPr>
          <a:xfrm>
            <a:off x="612648" y="5532120"/>
            <a:ext cx="10972800" cy="713232"/>
          </a:xfrm>
          <a:prstGeom prst="roundRect">
            <a:avLst>
              <a:gd name="adj" fmla="val 30769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F6095C-527C-43C0-A7FA-34182AC7840F}"/>
              </a:ext>
            </a:extLst>
          </p:cNvPr>
          <p:cNvSpPr>
            <a:spLocks noGrp="1"/>
          </p:cNvSpPr>
          <p:nvPr/>
        </p:nvSpPr>
        <p:spPr>
          <a:xfrm>
            <a:off x="914400" y="5623560"/>
            <a:ext cx="49377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5451"/>
                </a:solidFill>
              </a:defRPr>
            </a:pPr>
            <a:r>
              <a:rPr lang="es-ES" sz="1200" b="1">
                <a:solidFill>
                  <a:srgbClr val="155451"/>
                </a:solidFill>
              </a:rPr>
              <a:t>Today: review → family materials → nursery assignment → a local family mini-library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6214360-0635-4C24-ADD0-3D4E3F6D0638}"/>
              </a:ext>
            </a:extLst>
          </p:cNvPr>
          <p:cNvSpPr>
            <a:spLocks noGrp="1"/>
          </p:cNvSpPr>
          <p:nvPr/>
        </p:nvSpPr>
        <p:spPr>
          <a:xfrm>
            <a:off x="6126480" y="5623560"/>
            <a:ext cx="52120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A6F55"/>
                </a:solidFill>
              </a:defRPr>
            </a:pPr>
            <a:r>
              <a:rPr lang="es-ES" sz="1200" b="1">
                <a:solidFill>
                  <a:srgbClr val="8A6F55"/>
                </a:solidFill>
              </a:rPr>
              <a:t>Still to build: real logins, permanent database, real delivery, notifications, billing, integrations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FE3681D5-6FDB-454E-AB98-43136422DDD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6525E9B-46E5-4F33-8B88-21A0C4A0701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prototype/; mvp/; current local workflow, not production delivery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856911D-3D87-449B-945E-D83724868F3F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9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ECF184-8020-2096-35CE-D66F19991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286000"/>
            <a:ext cx="2944368" cy="310896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10FD0D9-1163-6EA8-9017-FA6D0EAFED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0" b="3125"/>
          <a:stretch>
            <a:fillRect/>
          </a:stretch>
        </p:blipFill>
        <p:spPr>
          <a:xfrm>
            <a:off x="4343400" y="2286000"/>
            <a:ext cx="2286000" cy="237744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9E976EEB-E49E-FC3F-6327-DE2C58EBC2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17520"/>
            <a:ext cx="2286000" cy="237744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51E6BB6-5316-C63C-ED5C-E14578D0A4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3063240"/>
            <a:ext cx="3383280" cy="1563624"/>
          </a:xfrm>
          <a:prstGeom prst="rect">
            <a:avLst/>
          </a:prstGeom>
        </p:spPr>
      </p:pic>
      <p:sp>
        <p:nvSpPr>
          <p:cNvPr id="30" name="Rectangulo demo label"/>
          <p:cNvSpPr>
            <a:spLocks noGrp="1"/>
          </p:cNvSpPr>
          <p:nvPr/>
        </p:nvSpPr>
        <p:spPr>
          <a:xfrm>
            <a:off x="8686800" y="502920"/>
            <a:ext cx="2898648" cy="310896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LIVE MVP DEMO + RECORDED BACKUP</a:t>
            </a:r>
          </a:p>
        </p:txBody>
      </p:sp>
    </p:spTree>
    <p:extLst>
      <p:ext uri="{BB962C8B-B14F-4D97-AF65-F5344CB8AC3E}">
        <p14:creationId xmlns:p14="http://schemas.microsoft.com/office/powerpoint/2010/main" val="70814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5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275B8E4-BD42-4EB5-9DA2-B4D17EA7CB6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9DCD4"/>
                </a:solidFill>
              </a:defRPr>
            </a:pPr>
            <a:r>
              <a:rPr sz="1200" b="1">
                <a:solidFill>
                  <a:srgbClr val="B9DCD4"/>
                </a:solidFill>
              </a:rPr>
              <a:t>RECOMMENDATION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A6F77A-3001-4398-A456-687AFFAA31BD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609600" cy="57150"/>
          </a:xfrm>
          <a:prstGeom prst="rect">
            <a:avLst/>
          </a:prstGeom>
          <a:solidFill>
            <a:srgbClr val="C978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79259BC2-3887-4F3A-A206-3895EE7D8D3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Proceed with conditions: pilot before scale.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0E40E6-B1EC-4F76-8063-BBA466CE08F5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942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lang="en-US" sz="2100" b="1">
                <a:solidFill>
                  <a:srgbClr val="FFFFFF"/>
                </a:solidFill>
              </a:rPr>
              <a:t>Buy evidence through a controlled pilot, not a public launch.</a:t>
            </a:r>
            <a:endParaRPr sz="2100" b="1" dirty="0">
              <a:solidFill>
                <a:srgbClr val="FFFFFF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E7BAEC-3981-4731-ADA6-673415B15A3E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7855"/>
                </a:solidFill>
              </a:defRPr>
            </a:pPr>
            <a:r>
              <a:rPr sz="1275" b="1">
                <a:solidFill>
                  <a:srgbClr val="C97855"/>
                </a:solidFill>
              </a:rPr>
              <a:t>GO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B06E7D-5BA5-4C61-94F6-F5DDC145FD8A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34747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lang="en-US" sz="1500" b="1">
                <a:solidFill>
                  <a:srgbClr val="FFFFFF"/>
                </a:solidFill>
              </a:rPr>
              <a:t>Limits hold, families come back, and schools intend to pay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6FE367-66C1-4C0D-9D85-CAE50B465634}"/>
              </a:ext>
            </a:extLst>
          </p:cNvPr>
          <p:cNvSpPr>
            <a:spLocks noGrp="1"/>
          </p:cNvSpPr>
          <p:nvPr/>
        </p:nvSpPr>
        <p:spPr>
          <a:xfrm>
            <a:off x="4229100" y="3276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7855"/>
                </a:solidFill>
              </a:defRPr>
            </a:pPr>
            <a:r>
              <a:rPr sz="1275" b="1">
                <a:solidFill>
                  <a:srgbClr val="C97855"/>
                </a:solidFill>
              </a:rPr>
              <a:t>ITERATE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C886ED2-A5F9-4B44-AF2C-7521BF405A3F}"/>
              </a:ext>
            </a:extLst>
          </p:cNvPr>
          <p:cNvSpPr>
            <a:spLocks noGrp="1"/>
          </p:cNvSpPr>
          <p:nvPr/>
        </p:nvSpPr>
        <p:spPr>
          <a:xfrm>
            <a:off x="4229100" y="3638550"/>
            <a:ext cx="34747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lang="en-US" sz="1500" b="1">
                <a:solidFill>
                  <a:srgbClr val="FFFFFF"/>
                </a:solidFill>
              </a:rPr>
              <a:t>One gap left, with an owner, a cost, a target and a decision date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887DD3-BEA1-4216-949E-BE0D24C91A1E}"/>
              </a:ext>
            </a:extLst>
          </p:cNvPr>
          <p:cNvSpPr>
            <a:spLocks noGrp="1"/>
          </p:cNvSpPr>
          <p:nvPr/>
        </p:nvSpPr>
        <p:spPr>
          <a:xfrm>
            <a:off x="7848600" y="3276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97855"/>
                </a:solidFill>
              </a:defRPr>
            </a:pPr>
            <a:r>
              <a:rPr sz="1275" b="1">
                <a:solidFill>
                  <a:srgbClr val="C97855"/>
                </a:solidFill>
              </a:rPr>
              <a:t>STOP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A474CC-1361-4451-A8DC-63737639F7E0}"/>
              </a:ext>
            </a:extLst>
          </p:cNvPr>
          <p:cNvSpPr>
            <a:spLocks noGrp="1"/>
          </p:cNvSpPr>
          <p:nvPr/>
        </p:nvSpPr>
        <p:spPr>
          <a:xfrm>
            <a:off x="7848600" y="3638550"/>
            <a:ext cx="34747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lang="en-US" sz="1500" b="1">
                <a:solidFill>
                  <a:srgbClr val="FFFFFF"/>
                </a:solidFill>
              </a:rPr>
              <a:t>Unsafe or uncleared content, weak value, or nobody would pay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68E69A9-FC15-41AB-B602-173262056E36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2C7A7B-B5A9-4703-A767-6B229AFA0552}"/>
              </a:ext>
            </a:extLst>
          </p:cNvPr>
          <p:cNvSpPr>
            <a:spLocks noGrp="1"/>
          </p:cNvSpPr>
          <p:nvPr/>
        </p:nvSpPr>
        <p:spPr>
          <a:xfrm>
            <a:off x="895350" y="5067300"/>
            <a:ext cx="1040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55451"/>
                </a:solidFill>
              </a:defRPr>
            </a:pPr>
            <a:r>
              <a:rPr sz="2250" b="1">
                <a:solidFill>
                  <a:srgbClr val="155451"/>
                </a:solidFill>
              </a:rPr>
              <a:t>Approve an 8 to 9 week pilot with 2 to 3 nursery schools.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96E1A94-2573-4BD6-8111-7BC531CCB370}"/>
              </a:ext>
            </a:extLst>
          </p:cNvPr>
          <p:cNvSpPr>
            <a:spLocks noGrp="1"/>
          </p:cNvSpPr>
          <p:nvPr/>
        </p:nvSpPr>
        <p:spPr>
          <a:xfrm>
            <a:off x="838200" y="5981700"/>
            <a:ext cx="10515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D7EAE6"/>
                </a:solidFill>
              </a:defRPr>
            </a:pPr>
            <a:r>
              <a:rPr sz="1425" b="0">
                <a:solidFill>
                  <a:srgbClr val="D7EAE6"/>
                </a:solidFill>
              </a:rPr>
              <a:t>EUR 5.5k–17.3k validation budget • production build excluded • any GO scopes the next phase only</a:t>
            </a:r>
          </a:p>
        </p:txBody>
      </p:sp>
    </p:spTree>
    <p:extLst>
      <p:ext uri="{BB962C8B-B14F-4D97-AF65-F5344CB8AC3E}">
        <p14:creationId xmlns:p14="http://schemas.microsoft.com/office/powerpoint/2010/main" val="10085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áfico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41AFECB-B94E-4A33-81FA-A94A6E7C117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Technology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A1E10E2-8FFE-45A6-98E3-2446B20C24BD}"/>
              </a:ext>
            </a:extLst>
          </p:cNvPr>
          <p:cNvSpPr>
            <a:spLocks noGrp="1"/>
          </p:cNvSpPr>
          <p:nvPr/>
        </p:nvSpPr>
        <p:spPr>
          <a:xfrm>
            <a:off x="3448050" y="15621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Role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AD69DA-0C58-4012-AA67-DBC9CE5691DA}"/>
              </a:ext>
            </a:extLst>
          </p:cNvPr>
          <p:cNvSpPr>
            <a:spLocks noGrp="1"/>
          </p:cNvSpPr>
          <p:nvPr/>
        </p:nvSpPr>
        <p:spPr>
          <a:xfrm>
            <a:off x="7219950" y="15621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Evidence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E66047-142D-4EF0-A5B0-94F4DCE7D3B0}"/>
              </a:ext>
            </a:extLst>
          </p:cNvPr>
          <p:cNvSpPr>
            <a:spLocks noGrp="1"/>
          </p:cNvSpPr>
          <p:nvPr/>
        </p:nvSpPr>
        <p:spPr>
          <a:xfrm>
            <a:off x="8991600" y="15621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Boundary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49B5F8-80D5-46ED-A58A-458DFED0885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552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5FF958-FABF-42BB-A29E-15AB299CCFD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MediaPipe + OpenCV + ffmpeg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1F25818-BB07-430A-A614-9CD2A2932697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Movement extraction, overlays and browser-ready video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EEBD6FE-C05B-4A52-B66A-9F0F3276C3DC}"/>
              </a:ext>
            </a:extLst>
          </p:cNvPr>
          <p:cNvSpPr>
            <a:spLocks noGrp="1"/>
          </p:cNvSpPr>
          <p:nvPr/>
        </p:nvSpPr>
        <p:spPr>
          <a:xfrm>
            <a:off x="7219950" y="19716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CURRENT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D3FE4F-5880-4C54-8C6A-89C047A68D2E}"/>
              </a:ext>
            </a:extLst>
          </p:cNvPr>
          <p:cNvSpPr>
            <a:spLocks noGrp="1"/>
          </p:cNvSpPr>
          <p:nvPr/>
        </p:nvSpPr>
        <p:spPr>
          <a:xfrm>
            <a:off x="8991600" y="194310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No sign certification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9D3A323-7A3F-4E35-A75C-65C0F535C448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Python + JavaScript / HTML / CSS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CBD11F2-355C-4722-A2D2-8B6F5D1CFAE5}"/>
              </a:ext>
            </a:extLst>
          </p:cNvPr>
          <p:cNvSpPr>
            <a:spLocks noGrp="1"/>
          </p:cNvSpPr>
          <p:nvPr/>
        </p:nvSpPr>
        <p:spPr>
          <a:xfrm>
            <a:off x="3448050" y="253365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Local service and product interface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A9156DDB-929D-4F25-A971-E1481A29E8B6}"/>
              </a:ext>
            </a:extLst>
          </p:cNvPr>
          <p:cNvSpPr>
            <a:spLocks noGrp="1"/>
          </p:cNvSpPr>
          <p:nvPr/>
        </p:nvSpPr>
        <p:spPr>
          <a:xfrm>
            <a:off x="7219950" y="256222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CURRENT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FC7104-8CD8-4E76-9EB1-20E7D26EAC3F}"/>
              </a:ext>
            </a:extLst>
          </p:cNvPr>
          <p:cNvSpPr>
            <a:spLocks noGrp="1"/>
          </p:cNvSpPr>
          <p:nvPr/>
        </p:nvSpPr>
        <p:spPr>
          <a:xfrm>
            <a:off x="8991600" y="25336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Not production infrastructure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0EF2130-1489-4B8C-AEC2-64A58BA7A175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552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5A0728-065B-453F-8348-3A0EC784C8EB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Deterministic SVG + Open Peeps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A10220-8EA6-4C3E-9C7F-ABF49D422263}"/>
              </a:ext>
            </a:extLst>
          </p:cNvPr>
          <p:cNvSpPr>
            <a:spLocks noGrp="1"/>
          </p:cNvSpPr>
          <p:nvPr/>
        </p:nvSpPr>
        <p:spPr>
          <a:xfrm>
            <a:off x="3448050" y="312420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Repeatable draft visuals and print layouts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1D0B5368-CEC4-45B6-A5ED-0EF322A65CC6}"/>
              </a:ext>
            </a:extLst>
          </p:cNvPr>
          <p:cNvSpPr>
            <a:spLocks noGrp="1"/>
          </p:cNvSpPr>
          <p:nvPr/>
        </p:nvSpPr>
        <p:spPr>
          <a:xfrm>
            <a:off x="7219950" y="31527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CURRENT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E6D76BC-CCE4-4EE5-92A8-1D054DB378C4}"/>
              </a:ext>
            </a:extLst>
          </p:cNvPr>
          <p:cNvSpPr>
            <a:spLocks noGrp="1"/>
          </p:cNvSpPr>
          <p:nvPr/>
        </p:nvSpPr>
        <p:spPr>
          <a:xfrm>
            <a:off x="8991600" y="312420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Hand review still required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1B0B2BA-8593-4E72-A3CF-63C6104A1484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n8n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DA1B898-80FB-459B-ABDE-945FE578B9DD}"/>
              </a:ext>
            </a:extLst>
          </p:cNvPr>
          <p:cNvSpPr>
            <a:spLocks noGrp="1"/>
          </p:cNvSpPr>
          <p:nvPr/>
        </p:nvSpPr>
        <p:spPr>
          <a:xfrm>
            <a:off x="3448050" y="371475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Governed orchestration design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149AB3A8-7653-475C-B849-488A0F240C93}"/>
              </a:ext>
            </a:extLst>
          </p:cNvPr>
          <p:cNvSpPr>
            <a:spLocks noGrp="1"/>
          </p:cNvSpPr>
          <p:nvPr/>
        </p:nvSpPr>
        <p:spPr>
          <a:xfrm>
            <a:off x="7219950" y="374332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IMPORTABLE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361655D-BAB6-4468-AFA7-F2AA3E2AD6C9}"/>
              </a:ext>
            </a:extLst>
          </p:cNvPr>
          <p:cNvSpPr>
            <a:spLocks noGrp="1"/>
          </p:cNvSpPr>
          <p:nvPr/>
        </p:nvSpPr>
        <p:spPr>
          <a:xfrm>
            <a:off x="8991600" y="37147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Live final runtime not evidenced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8034F15-B56D-4DF7-B696-92274D324C7F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0972800" cy="552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357DE88-04D0-4AA1-BFBC-10607F94A6D2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LangSmith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C935223-AC11-4B46-8E33-7D6D242F8146}"/>
              </a:ext>
            </a:extLst>
          </p:cNvPr>
          <p:cNvSpPr>
            <a:spLocks noGrp="1"/>
          </p:cNvSpPr>
          <p:nvPr/>
        </p:nvSpPr>
        <p:spPr>
          <a:xfrm>
            <a:off x="3448050" y="430530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LLM trace and evaluation plan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E882E61B-2551-4600-A63B-9A896E5A85F2}"/>
              </a:ext>
            </a:extLst>
          </p:cNvPr>
          <p:cNvSpPr>
            <a:spLocks noGrp="1"/>
          </p:cNvSpPr>
          <p:nvPr/>
        </p:nvSpPr>
        <p:spPr>
          <a:xfrm>
            <a:off x="7219950" y="43338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DRY-RUN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4F690BB-7332-4F32-AC05-51870FB57F95}"/>
              </a:ext>
            </a:extLst>
          </p:cNvPr>
          <p:cNvSpPr>
            <a:spLocks noGrp="1"/>
          </p:cNvSpPr>
          <p:nvPr/>
        </p:nvSpPr>
        <p:spPr>
          <a:xfrm>
            <a:off x="8991600" y="430530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Does not evaluate CV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DD712D-180F-45BF-8B7B-F4A148FC403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Gemini FX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06DFD15-31B5-4D33-942C-2453FD7E0C61}"/>
              </a:ext>
            </a:extLst>
          </p:cNvPr>
          <p:cNvSpPr>
            <a:spLocks noGrp="1"/>
          </p:cNvSpPr>
          <p:nvPr/>
        </p:nvSpPr>
        <p:spPr>
          <a:xfrm>
            <a:off x="3448050" y="489585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Illustrative future motion direction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C37E5CD6-8E6A-4CB1-8468-7110A705E91C}"/>
              </a:ext>
            </a:extLst>
          </p:cNvPr>
          <p:cNvSpPr>
            <a:spLocks noGrp="1"/>
          </p:cNvSpPr>
          <p:nvPr/>
        </p:nvSpPr>
        <p:spPr>
          <a:xfrm>
            <a:off x="7219950" y="492442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DEMO-ONLY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F3B38BA-F6FF-464D-BFC1-F0066275CD5A}"/>
              </a:ext>
            </a:extLst>
          </p:cNvPr>
          <p:cNvSpPr>
            <a:spLocks noGrp="1"/>
          </p:cNvSpPr>
          <p:nvPr/>
        </p:nvSpPr>
        <p:spPr>
          <a:xfrm>
            <a:off x="8991600" y="48958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Not landmark-driven or certified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A6ADF8E-9D8B-4B46-990E-FD9CDE177FF8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552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3D8D02B-5C37-44E0-AB0F-AE56F1CD5DA6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Tableau + Git / GitHub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0D12687-3A6F-4FB8-AFC5-AC834683E38B}"/>
              </a:ext>
            </a:extLst>
          </p:cNvPr>
          <p:cNvSpPr>
            <a:spLocks noGrp="1"/>
          </p:cNvSpPr>
          <p:nvPr/>
        </p:nvSpPr>
        <p:spPr>
          <a:xfrm>
            <a:off x="3448050" y="548640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Market evidence and version control</a:t>
            </a:r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B3D09E16-2618-4DC8-8870-5CD0446FF4CD}"/>
              </a:ext>
            </a:extLst>
          </p:cNvPr>
          <p:cNvSpPr>
            <a:spLocks noGrp="1"/>
          </p:cNvSpPr>
          <p:nvPr/>
        </p:nvSpPr>
        <p:spPr>
          <a:xfrm>
            <a:off x="7219950" y="55149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CURRENT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97AF3AC-97AB-4D81-BF0C-C3CFF7335677}"/>
              </a:ext>
            </a:extLst>
          </p:cNvPr>
          <p:cNvSpPr>
            <a:spLocks noGrp="1"/>
          </p:cNvSpPr>
          <p:nvPr/>
        </p:nvSpPr>
        <p:spPr>
          <a:xfrm>
            <a:off x="8991600" y="548640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</a:defRPr>
            </a:pPr>
            <a:r>
              <a:rPr sz="1275" b="0">
                <a:solidFill>
                  <a:srgbClr val="6B7280"/>
                </a:solidFill>
              </a:rPr>
              <a:t>Not product telemetry</a:t>
            </a: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67386A1F-E30C-443C-A3E3-2504FB9824B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6567C80-F315-4FE9-8933-4D527DF685C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docs/course_technologies_applied.md; mvp/; workflow/; dashboard/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55608F4-8D50-4F0D-BAD2-6A5B6F168A0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2269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áfico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Flecha derecha 1">
            <a:extLst>
              <a:ext uri="{FF2B5EF4-FFF2-40B4-BE49-F238E27FC236}">
                <a16:creationId xmlns:a16="http://schemas.microsoft.com/office/drawing/2014/main" id="{2692F27C-DD41-4BA0-9D00-EC1279349D56}"/>
              </a:ext>
            </a:extLst>
          </p:cNvPr>
          <p:cNvSpPr>
            <a:spLocks noGrp="1"/>
          </p:cNvSpPr>
          <p:nvPr/>
        </p:nvSpPr>
        <p:spPr>
          <a:xfrm>
            <a:off x="2143125" y="255270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Flecha derecha 2">
            <a:extLst>
              <a:ext uri="{FF2B5EF4-FFF2-40B4-BE49-F238E27FC236}">
                <a16:creationId xmlns:a16="http://schemas.microsoft.com/office/drawing/2014/main" id="{9C1BDC13-C4AF-42C7-B1E0-CDCD2E6ED89F}"/>
              </a:ext>
            </a:extLst>
          </p:cNvPr>
          <p:cNvSpPr>
            <a:spLocks noGrp="1"/>
          </p:cNvSpPr>
          <p:nvPr/>
        </p:nvSpPr>
        <p:spPr>
          <a:xfrm>
            <a:off x="3990975" y="255270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Flecha derecha 3">
            <a:extLst>
              <a:ext uri="{FF2B5EF4-FFF2-40B4-BE49-F238E27FC236}">
                <a16:creationId xmlns:a16="http://schemas.microsoft.com/office/drawing/2014/main" id="{BE676500-F9EA-4252-8188-675C19DBDB9D}"/>
              </a:ext>
            </a:extLst>
          </p:cNvPr>
          <p:cNvSpPr>
            <a:spLocks noGrp="1"/>
          </p:cNvSpPr>
          <p:nvPr/>
        </p:nvSpPr>
        <p:spPr>
          <a:xfrm>
            <a:off x="5838825" y="255270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Flecha derecha 4">
            <a:extLst>
              <a:ext uri="{FF2B5EF4-FFF2-40B4-BE49-F238E27FC236}">
                <a16:creationId xmlns:a16="http://schemas.microsoft.com/office/drawing/2014/main" id="{855A9C7E-81D6-4779-ADB7-3404BCE269BD}"/>
              </a:ext>
            </a:extLst>
          </p:cNvPr>
          <p:cNvSpPr>
            <a:spLocks noGrp="1"/>
          </p:cNvSpPr>
          <p:nvPr/>
        </p:nvSpPr>
        <p:spPr>
          <a:xfrm>
            <a:off x="7686675" y="255270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694354FE-000B-461F-847F-EC22E7879377}"/>
              </a:ext>
            </a:extLst>
          </p:cNvPr>
          <p:cNvSpPr>
            <a:spLocks noGrp="1"/>
          </p:cNvSpPr>
          <p:nvPr/>
        </p:nvSpPr>
        <p:spPr>
          <a:xfrm>
            <a:off x="9534525" y="2552700"/>
            <a:ext cx="266700" cy="2095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3EC9C33-30F1-4473-A961-19E765D310E6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F25E89-8229-450E-BFD1-46C6A10EDAF1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Reference layer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D1EE368-C621-42DF-9C8E-65847A3DDE10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Adult video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C8F868-D75B-4AAC-BAAF-3BFF799592EE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CURRENT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F34CF2AC-B60E-4864-8DF0-B476A2207CF8}"/>
              </a:ext>
            </a:extLst>
          </p:cNvPr>
          <p:cNvSpPr>
            <a:spLocks noGrp="1"/>
          </p:cNvSpPr>
          <p:nvPr/>
        </p:nvSpPr>
        <p:spPr>
          <a:xfrm>
            <a:off x="251460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C16A9B-9C60-4611-A22C-36E633157E4C}"/>
              </a:ext>
            </a:extLst>
          </p:cNvPr>
          <p:cNvSpPr>
            <a:spLocks noGrp="1"/>
          </p:cNvSpPr>
          <p:nvPr/>
        </p:nvSpPr>
        <p:spPr>
          <a:xfrm>
            <a:off x="262890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CV layer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7FB5590-40DD-49BB-8982-66CBE1F9AB5F}"/>
              </a:ext>
            </a:extLst>
          </p:cNvPr>
          <p:cNvSpPr>
            <a:spLocks noGrp="1"/>
          </p:cNvSpPr>
          <p:nvPr/>
        </p:nvSpPr>
        <p:spPr>
          <a:xfrm>
            <a:off x="262890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Landmarks + diagnostics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AD3048-79D0-4258-9086-2389E769A611}"/>
              </a:ext>
            </a:extLst>
          </p:cNvPr>
          <p:cNvSpPr>
            <a:spLocks noGrp="1"/>
          </p:cNvSpPr>
          <p:nvPr/>
        </p:nvSpPr>
        <p:spPr>
          <a:xfrm>
            <a:off x="262890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CURRENT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0D340296-1B16-4F2F-9718-7956829F41EF}"/>
              </a:ext>
            </a:extLst>
          </p:cNvPr>
          <p:cNvSpPr>
            <a:spLocks noGrp="1"/>
          </p:cNvSpPr>
          <p:nvPr/>
        </p:nvSpPr>
        <p:spPr>
          <a:xfrm>
            <a:off x="436245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FF2F42-DF8F-46F6-994F-A1CFB3F813F4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Evidence + registry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3B1D121-27AD-475F-B7BE-300F2C04E13B}"/>
              </a:ext>
            </a:extLst>
          </p:cNvPr>
          <p:cNvSpPr>
            <a:spLocks noGrp="1"/>
          </p:cNvSpPr>
          <p:nvPr/>
        </p:nvSpPr>
        <p:spPr>
          <a:xfrm>
            <a:off x="447675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Lineage + rights state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81D6A07-224E-4764-93F5-934A849A0172}"/>
              </a:ext>
            </a:extLst>
          </p:cNvPr>
          <p:cNvSpPr>
            <a:spLocks noGrp="1"/>
          </p:cNvSpPr>
          <p:nvPr/>
        </p:nvSpPr>
        <p:spPr>
          <a:xfrm>
            <a:off x="447675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CURRENT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A8FCF70E-3D94-4831-B35D-726B05576BAC}"/>
              </a:ext>
            </a:extLst>
          </p:cNvPr>
          <p:cNvSpPr>
            <a:spLocks noGrp="1"/>
          </p:cNvSpPr>
          <p:nvPr/>
        </p:nvSpPr>
        <p:spPr>
          <a:xfrm>
            <a:off x="621030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E5F0EC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974DA9A-93A7-490F-90F1-3492674A6901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Content operations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7531C22-9967-4AAE-9AE4-A7E68EB5BA05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Rules + human gate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B246A85-06CC-4444-910B-ED22F7BF7949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CURRENT / DRY-RUN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4793E3A7-2754-42C5-8919-B3AF18EDE3CA}"/>
              </a:ext>
            </a:extLst>
          </p:cNvPr>
          <p:cNvSpPr>
            <a:spLocks noGrp="1"/>
          </p:cNvSpPr>
          <p:nvPr/>
        </p:nvSpPr>
        <p:spPr>
          <a:xfrm>
            <a:off x="805815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2404351-DE42-4923-BBE9-598852B24019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Family materials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1ED7427-43CA-4064-B196-D6F3A4E172F9}"/>
              </a:ext>
            </a:extLst>
          </p:cNvPr>
          <p:cNvSpPr>
            <a:spLocks noGrp="1"/>
          </p:cNvSpPr>
          <p:nvPr/>
        </p:nvSpPr>
        <p:spPr>
          <a:xfrm>
            <a:off x="817245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Deterministic print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896ABC9-AF78-4443-AB9B-F71698056C93}"/>
              </a:ext>
            </a:extLst>
          </p:cNvPr>
          <p:cNvSpPr>
            <a:spLocks noGrp="1"/>
          </p:cNvSpPr>
          <p:nvPr/>
        </p:nvSpPr>
        <p:spPr>
          <a:xfrm>
            <a:off x="817245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CURRENT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BFC9445D-06A6-4D98-82FA-65D86DECF3B8}"/>
              </a:ext>
            </a:extLst>
          </p:cNvPr>
          <p:cNvSpPr>
            <a:spLocks noGrp="1"/>
          </p:cNvSpPr>
          <p:nvPr/>
        </p:nvSpPr>
        <p:spPr>
          <a:xfrm>
            <a:off x="9906000" y="2190750"/>
            <a:ext cx="1390650" cy="144780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8844157-7B93-431D-BCC1-C708C0D9456B}"/>
              </a:ext>
            </a:extLst>
          </p:cNvPr>
          <p:cNvSpPr>
            <a:spLocks noGrp="1"/>
          </p:cNvSpPr>
          <p:nvPr/>
        </p:nvSpPr>
        <p:spPr>
          <a:xfrm>
            <a:off x="10020300" y="23812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Nursery workflow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352E517-54FA-40BD-AE2F-CD141D28B7FF}"/>
              </a:ext>
            </a:extLst>
          </p:cNvPr>
          <p:cNvSpPr>
            <a:spLocks noGrp="1"/>
          </p:cNvSpPr>
          <p:nvPr/>
        </p:nvSpPr>
        <p:spPr>
          <a:xfrm>
            <a:off x="10020300" y="2895600"/>
            <a:ext cx="1162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Assignment prototype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9437303-F4DE-4A28-A877-F6C6FDC1C6E8}"/>
              </a:ext>
            </a:extLst>
          </p:cNvPr>
          <p:cNvSpPr>
            <a:spLocks noGrp="1"/>
          </p:cNvSpPr>
          <p:nvPr/>
        </p:nvSpPr>
        <p:spPr>
          <a:xfrm>
            <a:off x="10020300" y="3352800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F6F6B"/>
                </a:solidFill>
              </a:defRPr>
            </a:pPr>
            <a:r>
              <a:rPr sz="825" b="1">
                <a:solidFill>
                  <a:srgbClr val="1F6F6B"/>
                </a:solidFill>
              </a:rPr>
              <a:t>LOCAL PROTOTYPE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4975DFBE-2D03-448E-9C07-48E881E80485}"/>
              </a:ext>
            </a:extLst>
          </p:cNvPr>
          <p:cNvSpPr>
            <a:spLocks noGrp="1"/>
          </p:cNvSpPr>
          <p:nvPr/>
        </p:nvSpPr>
        <p:spPr>
          <a:xfrm>
            <a:off x="1695450" y="4362450"/>
            <a:ext cx="8801100" cy="876300"/>
          </a:xfrm>
          <a:prstGeom prst="roundRect">
            <a:avLst>
              <a:gd name="adj" fmla="val 19565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98C602-4BBA-4854-9148-73C36442B782}"/>
              </a:ext>
            </a:extLst>
          </p:cNvPr>
          <p:cNvSpPr>
            <a:spLocks noGrp="1"/>
          </p:cNvSpPr>
          <p:nvPr/>
        </p:nvSpPr>
        <p:spPr>
          <a:xfrm>
            <a:off x="2019300" y="4572000"/>
            <a:ext cx="815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Human review separates technical evidence from publication. Schools never operate the production pipeline.</a:t>
            </a:r>
          </a:p>
        </p:txBody>
      </p:sp>
      <p:sp>
        <p:nvSpPr>
          <p:cNvPr id="33" name="Conector recto 32">
            <a:extLst>
              <a:ext uri="{FF2B5EF4-FFF2-40B4-BE49-F238E27FC236}">
                <a16:creationId xmlns:a16="http://schemas.microsoft.com/office/drawing/2014/main" id="{1CA36524-96D1-4AAA-9D4B-24F8E88B9DE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21EA34F-7F35-4F19-BC8F-27D265BDF14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docs/kinder_signs_content_operations_architecture.md; docs/kinder_signs_system_one_page.md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FFE3AF1-FCBC-403B-AA7E-26BDC6446CA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0972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áfico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47ACA4E4-1879-49EC-8E21-344139F500A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72415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IMPORTABLE WORKFLOW DESIGN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D7BEB55-B781-4397-A60C-C6125F65B362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55451"/>
                </a:solidFill>
              </a:defRPr>
            </a:pPr>
            <a:r>
              <a:rPr sz="2100" b="1">
                <a:solidFill>
                  <a:srgbClr val="155451"/>
                </a:solidFill>
              </a:rPr>
              <a:t>n8n</a:t>
            </a:r>
          </a:p>
        </p:txBody>
      </p:sp>
      <p:sp>
        <p:nvSpPr>
          <p:cNvPr id="4" name="Flecha derecha 3">
            <a:extLst>
              <a:ext uri="{FF2B5EF4-FFF2-40B4-BE49-F238E27FC236}">
                <a16:creationId xmlns:a16="http://schemas.microsoft.com/office/drawing/2014/main" id="{A8FBCE6F-FB74-4FC9-A124-E63940C4EF6D}"/>
              </a:ext>
            </a:extLst>
          </p:cNvPr>
          <p:cNvSpPr>
            <a:spLocks noGrp="1"/>
          </p:cNvSpPr>
          <p:nvPr/>
        </p:nvSpPr>
        <p:spPr>
          <a:xfrm>
            <a:off x="1962150" y="2990850"/>
            <a:ext cx="190500" cy="1714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Flecha derecha 4">
            <a:extLst>
              <a:ext uri="{FF2B5EF4-FFF2-40B4-BE49-F238E27FC236}">
                <a16:creationId xmlns:a16="http://schemas.microsoft.com/office/drawing/2014/main" id="{C108BBA3-9EDB-482A-BC5D-2BE74120C476}"/>
              </a:ext>
            </a:extLst>
          </p:cNvPr>
          <p:cNvSpPr>
            <a:spLocks noGrp="1"/>
          </p:cNvSpPr>
          <p:nvPr/>
        </p:nvSpPr>
        <p:spPr>
          <a:xfrm>
            <a:off x="3467100" y="2990850"/>
            <a:ext cx="190500" cy="1714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EF5B60AE-854D-4528-8651-93FF209AA9B4}"/>
              </a:ext>
            </a:extLst>
          </p:cNvPr>
          <p:cNvSpPr>
            <a:spLocks noGrp="1"/>
          </p:cNvSpPr>
          <p:nvPr/>
        </p:nvSpPr>
        <p:spPr>
          <a:xfrm>
            <a:off x="4972050" y="2990850"/>
            <a:ext cx="190500" cy="171450"/>
          </a:xfrm>
          <a:prstGeom prst="rightArrow">
            <a:avLst/>
          </a:prstGeom>
          <a:solidFill>
            <a:srgbClr val="C97855"/>
          </a:solidFill>
          <a:ln w="9525">
            <a:solidFill>
              <a:srgbClr val="C978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1D00E4F-A896-4F73-8FBD-9C7CCB5AC0F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20015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52F5EC-14D8-4456-B51B-BD6DF5BEFD57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00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Approved object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1696566-5C99-4652-ACE7-0BB633E09B6E}"/>
              </a:ext>
            </a:extLst>
          </p:cNvPr>
          <p:cNvSpPr>
            <a:spLocks noGrp="1"/>
          </p:cNvSpPr>
          <p:nvPr/>
        </p:nvSpPr>
        <p:spPr>
          <a:xfrm>
            <a:off x="2190750" y="2724150"/>
            <a:ext cx="120015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6D80943-38FB-4BA6-BE6E-2E3C80D8A0FF}"/>
              </a:ext>
            </a:extLst>
          </p:cNvPr>
          <p:cNvSpPr>
            <a:spLocks noGrp="1"/>
          </p:cNvSpPr>
          <p:nvPr/>
        </p:nvSpPr>
        <p:spPr>
          <a:xfrm>
            <a:off x="2286000" y="2914650"/>
            <a:ext cx="100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Schema check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11867062-3B75-4484-9DFD-A13D6CEE0430}"/>
              </a:ext>
            </a:extLst>
          </p:cNvPr>
          <p:cNvSpPr>
            <a:spLocks noGrp="1"/>
          </p:cNvSpPr>
          <p:nvPr/>
        </p:nvSpPr>
        <p:spPr>
          <a:xfrm>
            <a:off x="3695700" y="2724150"/>
            <a:ext cx="120015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E15C023-C3D8-49E7-9024-4F7A2A9E2F5D}"/>
              </a:ext>
            </a:extLst>
          </p:cNvPr>
          <p:cNvSpPr>
            <a:spLocks noGrp="1"/>
          </p:cNvSpPr>
          <p:nvPr/>
        </p:nvSpPr>
        <p:spPr>
          <a:xfrm>
            <a:off x="3790950" y="2914650"/>
            <a:ext cx="100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LLM draft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D71BB8EB-62D1-4594-8B11-CAF9036D46C4}"/>
              </a:ext>
            </a:extLst>
          </p:cNvPr>
          <p:cNvSpPr>
            <a:spLocks noGrp="1"/>
          </p:cNvSpPr>
          <p:nvPr/>
        </p:nvSpPr>
        <p:spPr>
          <a:xfrm>
            <a:off x="5200650" y="2724150"/>
            <a:ext cx="120015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25B749-77D2-4D93-B472-822624688F75}"/>
              </a:ext>
            </a:extLst>
          </p:cNvPr>
          <p:cNvSpPr>
            <a:spLocks noGrp="1"/>
          </p:cNvSpPr>
          <p:nvPr/>
        </p:nvSpPr>
        <p:spPr>
          <a:xfrm>
            <a:off x="5295900" y="2914650"/>
            <a:ext cx="100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Quality gate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D84D62-E7D0-4782-A7AB-DDD335B6807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C97855"/>
                </a:solidFill>
              </a:defRPr>
            </a:pPr>
            <a:r>
              <a:rPr sz="1575" b="1">
                <a:solidFill>
                  <a:srgbClr val="C97855"/>
                </a:solidFill>
              </a:rPr>
              <a:t>Automatic publication: false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19F3C367-BF4C-4144-87AD-36D76D5976C5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0" cy="3638550"/>
          </a:xfrm>
          <a:prstGeom prst="line">
            <a:avLst/>
          </a:prstGeom>
          <a:noFill/>
          <a:ln w="19050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D70808A5-E235-4E3C-A04E-57283DC310B4}"/>
              </a:ext>
            </a:extLst>
          </p:cNvPr>
          <p:cNvSpPr>
            <a:spLocks noGrp="1"/>
          </p:cNvSpPr>
          <p:nvPr/>
        </p:nvSpPr>
        <p:spPr>
          <a:xfrm>
            <a:off x="7010400" y="1524000"/>
            <a:ext cx="29146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LANGSMITH EVALUATION DRY-RUN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8C94F00-858E-4E45-841F-6D4D70BCF400}"/>
              </a:ext>
            </a:extLst>
          </p:cNvPr>
          <p:cNvSpPr>
            <a:spLocks noGrp="1"/>
          </p:cNvSpPr>
          <p:nvPr/>
        </p:nvSpPr>
        <p:spPr>
          <a:xfrm>
            <a:off x="7010400" y="2114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55451"/>
                </a:solidFill>
              </a:defRPr>
            </a:pPr>
            <a:r>
              <a:rPr sz="1875" b="1">
                <a:solidFill>
                  <a:srgbClr val="155451"/>
                </a:solidFill>
              </a:rPr>
              <a:t>No network calls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F4CDDBB-D93E-4D2B-A6E2-BD3A6E45B1AF}"/>
              </a:ext>
            </a:extLst>
          </p:cNvPr>
          <p:cNvSpPr>
            <a:spLocks noGrp="1"/>
          </p:cNvSpPr>
          <p:nvPr/>
        </p:nvSpPr>
        <p:spPr>
          <a:xfrm>
            <a:off x="7010400" y="2667000"/>
            <a:ext cx="4229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Dataset: kinder_signs_microlearning_v1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Inputs: approved sign + CV summary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Output: structured family draft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Quality gate: PASSED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Human review: REQUIRED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10837C7-9509-4933-A0E1-958AB9723392}"/>
              </a:ext>
            </a:extLst>
          </p:cNvPr>
          <p:cNvSpPr>
            <a:spLocks noGrp="1"/>
          </p:cNvSpPr>
          <p:nvPr/>
        </p:nvSpPr>
        <p:spPr>
          <a:xfrm>
            <a:off x="7010400" y="4610100"/>
            <a:ext cx="4229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7855"/>
                </a:solidFill>
              </a:defRPr>
            </a:pPr>
            <a:r>
              <a:rPr sz="1350" b="1">
                <a:solidFill>
                  <a:srgbClr val="C97855"/>
                </a:solidFill>
              </a:rPr>
              <a:t>Would not evaluate: video, movement correctness, Baby Sign correctness, CV quality or professional validity.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2BBC390C-558B-4CBC-82DB-5745438D3C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90FEE44-063A-4219-BBDB-267ACA85DA6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exact n8n JSON and workflow/langsmith_dry_run_summary.json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651AB26-89C4-4132-8CFD-371BF2ED9CA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1083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5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DC2772D-10B1-434B-AE79-8B0A8502B19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9DCD4"/>
                </a:solidFill>
              </a:defRPr>
            </a:pPr>
            <a:r>
              <a:rPr sz="1200" b="1">
                <a:solidFill>
                  <a:srgbClr val="B9DCD4"/>
                </a:solidFill>
              </a:rPr>
              <a:t>DESIGN BOUNDARIES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E8B5AFA-E205-4334-A54C-1564368124AB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609600" cy="57150"/>
          </a:xfrm>
          <a:prstGeom prst="rect">
            <a:avLst/>
          </a:prstGeom>
          <a:solidFill>
            <a:srgbClr val="C9785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2245125-AF4C-44DF-AC41-404180AEA7E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We deliberately did not automate the decisions that require accountability.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863FA95-2B3B-4579-ACDA-B43048D52E60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Child scoring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Automatic sign certification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Autonomous publication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97B718-CEF3-4DB3-8714-5BD2904B8FE7}"/>
              </a:ext>
            </a:extLst>
          </p:cNvPr>
          <p:cNvSpPr>
            <a:spLocks noGrp="1"/>
          </p:cNvSpPr>
          <p:nvPr/>
        </p:nvSpPr>
        <p:spPr>
          <a:xfrm>
            <a:off x="6477000" y="274320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Unnecessary RAG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Unnecessary agent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 LLM-based objective gates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C484AB5-AB08-47F9-AF91-EEDE86DF462B}"/>
              </a:ext>
            </a:extLst>
          </p:cNvPr>
          <p:cNvSpPr>
            <a:spLocks noGrp="1"/>
          </p:cNvSpPr>
          <p:nvPr/>
        </p:nvSpPr>
        <p:spPr>
          <a:xfrm>
            <a:off x="612648" y="5120640"/>
            <a:ext cx="10972800" cy="603504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3E4E33-FB0B-40FD-940A-7B551B55A046}"/>
              </a:ext>
            </a:extLst>
          </p:cNvPr>
          <p:cNvSpPr>
            <a:spLocks noGrp="1"/>
          </p:cNvSpPr>
          <p:nvPr/>
        </p:nvSpPr>
        <p:spPr>
          <a:xfrm>
            <a:off x="896112" y="5248656"/>
            <a:ext cx="10405872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55451"/>
                </a:solidFill>
              </a:defRPr>
            </a:pPr>
            <a:r>
              <a:rPr sz="2100" b="1">
                <a:solidFill>
                  <a:srgbClr val="155451"/>
                </a:solidFill>
              </a:rPr>
              <a:t>AI creates evidence or a draft. A person controls release.</a:t>
            </a:r>
          </a:p>
        </p:txBody>
      </p:sp>
    </p:spTree>
    <p:extLst>
      <p:ext uri="{BB962C8B-B14F-4D97-AF65-F5344CB8AC3E}">
        <p14:creationId xmlns:p14="http://schemas.microsoft.com/office/powerpoint/2010/main" val="24418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áfico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B325C88E-6A7F-4B80-900C-3AF16A2E0AB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143250" cy="2468880"/>
          </a:xfrm>
          <a:prstGeom prst="roundRect">
            <a:avLst>
              <a:gd name="adj" fmla="val 6061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528569-99DF-4274-9539-B24979510203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LOW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441347-3B0C-4064-88F0-5BAC9C3B811D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EUR 600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E370E-E4A7-468A-8AAA-0C3539C0A7E7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2686050" cy="2468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annual subscription / centre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F4A66D-BDC5-4B49-9D94-794B9ADA05D6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809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Centres Y1/Y2/Y3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Validation upfront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12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36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Break-even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9648E1-EDB6-4636-B0C4-280276C6B853}"/>
              </a:ext>
            </a:extLst>
          </p:cNvPr>
          <p:cNvSpPr>
            <a:spLocks noGrp="1"/>
          </p:cNvSpPr>
          <p:nvPr/>
        </p:nvSpPr>
        <p:spPr>
          <a:xfrm>
            <a:off x="2628900" y="3143250"/>
            <a:ext cx="9715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3 / 5 / 8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EUR 5.5k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-84.3%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-60.9%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&gt; 36 mo.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EE46AFA-E2DE-45CA-BC48-FE1EAA107B27}"/>
              </a:ext>
            </a:extLst>
          </p:cNvPr>
          <p:cNvSpPr>
            <a:spLocks noGrp="1"/>
          </p:cNvSpPr>
          <p:nvPr/>
        </p:nvSpPr>
        <p:spPr>
          <a:xfrm>
            <a:off x="4095750" y="1619250"/>
            <a:ext cx="3143250" cy="2468880"/>
          </a:xfrm>
          <a:prstGeom prst="roundRect">
            <a:avLst>
              <a:gd name="adj" fmla="val 6061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11A3F8D-319D-4799-AA0B-EC548571DAC8}"/>
              </a:ext>
            </a:extLst>
          </p:cNvPr>
          <p:cNvSpPr>
            <a:spLocks noGrp="1"/>
          </p:cNvSpPr>
          <p:nvPr/>
        </p:nvSpPr>
        <p:spPr>
          <a:xfrm>
            <a:off x="4324350" y="1828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BASE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1662A34-6364-48C6-81C4-D2D828246180}"/>
              </a:ext>
            </a:extLst>
          </p:cNvPr>
          <p:cNvSpPr>
            <a:spLocks noGrp="1"/>
          </p:cNvSpPr>
          <p:nvPr/>
        </p:nvSpPr>
        <p:spPr>
          <a:xfrm>
            <a:off x="4324350" y="22479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EUR 1,200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A7A29E-A1A0-4599-9C3C-3AF415EEFCA0}"/>
              </a:ext>
            </a:extLst>
          </p:cNvPr>
          <p:cNvSpPr>
            <a:spLocks noGrp="1"/>
          </p:cNvSpPr>
          <p:nvPr/>
        </p:nvSpPr>
        <p:spPr>
          <a:xfrm>
            <a:off x="4324350" y="2667000"/>
            <a:ext cx="2686050" cy="2468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annual subscription / centre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5216E2-6543-49EE-B5D4-437648CCD4E4}"/>
              </a:ext>
            </a:extLst>
          </p:cNvPr>
          <p:cNvSpPr>
            <a:spLocks noGrp="1"/>
          </p:cNvSpPr>
          <p:nvPr/>
        </p:nvSpPr>
        <p:spPr>
          <a:xfrm>
            <a:off x="4324350" y="3143250"/>
            <a:ext cx="1809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Centres Y1/Y2/Y3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Validation upfront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12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36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Break-even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9D9AF81-3DF1-4AAC-B542-B33F8E62B30A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9715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6 / 15 / 30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EUR 11.4k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-66.7%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22.3%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29.3 mo.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559DD09-66D5-4844-AFFF-34BEF45CD63A}"/>
              </a:ext>
            </a:extLst>
          </p:cNvPr>
          <p:cNvSpPr>
            <a:spLocks noGrp="1"/>
          </p:cNvSpPr>
          <p:nvPr/>
        </p:nvSpPr>
        <p:spPr>
          <a:xfrm>
            <a:off x="7505700" y="1619250"/>
            <a:ext cx="3143250" cy="2468880"/>
          </a:xfrm>
          <a:prstGeom prst="roundRect">
            <a:avLst>
              <a:gd name="adj" fmla="val 6061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3547157-7242-4251-AD06-D85A2E77B05E}"/>
              </a:ext>
            </a:extLst>
          </p:cNvPr>
          <p:cNvSpPr>
            <a:spLocks noGrp="1"/>
          </p:cNvSpPr>
          <p:nvPr/>
        </p:nvSpPr>
        <p:spPr>
          <a:xfrm>
            <a:off x="7734300" y="1828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97855"/>
                </a:solidFill>
              </a:defRPr>
            </a:pPr>
            <a:r>
              <a:rPr sz="1350" b="1">
                <a:solidFill>
                  <a:srgbClr val="C97855"/>
                </a:solidFill>
              </a:rPr>
              <a:t>HIGH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60C916A-2CC1-4925-9C2A-9DA3DBD1F5B8}"/>
              </a:ext>
            </a:extLst>
          </p:cNvPr>
          <p:cNvSpPr>
            <a:spLocks noGrp="1"/>
          </p:cNvSpPr>
          <p:nvPr/>
        </p:nvSpPr>
        <p:spPr>
          <a:xfrm>
            <a:off x="7734300" y="22479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EUR 1,800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82F9BB-ABFE-4DE3-B445-6F023B859C09}"/>
              </a:ext>
            </a:extLst>
          </p:cNvPr>
          <p:cNvSpPr>
            <a:spLocks noGrp="1"/>
          </p:cNvSpPr>
          <p:nvPr/>
        </p:nvSpPr>
        <p:spPr>
          <a:xfrm>
            <a:off x="7734300" y="266700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annual subscription / centre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BB2F77-8562-49B1-974B-19301990C146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809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Centres Y1/Y2/Y3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Validation upfront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12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ROI at 36 months</a:t>
            </a:r>
          </a:p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Break-even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2520B81-287B-4F63-8D26-2FF6AEBEDFE4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9715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10 / 30 / 60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EUR 17.3k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-44.3%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116.1%</a:t>
            </a:r>
          </a:p>
          <a:p>
            <a:pPr algn="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17.2 mo.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8D0A1938-BDE1-447F-9132-7B99AA6B43E6}"/>
              </a:ext>
            </a:extLst>
          </p:cNvPr>
          <p:cNvSpPr>
            <a:spLocks noGrp="1"/>
          </p:cNvSpPr>
          <p:nvPr/>
        </p:nvSpPr>
        <p:spPr>
          <a:xfrm>
            <a:off x="612648" y="5596128"/>
            <a:ext cx="10972800" cy="548640"/>
          </a:xfrm>
          <a:prstGeom prst="roundRect">
            <a:avLst>
              <a:gd name="adj" fmla="val 29630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3D58226-153D-4657-B211-68CA4D8A1D1E}"/>
              </a:ext>
            </a:extLst>
          </p:cNvPr>
          <p:cNvSpPr>
            <a:spLocks noGrp="1"/>
          </p:cNvSpPr>
          <p:nvPr/>
        </p:nvSpPr>
        <p:spPr>
          <a:xfrm>
            <a:off x="896112" y="5715000"/>
            <a:ext cx="10405872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Add-on revenue = EUR 0 • production build, churn and measured CAC are excluded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60B8CA20-6FD7-43BD-A1F9-BFAB689A6EE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533C55C-55C2-41C0-8728-84B24982F0C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presentation/roi_slide_inputs.md; roi_risk_assessment.md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81C864C-9147-43F8-B654-EA33E84AFBF4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795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áfico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9BAB12C-0245-4242-B8B8-F3ABB5B55ABF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Risk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9A244B-C1B4-4A14-A271-B03B5B83E4C2}"/>
              </a:ext>
            </a:extLst>
          </p:cNvPr>
          <p:cNvSpPr>
            <a:spLocks noGrp="1"/>
          </p:cNvSpPr>
          <p:nvPr/>
        </p:nvSpPr>
        <p:spPr>
          <a:xfrm>
            <a:off x="4514850" y="1562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Score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6B3D88-F2CF-4A12-A553-97A1A08BBBFC}"/>
              </a:ext>
            </a:extLst>
          </p:cNvPr>
          <p:cNvSpPr>
            <a:spLocks noGrp="1"/>
          </p:cNvSpPr>
          <p:nvPr/>
        </p:nvSpPr>
        <p:spPr>
          <a:xfrm>
            <a:off x="6000750" y="1562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Gate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0F157B-B325-4CD5-AA1F-D4926865C35E}"/>
              </a:ext>
            </a:extLst>
          </p:cNvPr>
          <p:cNvSpPr>
            <a:spLocks noGrp="1"/>
          </p:cNvSpPr>
          <p:nvPr/>
        </p:nvSpPr>
        <p:spPr>
          <a:xfrm>
            <a:off x="7715250" y="1562100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Action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E55A78-20DB-4839-A3D1-48A5CC12F84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514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6D84B80-6E1E-4928-8671-395EB5132F1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Sign fidelity + content quality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282B6955-DA37-4CCB-BFB4-5149A91D597C}"/>
              </a:ext>
            </a:extLst>
          </p:cNvPr>
          <p:cNvSpPr>
            <a:spLocks noGrp="1"/>
          </p:cNvSpPr>
          <p:nvPr/>
        </p:nvSpPr>
        <p:spPr>
          <a:xfrm>
            <a:off x="4514850" y="19621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4 x 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BBCBDAA-060C-4191-BD0D-48F82F58A6B6}"/>
              </a:ext>
            </a:extLst>
          </p:cNvPr>
          <p:cNvSpPr>
            <a:spLocks noGrp="1"/>
          </p:cNvSpPr>
          <p:nvPr/>
        </p:nvSpPr>
        <p:spPr>
          <a:xfrm>
            <a:off x="6000750" y="19431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Before pilot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371F0E-2848-4196-A68C-9CB61C882E40}"/>
              </a:ext>
            </a:extLst>
          </p:cNvPr>
          <p:cNvSpPr>
            <a:spLocks noGrp="1"/>
          </p:cNvSpPr>
          <p:nvPr/>
        </p:nvSpPr>
        <p:spPr>
          <a:xfrm>
            <a:off x="7715250" y="19431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3–5 cleared signs + qualified review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39C4B5-254E-4EDF-B727-64AD39FC8579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Willingness to pay + adoption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67F5DB48-F62D-4562-AA2D-C6CFB3EFC4CF}"/>
              </a:ext>
            </a:extLst>
          </p:cNvPr>
          <p:cNvSpPr>
            <a:spLocks noGrp="1"/>
          </p:cNvSpPr>
          <p:nvPr/>
        </p:nvSpPr>
        <p:spPr>
          <a:xfrm>
            <a:off x="4514850" y="25146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7855"/>
                </a:solidFill>
              </a:defRPr>
            </a:pPr>
            <a:r>
              <a:rPr sz="1050" b="1">
                <a:solidFill>
                  <a:srgbClr val="C97855"/>
                </a:solidFill>
              </a:rPr>
              <a:t>4 x 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D4FE348-DFFB-412D-9689-3AB259121D75}"/>
              </a:ext>
            </a:extLst>
          </p:cNvPr>
          <p:cNvSpPr>
            <a:spLocks noGrp="1"/>
          </p:cNvSpPr>
          <p:nvPr/>
        </p:nvSpPr>
        <p:spPr>
          <a:xfrm>
            <a:off x="6000750" y="24955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During pilot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F5BDD5-DB6C-413A-83A8-2BEDF62F4811}"/>
              </a:ext>
            </a:extLst>
          </p:cNvPr>
          <p:cNvSpPr>
            <a:spLocks noGrp="1"/>
          </p:cNvSpPr>
          <p:nvPr/>
        </p:nvSpPr>
        <p:spPr>
          <a:xfrm>
            <a:off x="7715250" y="24955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Price-specific paid-continuation intent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78A2A29-AB23-4B42-992F-4CC484F79F02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10972800" cy="514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A1AAAE2-3DE5-4DF1-8D64-DC20229C587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Source + presentation rights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ACEC137F-9B1C-4E3F-A12E-FDA51363170A}"/>
              </a:ext>
            </a:extLst>
          </p:cNvPr>
          <p:cNvSpPr>
            <a:spLocks noGrp="1"/>
          </p:cNvSpPr>
          <p:nvPr/>
        </p:nvSpPr>
        <p:spPr>
          <a:xfrm>
            <a:off x="4514850" y="30670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3 x 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164E0EA-BC60-4E57-AF0E-3E821A2051EE}"/>
              </a:ext>
            </a:extLst>
          </p:cNvPr>
          <p:cNvSpPr>
            <a:spLocks noGrp="1"/>
          </p:cNvSpPr>
          <p:nvPr/>
        </p:nvSpPr>
        <p:spPr>
          <a:xfrm>
            <a:off x="6000750" y="30480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Before pilot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11E4D1-2BE6-4F6E-BD60-747EED9A4B9E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100% permission + provenance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0AB7F6E-28D3-4E98-97BC-287AE256D90F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Privacy scope creep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4A5EE25F-D418-4443-934B-5C7B95303AE3}"/>
              </a:ext>
            </a:extLst>
          </p:cNvPr>
          <p:cNvSpPr>
            <a:spLocks noGrp="1"/>
          </p:cNvSpPr>
          <p:nvPr/>
        </p:nvSpPr>
        <p:spPr>
          <a:xfrm>
            <a:off x="4514850" y="36195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3 x 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B0A8032-1677-422A-AC85-697030B1D314}"/>
              </a:ext>
            </a:extLst>
          </p:cNvPr>
          <p:cNvSpPr>
            <a:spLocks noGrp="1"/>
          </p:cNvSpPr>
          <p:nvPr/>
        </p:nvSpPr>
        <p:spPr>
          <a:xfrm>
            <a:off x="6000750" y="36004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Before pilot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A976A1C-79D3-47FF-A83A-BDA0EA08AB02}"/>
              </a:ext>
            </a:extLst>
          </p:cNvPr>
          <p:cNvSpPr>
            <a:spLocks noGrp="1"/>
          </p:cNvSpPr>
          <p:nvPr/>
        </p:nvSpPr>
        <p:spPr>
          <a:xfrm>
            <a:off x="7715250" y="36004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Group-first data + DPIA + security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DEE9C39-ACE9-4BE5-9336-5E4F1E8244F9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514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EB6792C-B44C-4B28-891B-EC3AF65E1ED1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Reviewer cost + throughput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DCD4B6AC-8853-4254-A6BD-CF2A78E2BEE8}"/>
              </a:ext>
            </a:extLst>
          </p:cNvPr>
          <p:cNvSpPr>
            <a:spLocks noGrp="1"/>
          </p:cNvSpPr>
          <p:nvPr/>
        </p:nvSpPr>
        <p:spPr>
          <a:xfrm>
            <a:off x="4514850" y="41719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3 x 4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F7236AC-1336-415E-BA6C-44312EBEC0F0}"/>
              </a:ext>
            </a:extLst>
          </p:cNvPr>
          <p:cNvSpPr>
            <a:spLocks noGrp="1"/>
          </p:cNvSpPr>
          <p:nvPr/>
        </p:nvSpPr>
        <p:spPr>
          <a:xfrm>
            <a:off x="6000750" y="4152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During pilot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3D85040-1588-4EB3-AE46-5F12503BEB52}"/>
              </a:ext>
            </a:extLst>
          </p:cNvPr>
          <p:cNvSpPr>
            <a:spLocks noGrp="1"/>
          </p:cNvSpPr>
          <p:nvPr/>
        </p:nvSpPr>
        <p:spPr>
          <a:xfrm>
            <a:off x="7715250" y="41529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Time review, exceptions and rework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3AF3AA3-59DE-4DAB-BBA2-717E673413BA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Runtime reliability</a:t>
            </a: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6D235DB8-4D4B-4AF9-A1A5-DE2088884687}"/>
              </a:ext>
            </a:extLst>
          </p:cNvPr>
          <p:cNvSpPr>
            <a:spLocks noGrp="1"/>
          </p:cNvSpPr>
          <p:nvPr/>
        </p:nvSpPr>
        <p:spPr>
          <a:xfrm>
            <a:off x="4514850" y="47244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3 x 4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FC6237B-3A13-438D-8760-C519F8D05517}"/>
              </a:ext>
            </a:extLst>
          </p:cNvPr>
          <p:cNvSpPr>
            <a:spLocks noGrp="1"/>
          </p:cNvSpPr>
          <p:nvPr/>
        </p:nvSpPr>
        <p:spPr>
          <a:xfrm>
            <a:off x="6000750" y="4705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Before pilot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391CD73-7799-4BE7-B12D-DA048B8E0F6D}"/>
              </a:ext>
            </a:extLst>
          </p:cNvPr>
          <p:cNvSpPr>
            <a:spLocks noGrp="1"/>
          </p:cNvSpPr>
          <p:nvPr/>
        </p:nvSpPr>
        <p:spPr>
          <a:xfrm>
            <a:off x="7715250" y="47053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Frozen version + manual fallback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18D3742-5838-420B-9169-5E5F7914AD0D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514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3595AE6-D96B-4C4C-9921-0F059ECD3C3D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Educator workflow fit</a:t>
            </a: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B0ADCF8A-607F-46EC-804C-5E4066291A5A}"/>
              </a:ext>
            </a:extLst>
          </p:cNvPr>
          <p:cNvSpPr>
            <a:spLocks noGrp="1"/>
          </p:cNvSpPr>
          <p:nvPr/>
        </p:nvSpPr>
        <p:spPr>
          <a:xfrm>
            <a:off x="4514850" y="52768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3 x 4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490302C-A7DF-4D9E-92E5-85B711F4DF97}"/>
              </a:ext>
            </a:extLst>
          </p:cNvPr>
          <p:cNvSpPr>
            <a:spLocks noGrp="1"/>
          </p:cNvSpPr>
          <p:nvPr/>
        </p:nvSpPr>
        <p:spPr>
          <a:xfrm>
            <a:off x="6000750" y="52578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55451"/>
                </a:solidFill>
              </a:defRPr>
            </a:pPr>
            <a:r>
              <a:rPr sz="1275" b="1">
                <a:solidFill>
                  <a:srgbClr val="155451"/>
                </a:solidFill>
              </a:rPr>
              <a:t>During pilot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94112EE-08A2-4B03-8ADD-9AEE114AADB0}"/>
              </a:ext>
            </a:extLst>
          </p:cNvPr>
          <p:cNvSpPr>
            <a:spLocks noGrp="1"/>
          </p:cNvSpPr>
          <p:nvPr/>
        </p:nvSpPr>
        <p:spPr>
          <a:xfrm>
            <a:off x="7715250" y="52578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2 min / 80% / repeat-use targets</a:t>
            </a: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F1C187D5-9B6C-46AE-B69D-B8F285E254A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5DEA6D9-CFA9-4043-8E44-20C3884EC36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roi_risk_assessment.md; docs/facts_risk.md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6B031E8-329F-4604-AE59-6A5AD9FC087A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9757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1E3AC91B-89E4-4149-B18B-1B6127420F55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238500" cy="3333750"/>
          </a:xfrm>
          <a:prstGeom prst="roundRect">
            <a:avLst>
              <a:gd name="adj" fmla="val 5882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CFB03B-5CB2-44CB-84B4-27AEDB8A102B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C018E6-D08D-46E8-8512-5519E64E8B04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Current local MVP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52CDD4-6C2E-4667-B16D-2CB307CBB55A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2781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Adult reference processed locally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Synthetic school/family records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 child assessment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 production delivery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CFD4665-B771-41EF-B707-F4BB4198096F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238500" cy="3333750"/>
          </a:xfrm>
          <a:prstGeom prst="roundRect">
            <a:avLst>
              <a:gd name="adj" fmla="val 5882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2AC074-BB59-4C59-BB46-3E1C4ED41EA4}"/>
              </a:ext>
            </a:extLst>
          </p:cNvPr>
          <p:cNvSpPr>
            <a:spLocks noGrp="1"/>
          </p:cNvSpPr>
          <p:nvPr/>
        </p:nvSpPr>
        <p:spPr>
          <a:xfrm>
            <a:off x="4591050" y="19621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1C5071-1593-43AE-A20A-9DBA4FA652A5}"/>
              </a:ext>
            </a:extLst>
          </p:cNvPr>
          <p:cNvSpPr>
            <a:spLocks noGrp="1"/>
          </p:cNvSpPr>
          <p:nvPr/>
        </p:nvSpPr>
        <p:spPr>
          <a:xfrm>
            <a:off x="4591050" y="23622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Before controlled pilot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69573E7-9A45-4BD0-A092-BB0456233380}"/>
              </a:ext>
            </a:extLst>
          </p:cNvPr>
          <p:cNvSpPr>
            <a:spLocks noGrp="1"/>
          </p:cNvSpPr>
          <p:nvPr/>
        </p:nvSpPr>
        <p:spPr>
          <a:xfrm>
            <a:off x="4591050" y="3219450"/>
            <a:ext cx="2781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Confirm roles and lawful basis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Complete DPIA and notices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Set retention, rights and deletion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Add authentication, security and DPA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11EF1C3E-0C28-4F51-B5F7-F3D401883D12}"/>
              </a:ext>
            </a:extLst>
          </p:cNvPr>
          <p:cNvSpPr>
            <a:spLocks noGrp="1"/>
          </p:cNvSpPr>
          <p:nvPr/>
        </p:nvSpPr>
        <p:spPr>
          <a:xfrm>
            <a:off x="8039100" y="1733550"/>
            <a:ext cx="3238500" cy="3333750"/>
          </a:xfrm>
          <a:prstGeom prst="roundRect">
            <a:avLst>
              <a:gd name="adj" fmla="val 5882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1EEE0E-57F1-44BD-B178-FA87E86B28EC}"/>
              </a:ext>
            </a:extLst>
          </p:cNvPr>
          <p:cNvSpPr>
            <a:spLocks noGrp="1"/>
          </p:cNvSpPr>
          <p:nvPr/>
        </p:nvSpPr>
        <p:spPr>
          <a:xfrm>
            <a:off x="8267700" y="19621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7855"/>
                </a:solidFill>
              </a:defRPr>
            </a:pPr>
            <a:r>
              <a:rPr sz="1200" b="1">
                <a:solidFill>
                  <a:srgbClr val="C97855"/>
                </a:solidFill>
              </a:rPr>
              <a:t>03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439B57D-F771-40AC-A033-F506158C1270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Before production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0CA4F59-E336-4204-A856-59FFF9DDD6CB}"/>
              </a:ext>
            </a:extLst>
          </p:cNvPr>
          <p:cNvSpPr>
            <a:spLocks noGrp="1"/>
          </p:cNvSpPr>
          <p:nvPr/>
        </p:nvSpPr>
        <p:spPr>
          <a:xfrm>
            <a:off x="8267700" y="3219450"/>
            <a:ext cx="2781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Scalable security and monitoring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Vendor and transfer governance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Incident exercises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Change-triggered legal reassessment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1853052-2342-42A3-A3E0-B4D36C407BAC}"/>
              </a:ext>
            </a:extLst>
          </p:cNvPr>
          <p:cNvSpPr>
            <a:spLocks noGrp="1"/>
          </p:cNvSpPr>
          <p:nvPr/>
        </p:nvSpPr>
        <p:spPr>
          <a:xfrm>
            <a:off x="612648" y="557784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97855"/>
                </a:solidFill>
              </a:defRPr>
            </a:pPr>
            <a:r>
              <a:rPr sz="1650" b="1">
                <a:solidFill>
                  <a:srgbClr val="C97855"/>
                </a:solidFill>
              </a:rPr>
              <a:t>A future child-assessment or decision-making feature triggers a new AI Act and GDPR assessment.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0382EA84-5065-486E-99E7-C9A2DBD4D25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23F7525-5EF9-4925-8131-7CE68E6B3E5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compliance/eu_ai_act_compliance.md; compliance/gdpr_documentation.md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0473E6-AC56-4384-904A-61B455D48C9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772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364F10F6-D987-4432-848D-B75F366D5D61}"/>
              </a:ext>
            </a:extLst>
          </p:cNvPr>
          <p:cNvSpPr>
            <a:spLocks noGrp="1"/>
          </p:cNvSpPr>
          <p:nvPr/>
        </p:nvSpPr>
        <p:spPr>
          <a:xfrm>
            <a:off x="676275" y="1428749"/>
            <a:ext cx="6274858" cy="4968953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3667" y="1616931"/>
            <a:ext cx="5977466" cy="4780776"/>
          </a:xfrm>
          <a:prstGeom prst="roundRect">
            <a:avLst>
              <a:gd name="adj" fmla="val 3415"/>
            </a:avLst>
          </a:prstGeom>
        </p:spPr>
      </p:pic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5B39CAD-891D-4428-9E68-E3EC3ACE1C96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55451"/>
                </a:solidFill>
              </a:defRPr>
            </a:pPr>
            <a:r>
              <a:rPr sz="1050" b="1">
                <a:solidFill>
                  <a:srgbClr val="155451"/>
                </a:solidFill>
              </a:rPr>
              <a:t>ROUND 1  |  KEEP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E573E2-30A8-4AF9-AD8B-318043FC0574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55451"/>
                </a:solidFill>
              </a:defRPr>
            </a:pPr>
            <a:r>
              <a:rPr sz="1800" b="1">
                <a:solidFill>
                  <a:srgbClr val="155451"/>
                </a:solidFill>
              </a:rPr>
              <a:t>Validated enough to continue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BD7DA0-498A-4E0D-9B16-2AE2A826D55A}"/>
              </a:ext>
            </a:extLst>
          </p:cNvPr>
          <p:cNvSpPr>
            <a:spLocks noGrp="1"/>
          </p:cNvSpPr>
          <p:nvPr/>
        </p:nvSpPr>
        <p:spPr>
          <a:xfrm>
            <a:off x="7848600" y="2724150"/>
            <a:ext cx="342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Market framing</a:t>
            </a: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School-led model</a:t>
            </a: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Three use cases compared</a:t>
            </a: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Kinder Signs selected</a:t>
            </a: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Static product concept</a:t>
            </a: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Initial CV feasibility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685FE79-7F4D-4084-9499-1BEE7F60FEF0}"/>
              </a:ext>
            </a:extLst>
          </p:cNvPr>
          <p:cNvSpPr>
            <a:spLocks noGrp="1"/>
          </p:cNvSpPr>
          <p:nvPr/>
        </p:nvSpPr>
        <p:spPr>
          <a:xfrm>
            <a:off x="7848600" y="481965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A6F55"/>
                </a:solidFill>
              </a:defRPr>
            </a:pPr>
            <a:r>
              <a:rPr sz="1050" b="1">
                <a:solidFill>
                  <a:srgbClr val="8A6F55"/>
                </a:solidFill>
              </a:rPr>
              <a:t>ROUND 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9865ED-2AB2-4462-B565-12D6E7897448}"/>
              </a:ext>
            </a:extLst>
          </p:cNvPr>
          <p:cNvSpPr>
            <a:spLocks noGrp="1"/>
          </p:cNvSpPr>
          <p:nvPr/>
        </p:nvSpPr>
        <p:spPr>
          <a:xfrm>
            <a:off x="7848600" y="5257800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Dynamic local CV + connected MVP + pilot decision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2963F390-14E4-4120-AC53-ECAF40B61CE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429A30-CF32-44F2-BF11-071490B7E01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dashboard/tableau/; feedback/round1_decision.md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EFF8AB-218A-4325-8CB5-240604D0ECE2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3219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28600"/>
            <a:ext cx="10972800" cy="1123950"/>
          </a:xfrm>
          <a:prstGeom prst="rect">
            <a:avLst/>
          </a:prstGeom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1A646BA4-ACB1-499B-B057-2B52C20D5D88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981200" cy="3105150"/>
          </a:xfrm>
          <a:prstGeom prst="roundRect">
            <a:avLst>
              <a:gd name="adj" fmla="val 8654"/>
            </a:avLst>
          </a:prstGeom>
          <a:solidFill>
            <a:srgbClr val="E5F0EC"/>
          </a:solidFill>
          <a:ln w="9525">
            <a:solidFill>
              <a:srgbClr val="E5F0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8683EB-6400-4751-BEAB-B254E0025F8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CURRENT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257AC0-ED3F-45B1-9851-A1C2AA7A0385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1638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Local MP4 processing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MediaPipe evidence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Deterministic print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Local school/family prototype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04236614-7DF1-4040-A25F-A61D2FFB126E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1981200" cy="3105150"/>
          </a:xfrm>
          <a:prstGeom prst="roundRect">
            <a:avLst>
              <a:gd name="adj" fmla="val 8654"/>
            </a:avLst>
          </a:prstGeom>
          <a:solidFill>
            <a:srgbClr val="F4EBDD"/>
          </a:solidFill>
          <a:ln w="9525">
            <a:solidFill>
              <a:srgbClr val="F4EB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A01342-BA1A-4D71-8025-4EE96259D56E}"/>
              </a:ext>
            </a:extLst>
          </p:cNvPr>
          <p:cNvSpPr>
            <a:spLocks noGrp="1"/>
          </p:cNvSpPr>
          <p:nvPr/>
        </p:nvSpPr>
        <p:spPr>
          <a:xfrm>
            <a:off x="3009900" y="21145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DRY-RUN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F3C83D-3729-4B57-B115-BE69CF0F9DCD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1638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LangSmith evaluation plan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Optional LLM wording path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 live trace evidenced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61724637-D849-4CA4-943F-DB66212ABA5B}"/>
              </a:ext>
            </a:extLst>
          </p:cNvPr>
          <p:cNvSpPr>
            <a:spLocks noGrp="1"/>
          </p:cNvSpPr>
          <p:nvPr/>
        </p:nvSpPr>
        <p:spPr>
          <a:xfrm>
            <a:off x="5105400" y="1866900"/>
            <a:ext cx="1981200" cy="3105150"/>
          </a:xfrm>
          <a:prstGeom prst="roundRect">
            <a:avLst>
              <a:gd name="adj" fmla="val 8654"/>
            </a:avLst>
          </a:prstGeom>
          <a:solidFill>
            <a:srgbClr val="F7E8E0"/>
          </a:solidFill>
          <a:ln w="9525">
            <a:solidFill>
              <a:srgbClr val="F7E8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9FE988-457D-42E3-993B-B0E3040AC133}"/>
              </a:ext>
            </a:extLst>
          </p:cNvPr>
          <p:cNvSpPr>
            <a:spLocks noGrp="1"/>
          </p:cNvSpPr>
          <p:nvPr/>
        </p:nvSpPr>
        <p:spPr>
          <a:xfrm>
            <a:off x="5257800" y="21145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97855"/>
                </a:solidFill>
              </a:defRPr>
            </a:pPr>
            <a:r>
              <a:rPr sz="1350" b="1">
                <a:solidFill>
                  <a:srgbClr val="C97855"/>
                </a:solidFill>
              </a:rPr>
              <a:t>DEMO-ONLY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EEBDB7-DF1F-44D3-A7E7-DD3DA149186C}"/>
              </a:ext>
            </a:extLst>
          </p:cNvPr>
          <p:cNvSpPr>
            <a:spLocks noGrp="1"/>
          </p:cNvSpPr>
          <p:nvPr/>
        </p:nvSpPr>
        <p:spPr>
          <a:xfrm>
            <a:off x="5276850" y="2781300"/>
            <a:ext cx="1638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Separate Gemini FX previews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Not driven by landmarks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Rights confirmation needed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62F2A0FF-BC88-4865-99D3-4B1DBBE76D54}"/>
              </a:ext>
            </a:extLst>
          </p:cNvPr>
          <p:cNvSpPr>
            <a:spLocks noGrp="1"/>
          </p:cNvSpPr>
          <p:nvPr/>
        </p:nvSpPr>
        <p:spPr>
          <a:xfrm>
            <a:off x="7353300" y="1866900"/>
            <a:ext cx="1981200" cy="3105150"/>
          </a:xfrm>
          <a:prstGeom prst="roundRect">
            <a:avLst>
              <a:gd name="adj" fmla="val 8654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09B093-DEDD-4A3A-8C14-AFF6A28BF0C9}"/>
              </a:ext>
            </a:extLst>
          </p:cNvPr>
          <p:cNvSpPr>
            <a:spLocks noGrp="1"/>
          </p:cNvSpPr>
          <p:nvPr/>
        </p:nvSpPr>
        <p:spPr>
          <a:xfrm>
            <a:off x="7505700" y="21145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PILOT HYPOTHESIS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B6C2DA3-96F0-4056-8674-A0BD16220827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638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Price and willingness to pay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Adoption and repeat use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Content reuse economics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ADC0D577-6AFE-41C8-A4BB-D81D360A7D9A}"/>
              </a:ext>
            </a:extLst>
          </p:cNvPr>
          <p:cNvSpPr>
            <a:spLocks noGrp="1"/>
          </p:cNvSpPr>
          <p:nvPr/>
        </p:nvSpPr>
        <p:spPr>
          <a:xfrm>
            <a:off x="9601200" y="1866900"/>
            <a:ext cx="1981200" cy="3105150"/>
          </a:xfrm>
          <a:prstGeom prst="roundRect">
            <a:avLst>
              <a:gd name="adj" fmla="val 8654"/>
            </a:avLst>
          </a:prstGeom>
          <a:solidFill>
            <a:srgbClr val="E9E4F1"/>
          </a:solidFill>
          <a:ln w="9525">
            <a:solidFill>
              <a:srgbClr val="E9E4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E9B6CFD-4ADE-4A21-B5AF-A8C0CCBA20D5}"/>
              </a:ext>
            </a:extLst>
          </p:cNvPr>
          <p:cNvSpPr>
            <a:spLocks noGrp="1"/>
          </p:cNvSpPr>
          <p:nvPr/>
        </p:nvSpPr>
        <p:spPr>
          <a:xfrm>
            <a:off x="9753600" y="21145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55451"/>
                </a:solidFill>
              </a:defRPr>
            </a:pPr>
            <a:r>
              <a:rPr sz="1350" b="1">
                <a:solidFill>
                  <a:srgbClr val="155451"/>
                </a:solidFill>
              </a:rPr>
              <a:t>FUTURE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20AF2-A2D7-429C-B241-0953819F4745}"/>
              </a:ext>
            </a:extLst>
          </p:cNvPr>
          <p:cNvSpPr>
            <a:spLocks noGrp="1"/>
          </p:cNvSpPr>
          <p:nvPr/>
        </p:nvSpPr>
        <p:spPr>
          <a:xfrm>
            <a:off x="9772650" y="2781300"/>
            <a:ext cx="1638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Production avatar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Persistent family delivery</a:t>
            </a: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Billing and integrations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2A695CB5-D5A3-450E-85D7-01C4B1780C36}"/>
              </a:ext>
            </a:extLst>
          </p:cNvPr>
          <p:cNvSpPr>
            <a:spLocks noGrp="1"/>
          </p:cNvSpPr>
          <p:nvPr/>
        </p:nvSpPr>
        <p:spPr>
          <a:xfrm>
            <a:off x="612648" y="5486400"/>
            <a:ext cx="10972800" cy="603504"/>
          </a:xfrm>
          <a:prstGeom prst="roundRect">
            <a:avLst>
              <a:gd name="adj" fmla="val 29032"/>
            </a:avLst>
          </a:prstGeom>
          <a:solidFill>
            <a:srgbClr val="155451"/>
          </a:solidFill>
          <a:ln w="9525">
            <a:solidFill>
              <a:srgbClr val="1554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52B088-25CE-4AF2-84F0-B369A86D0263}"/>
              </a:ext>
            </a:extLst>
          </p:cNvPr>
          <p:cNvSpPr>
            <a:spLocks noGrp="1"/>
          </p:cNvSpPr>
          <p:nvPr/>
        </p:nvSpPr>
        <p:spPr>
          <a:xfrm>
            <a:off x="896112" y="5614416"/>
            <a:ext cx="10405872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 maturity travels with the claim. It is never hidden in a footnote.</a:t>
            </a: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50A6DEA6-D0DC-4418-8666-B2ADCF831F4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8D7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239195-B020-4063-8911-4640D12CC27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Sources: README.md; docs/round2_evidence_map.md; docs/mvp_reality_check.md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7A0FBE5-AD8D-4D5C-9837-92C3CFAE0DC2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776177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Georgia"/>
        <a:ea typeface="Georgia"/>
        <a:cs typeface="Georgia"/>
      </a:majorFont>
      <a:minorFont>
        <a:latin typeface="Segoe UI"/>
        <a:ea typeface="Segoe UI"/>
        <a:cs typeface="Segoe U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Georgia"/>
        <a:ea typeface="Georgia"/>
        <a:cs typeface="Georgia"/>
      </a:majorFont>
      <a:minorFont>
        <a:latin typeface="Segoe UI"/>
        <a:ea typeface="Segoe UI"/>
        <a:cs typeface="Segoe U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1974</Words>
  <Application>Microsoft Macintosh PowerPoint</Application>
  <DocSecurity>0</DocSecurity>
  <PresentationFormat>Panorámica</PresentationFormat>
  <Paragraphs>400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Segoe UI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Gretel Ceballos Bustamante</cp:lastModifiedBy>
  <cp:revision>4</cp:revision>
  <dcterms:created xsi:type="dcterms:W3CDTF">2026-09-04T10:30:35Z</dcterms:created>
  <dcterms:modified xsi:type="dcterms:W3CDTF">2026-09-04T16:25:20Z</dcterms:modified>
</cp:coreProperties>
</file>