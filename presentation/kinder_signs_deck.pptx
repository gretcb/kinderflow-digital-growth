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8" r:id="rId3"/>
    <p:sldId id="257" r:id="rId4"/>
    <p:sldId id="258" r:id="rId5"/>
    <p:sldId id="274" r:id="rId6"/>
    <p:sldId id="277" r:id="rId7"/>
    <p:sldId id="266" r:id="rId8"/>
    <p:sldId id="265" r:id="rId9"/>
    <p:sldId id="260" r:id="rId10"/>
    <p:sldId id="261" r:id="rId11"/>
    <p:sldId id="262" r:id="rId12"/>
    <p:sldId id="267" r:id="rId13"/>
    <p:sldId id="273" r:id="rId14"/>
    <p:sldId id="263" r:id="rId15"/>
    <p:sldId id="276" r:id="rId16"/>
    <p:sldId id="269" r:id="rId17"/>
    <p:sldId id="26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7855"/>
    <a:srgbClr val="1F6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20"/>
    <p:restoredTop sz="82047"/>
  </p:normalViewPr>
  <p:slideViewPr>
    <p:cSldViewPr snapToGrid="0" snapToObjects="1">
      <p:cViewPr varScale="1">
        <p:scale>
          <a:sx n="83" d="100"/>
          <a:sy n="83" d="100"/>
        </p:scale>
        <p:origin x="200"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689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endParaRPr lang="es-ES" dirty="0"/>
          </a:p>
        </p:txBody>
      </p:sp>
    </p:spTree>
    <p:extLst>
      <p:ext uri="{BB962C8B-B14F-4D97-AF65-F5344CB8AC3E}">
        <p14:creationId xmlns:p14="http://schemas.microsoft.com/office/powerpoint/2010/main" val="222204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33833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 compared three use cases. Kinder Daily has strong category evidence: schools already pay for communication tools, but the market is crowded. Kinder Food has strong school-home logic, but it faces professional governance and specialist competition. Kinder Signs is the one I want to talk about.</a:t>
            </a:r>
          </a:p>
          <a:p>
            <a:r>
              <a:rPr lang="en-US" dirty="0"/>
              <a:t>[CLICK 1 - the reasons for Kinder Signs appear] Two things make it the best place to start: it gives us clear differentiation, and it is a real feasibility test for our Computer Vision work. The honest risk is demand: willingness to pay is not proven yet.</a:t>
            </a:r>
          </a:p>
          <a:p>
            <a:r>
              <a:rPr lang="en-US" dirty="0"/>
              <a:t>[CLICK 2 - the closing line appears] So I am not claiming this is already a business. I am saying it is the strongest first validation step. Pause here and let the line land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Follow the journey at the top. The school teaches a sign that week, the family receives short guidance, and the same sign is used at home. That last step is the whole point.</a:t>
            </a:r>
          </a:p>
          <a:p>
            <a:r>
              <a:rPr lang="en-US" dirty="0"/>
              <a:t>[CLICK 1 - the right column appears] Kinder Signs should not compete as another Baby Sign dictionary. Spanish content already exists, so more content is not the opportunity. The hypothesis is school-home guidance, with more context and AI as support rather than as the authority.</a:t>
            </a:r>
          </a:p>
          <a:p>
            <a:r>
              <a:rPr lang="en-US" dirty="0"/>
              <a:t>[CLICK 2 - the closing line appears] The value is trusted continuity across real routines. We still need to test whether families and educators value it enough to use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generative video is not reliable enough for sign movement. It can change the fingers, the hand position or the timing. So, the POC uses Computer Vision to capture the movement first. The POC does not prove sign correctness. It tests whether motion can be captured as structured data. In testing, baby-based generative video created policy, privacy and reliability constraints. This is why the production path removes child video and starts from approved sign movement. Close on reuse: if validated, the same motion-first pipeline could later be explored in other structured communication contexts, always with specialist 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workflow is not something the school has to manage. It is an internal KinderFlow workflow to create and govern the content library: a sign from the school program goes in, Computer Vision summarizes the motion, the LLM drafts the family content, and a quality gate with human review releases the library item. LangSmith helps us check that the model stays grounded and avoids unsupported claims. It does not evaluate the video or sign correctness.</a:t>
            </a:r>
          </a:p>
          <a:p>
            <a:r>
              <a:rPr lang="en-US"/>
              <a:t>The school experience is much simpler. The educator teaches the sign in the classroom routine, and families receive the same guidance at home. This could be delivered through the existing school-family channel.</a:t>
            </a:r>
          </a:p>
          <a:p>
            <a:r>
              <a:rPr lang="en-US"/>
              <a:t>Bottom line: the school does not manage the AI workflow. It only selects and uses approved content, and professional validation is still required.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detail behind the previous slide. Computer Vision (MediaPipe landmarks plus missing-frame analysis) turns the movement into a structured summary. An n8n workflow sends that summary, with a structured prompt, to the LLM, which drafts the family-facing content.</a:t>
            </a:r>
          </a:p>
          <a:p>
            <a:r>
              <a:rPr lang="en-US"/>
              <a:t>Quality checks keep the output grounded in the fields we provide and block unsupported claims. LangSmith traces and evaluates that content step, so we can measure grounding over time. Nothing is released automatically: the draft stays pending until a human approves it.</a:t>
            </a:r>
          </a:p>
          <a:p>
            <a:r>
              <a:rPr lang="en-US"/>
              <a:t>The example input and output show exactly what the model receives and returns. Note requires_human_review: true, and note the limit - LangSmith evaluates the content step, not the video or the sign correctness.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launch budget. It is a validation budget. The largest cost is not software. The main cost is expert review, user research and content testing. The goal of these eight to nine weeks is to reduce uncertainty before building more.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DE35-B64A-B36F-0046-744247652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5C50F-774D-E565-BB7C-488D88961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EBFCE-E492-79B2-6B9D-2749290DCF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09F84A-3F74-70AD-0861-61265F3E2C7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83767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to continue validating Kinder Signs. The opportunity is credible, but not proven yet. The next step is to test a small number of signs with real families and educators.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NDER_MASTER">
    <p:bg>
      <p:bgPr>
        <a:solidFill>
          <a:srgbClr val="FAF7EF"/>
        </a:solidFill>
        <a:effectLst/>
      </p:bgPr>
    </p:bg>
    <p:spTree>
      <p:nvGrpSpPr>
        <p:cNvPr id="1" name=""/>
        <p:cNvGrpSpPr/>
        <p:nvPr/>
      </p:nvGrpSpPr>
      <p:grpSpPr>
        <a:xfrm>
          <a:off x="0" y="0"/>
          <a:ext cx="0" cy="0"/>
          <a:chOff x="0" y="0"/>
          <a:chExt cx="0" cy="0"/>
        </a:xfrm>
      </p:grpSpPr>
      <p:sp>
        <p:nvSpPr>
          <p:cNvPr id="2" name="Shape 0"/>
          <p:cNvSpPr/>
          <p:nvPr/>
        </p:nvSpPr>
        <p:spPr>
          <a:xfrm>
            <a:off x="411480" y="6510528"/>
            <a:ext cx="11384280" cy="0"/>
          </a:xfrm>
          <a:prstGeom prst="line">
            <a:avLst/>
          </a:prstGeom>
          <a:noFill/>
          <a:ln w="7620">
            <a:solidFill>
              <a:srgbClr val="D8BFA3">
                <a:alpha val="6500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8.xml"/><Relationship Id="rId3" Type="http://schemas.microsoft.com/office/2007/relationships/media" Target="../media/media2.mp4"/><Relationship Id="rId7"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5.png"/><Relationship Id="rId5" Type="http://schemas.microsoft.com/office/2007/relationships/media" Target="../media/media3.mp4"/><Relationship Id="rId10" Type="http://schemas.openxmlformats.org/officeDocument/2006/relationships/image" Target="../media/image1.png"/><Relationship Id="rId4" Type="http://schemas.openxmlformats.org/officeDocument/2006/relationships/video" Target="../media/media2.mp4"/><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F"/>
        </a:solidFill>
        <a:effectLst/>
      </p:bgPr>
    </p:bg>
    <p:spTree>
      <p:nvGrpSpPr>
        <p:cNvPr id="1" name=""/>
        <p:cNvGrpSpPr/>
        <p:nvPr/>
      </p:nvGrpSpPr>
      <p:grpSpPr>
        <a:xfrm>
          <a:off x="0" y="0"/>
          <a:ext cx="0" cy="0"/>
          <a:chOff x="0" y="0"/>
          <a:chExt cx="0" cy="0"/>
        </a:xfrm>
      </p:grpSpPr>
      <p:sp>
        <p:nvSpPr>
          <p:cNvPr id="2" name="Cover Panel"/>
          <p:cNvSpPr/>
          <p:nvPr/>
        </p:nvSpPr>
        <p:spPr>
          <a:xfrm>
            <a:off x="0" y="0"/>
            <a:ext cx="7300000" cy="6858000"/>
          </a:xfrm>
          <a:prstGeom prst="rect">
            <a:avLst/>
          </a:prstGeom>
          <a:gradFill flip="none" rotWithShape="1">
            <a:gsLst>
              <a:gs pos="0">
                <a:srgbClr val="1E5B58"/>
              </a:gs>
              <a:gs pos="100000">
                <a:srgbClr val="2F7F7B"/>
              </a:gs>
            </a:gsLst>
            <a:lin ang="2700000" scaled="0"/>
          </a:gradFill>
          <a:ln>
            <a:noFill/>
          </a:ln>
        </p:spPr>
        <p:txBody>
          <a:bodyPr/>
          <a:lstStyle/>
          <a:p>
            <a:endParaRPr lang="en-US" dirty="0"/>
          </a:p>
        </p:txBody>
      </p:sp>
      <p:pic>
        <p:nvPicPr>
          <p:cNvPr id="20" name="Cover Image"/>
          <p:cNvPicPr>
            <a:picLocks noChangeAspect="1"/>
          </p:cNvPicPr>
          <p:nvPr/>
        </p:nvPicPr>
        <p:blipFill>
          <a:blip r:embed="rId3"/>
          <a:srcRect l="30000" r="30000"/>
          <a:stretch>
            <a:fillRect/>
          </a:stretch>
        </p:blipFill>
        <p:spPr>
          <a:xfrm>
            <a:off x="7300000" y="0"/>
            <a:ext cx="4892000" cy="6858000"/>
          </a:xfrm>
          <a:prstGeom prst="rect">
            <a:avLst/>
          </a:prstGeom>
        </p:spPr>
      </p:pic>
      <p:sp>
        <p:nvSpPr>
          <p:cNvPr id="21" name="Accent Rule"/>
          <p:cNvSpPr/>
          <p:nvPr/>
        </p:nvSpPr>
        <p:spPr>
          <a:xfrm>
            <a:off x="914400" y="3060000"/>
            <a:ext cx="900000" cy="54000"/>
          </a:xfrm>
          <a:prstGeom prst="rect">
            <a:avLst/>
          </a:prstGeom>
          <a:solidFill>
            <a:srgbClr val="D98B5F"/>
          </a:solidFill>
          <a:ln>
            <a:noFill/>
          </a:ln>
        </p:spPr>
        <p:txBody>
          <a:bodyPr/>
          <a:lstStyle/>
          <a:p>
            <a:endParaRPr lang="en-US" dirty="0"/>
          </a:p>
        </p:txBody>
      </p:sp>
      <p:sp>
        <p:nvSpPr>
          <p:cNvPr id="3" name="Text 1"/>
          <p:cNvSpPr/>
          <p:nvPr/>
        </p:nvSpPr>
        <p:spPr>
          <a:xfrm>
            <a:off x="914400" y="1880000"/>
            <a:ext cx="5600000" cy="1050000"/>
          </a:xfrm>
          <a:prstGeom prst="rect">
            <a:avLst/>
          </a:prstGeom>
          <a:noFill/>
          <a:ln/>
        </p:spPr>
        <p:txBody>
          <a:bodyPr wrap="square" lIns="0" tIns="0" rIns="0" bIns="0" rtlCol="0" anchor="ctr"/>
          <a:lstStyle/>
          <a:p>
            <a:pPr marL="0" indent="0">
              <a:buNone/>
            </a:pPr>
            <a:r>
              <a:rPr lang="en-US" sz="5400" b="1" dirty="0">
                <a:solidFill>
                  <a:srgbClr val="FFFFFF"/>
                </a:solidFill>
                <a:latin typeface="Aptos Display" pitchFamily="34" charset="0"/>
                <a:ea typeface="Aptos Display" pitchFamily="34" charset="-122"/>
                <a:cs typeface="Aptos Display" pitchFamily="34" charset="-120"/>
              </a:rPr>
              <a:t>Kinder Signs</a:t>
            </a:r>
            <a:endParaRPr lang="en-US" sz="5400" dirty="0"/>
          </a:p>
        </p:txBody>
      </p:sp>
      <p:sp>
        <p:nvSpPr>
          <p:cNvPr id="4" name="Text 2"/>
          <p:cNvSpPr/>
          <p:nvPr/>
        </p:nvSpPr>
        <p:spPr>
          <a:xfrm>
            <a:off x="914400" y="1450000"/>
            <a:ext cx="5500000" cy="300000"/>
          </a:xfrm>
          <a:prstGeom prst="rect">
            <a:avLst/>
          </a:prstGeom>
          <a:noFill/>
          <a:ln/>
        </p:spPr>
        <p:txBody>
          <a:bodyPr wrap="square" lIns="0" tIns="0" rIns="0" bIns="0" rtlCol="0" anchor="ctr"/>
          <a:lstStyle/>
          <a:p>
            <a:pPr marL="0" indent="0">
              <a:buNone/>
            </a:pPr>
            <a:r>
              <a:rPr lang="en-US" sz="1200" b="1" spc="300" dirty="0">
                <a:solidFill>
                  <a:srgbClr val="A9CFCC"/>
                </a:solidFill>
              </a:rPr>
              <a:t>Early-stage commercial validation for Chleo</a:t>
            </a:r>
            <a:endParaRPr lang="en-US" sz="1200" dirty="0"/>
          </a:p>
        </p:txBody>
      </p:sp>
      <p:sp>
        <p:nvSpPr>
          <p:cNvPr id="5" name="Text 3"/>
          <p:cNvSpPr/>
          <p:nvPr/>
        </p:nvSpPr>
        <p:spPr>
          <a:xfrm>
            <a:off x="914400" y="3260000"/>
            <a:ext cx="5500000" cy="320000"/>
          </a:xfrm>
          <a:prstGeom prst="rect">
            <a:avLst/>
          </a:prstGeom>
          <a:noFill/>
          <a:ln/>
        </p:spPr>
        <p:txBody>
          <a:bodyPr wrap="square" lIns="0" tIns="0" rIns="0" bIns="0" rtlCol="0" anchor="ctr"/>
          <a:lstStyle/>
          <a:p>
            <a:pPr marL="0" indent="0">
              <a:buNone/>
            </a:pPr>
            <a:r>
              <a:rPr lang="en-US" sz="1400" dirty="0">
                <a:solidFill>
                  <a:srgbClr val="D9E7E5"/>
                </a:solidFill>
              </a:rPr>
              <a:t>Trusted early communication across school and home</a:t>
            </a:r>
            <a:endParaRPr lang="en-US" sz="1300" dirty="0"/>
          </a:p>
        </p:txBody>
      </p:sp>
      <p:sp>
        <p:nvSpPr>
          <p:cNvPr id="6" name="Text 4"/>
          <p:cNvSpPr/>
          <p:nvPr/>
        </p:nvSpPr>
        <p:spPr>
          <a:xfrm>
            <a:off x="914400" y="4200000"/>
            <a:ext cx="1600000" cy="300000"/>
          </a:xfrm>
          <a:prstGeom prst="rect">
            <a:avLst/>
          </a:prstGeom>
          <a:noFill/>
          <a:ln/>
        </p:spPr>
        <p:txBody>
          <a:bodyPr wrap="square" lIns="0" tIns="0" rIns="0" bIns="0" rtlCol="0" anchor="ctr"/>
          <a:lstStyle/>
          <a:p>
            <a:pPr marL="0" indent="0">
              <a:buNone/>
            </a:pPr>
            <a:r>
              <a:rPr lang="en-US" sz="1200" b="1" spc="300" dirty="0">
                <a:solidFill>
                  <a:srgbClr val="E8A87C"/>
                </a:solidFill>
              </a:rPr>
              <a:t>Big idea</a:t>
            </a:r>
            <a:endParaRPr lang="en-US" sz="1500" dirty="0"/>
          </a:p>
        </p:txBody>
      </p:sp>
      <p:sp>
        <p:nvSpPr>
          <p:cNvPr id="7" name="Text 5"/>
          <p:cNvSpPr/>
          <p:nvPr/>
        </p:nvSpPr>
        <p:spPr>
          <a:xfrm>
            <a:off x="914400" y="4580000"/>
            <a:ext cx="5600000" cy="1150000"/>
          </a:xfrm>
          <a:prstGeom prst="rect">
            <a:avLst/>
          </a:prstGeom>
          <a:noFill/>
          <a:ln/>
        </p:spPr>
        <p:txBody>
          <a:bodyPr wrap="square" lIns="254" tIns="254" rIns="254" bIns="254" rtlCol="0" anchor="t">
            <a:normAutofit/>
          </a:bodyPr>
          <a:lstStyle/>
          <a:p>
            <a:pPr marL="0" indent="0">
              <a:buNone/>
            </a:pPr>
            <a:r>
              <a:rPr lang="en-US" sz="1400" b="0">
                <a:solidFill>
                  <a:srgbClr val="F2F7F6"/>
                </a:solidFill>
              </a:rPr>
              <a:t>KinderFlow</a:t>
            </a:r>
            <a:r>
              <a:rPr lang="en-US" sz="1400" b="0" dirty="0">
                <a:solidFill>
                  <a:srgbClr val="F2F7F6"/>
                </a:solidFill>
              </a:rPr>
              <a:t> sells Kinder Signs to early-years </a:t>
            </a:r>
            <a:r>
              <a:rPr lang="en-US" sz="1400" b="0">
                <a:solidFill>
                  <a:srgbClr val="F2F7F6"/>
                </a:solidFill>
              </a:rPr>
              <a:t>centers</a:t>
            </a:r>
            <a:r>
              <a:rPr lang="en-US" sz="1400" b="0" dirty="0">
                <a:solidFill>
                  <a:srgbClr val="F2F7F6"/>
                </a:solidFill>
              </a:rPr>
              <a:t> like Chleo's, where baby sign is already taught and families already trust the school. The same pipeline becomes a </a:t>
            </a:r>
            <a:r>
              <a:rPr lang="en-US" sz="1400" b="0">
                <a:solidFill>
                  <a:srgbClr val="F2F7F6"/>
                </a:solidFill>
              </a:rPr>
              <a:t>KinderFlow</a:t>
            </a:r>
            <a:r>
              <a:rPr lang="en-US" sz="1400" b="0" dirty="0">
                <a:solidFill>
                  <a:srgbClr val="F2F7F6"/>
                </a:solidFill>
              </a:rPr>
              <a:t> asset for other clients and markets.</a:t>
            </a:r>
            <a:endParaRPr lang="en-US" sz="1500" dirty="0"/>
          </a:p>
        </p:txBody>
      </p:sp>
      <p:sp>
        <p:nvSpPr>
          <p:cNvPr id="8" name="Text 6"/>
          <p:cNvSpPr/>
          <p:nvPr/>
        </p:nvSpPr>
        <p:spPr>
          <a:xfrm>
            <a:off x="914400" y="6420000"/>
            <a:ext cx="5200000" cy="201168"/>
          </a:xfrm>
          <a:prstGeom prst="rect">
            <a:avLst/>
          </a:prstGeom>
          <a:noFill/>
          <a:ln/>
        </p:spPr>
        <p:txBody>
          <a:bodyPr wrap="square" lIns="0" tIns="0" rIns="0" bIns="0" rtlCol="0" anchor="ctr"/>
          <a:lstStyle/>
          <a:p>
            <a:pPr marL="0" indent="0">
              <a:buNone/>
            </a:pPr>
            <a:r>
              <a:rPr lang="en-US" sz="1100" dirty="0" err="1">
                <a:solidFill>
                  <a:srgbClr val="9FC4C1"/>
                </a:solidFill>
              </a:rPr>
              <a:t>KinderFlow</a:t>
            </a:r>
            <a:r>
              <a:rPr lang="en-US" sz="1100" dirty="0">
                <a:solidFill>
                  <a:srgbClr val="9FC4C1"/>
                </a:solidFill>
              </a:rPr>
              <a:t> - Early-stage commercial validation</a:t>
            </a:r>
            <a:endParaRPr lang="en-US" sz="11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AF7EF"/>
        </a:solidFill>
        <a:effectLst/>
      </p:bgPr>
    </p:bg>
    <p:spTree>
      <p:nvGrpSpPr>
        <p:cNvPr id="1" name=""/>
        <p:cNvGrpSpPr/>
        <p:nvPr/>
      </p:nvGrpSpPr>
      <p:grpSpPr>
        <a:xfrm>
          <a:off x="0" y="0"/>
          <a:ext cx="0" cy="0"/>
          <a:chOff x="0" y="0"/>
          <a:chExt cx="0" cy="0"/>
        </a:xfrm>
      </p:grpSpPr>
      <p:sp>
        <p:nvSpPr>
          <p:cNvPr id="2" name="Cover Panel"/>
          <p:cNvSpPr/>
          <p:nvPr/>
        </p:nvSpPr>
        <p:spPr>
          <a:xfrm>
            <a:off x="0" y="0"/>
            <a:ext cx="12192000" cy="6858000"/>
          </a:xfrm>
          <a:prstGeom prst="rect">
            <a:avLst/>
          </a:prstGeom>
          <a:gradFill flip="none" rotWithShape="1">
            <a:gsLst>
              <a:gs pos="0">
                <a:srgbClr val="1E5B58"/>
              </a:gs>
              <a:gs pos="100000">
                <a:srgbClr val="2F7F7B"/>
              </a:gs>
            </a:gsLst>
            <a:lin ang="2700000" scaled="0"/>
          </a:gradFill>
          <a:ln>
            <a:noFill/>
          </a:ln>
        </p:spPr>
        <p:txBody>
          <a:bodyPr/>
          <a:lstStyle/>
          <a:p>
            <a:endParaRPr lang="en-US"/>
          </a:p>
        </p:txBody>
      </p:sp>
      <p:sp>
        <p:nvSpPr>
          <p:cNvPr id="21" name="Accent Rule"/>
          <p:cNvSpPr/>
          <p:nvPr/>
        </p:nvSpPr>
        <p:spPr>
          <a:xfrm>
            <a:off x="1200000" y="2750000"/>
            <a:ext cx="1100000" cy="60000"/>
          </a:xfrm>
          <a:prstGeom prst="rect">
            <a:avLst/>
          </a:prstGeom>
          <a:solidFill>
            <a:srgbClr val="D98B5F"/>
          </a:solidFill>
          <a:ln>
            <a:noFill/>
          </a:ln>
        </p:spPr>
        <p:txBody>
          <a:bodyPr/>
          <a:lstStyle/>
          <a:p>
            <a:endParaRPr lang="en-US"/>
          </a:p>
        </p:txBody>
      </p:sp>
      <p:sp>
        <p:nvSpPr>
          <p:cNvPr id="3" name="Text 1"/>
          <p:cNvSpPr/>
          <p:nvPr/>
        </p:nvSpPr>
        <p:spPr>
          <a:xfrm>
            <a:off x="1200000" y="3050000"/>
            <a:ext cx="8400000" cy="2000000"/>
          </a:xfrm>
          <a:prstGeom prst="rect">
            <a:avLst/>
          </a:prstGeom>
          <a:noFill/>
          <a:ln/>
        </p:spPr>
        <p:txBody>
          <a:bodyPr wrap="square" lIns="0" tIns="0" rIns="0" bIns="0" rtlCol="0" anchor="t">
            <a:normAutofit/>
          </a:bodyPr>
          <a:lstStyle/>
          <a:p>
            <a:pPr marL="0" indent="0">
              <a:buNone/>
            </a:pPr>
            <a:r>
              <a:rPr lang="en-US" sz="4000" b="1">
                <a:solidFill>
                  <a:srgbClr val="FFFFFF"/>
                </a:solidFill>
                <a:latin typeface="Aptos Display" pitchFamily="34" charset="0"/>
                <a:ea typeface="Aptos Display" pitchFamily="34" charset="-122"/>
                <a:cs typeface="Aptos Display" pitchFamily="34" charset="-120"/>
              </a:rPr>
              <a:t>A baby can sign for milk months before saying the word. What is missing is a shared way to understand it.</a:t>
            </a:r>
            <a:endParaRPr lang="en-US" sz="4000"/>
          </a:p>
        </p:txBody>
      </p:sp>
      <p:sp>
        <p:nvSpPr>
          <p:cNvPr id="8" name="Text 6"/>
          <p:cNvSpPr/>
          <p:nvPr/>
        </p:nvSpPr>
        <p:spPr>
          <a:xfrm>
            <a:off x="914400" y="6420000"/>
            <a:ext cx="5200000" cy="201168"/>
          </a:xfrm>
          <a:prstGeom prst="rect">
            <a:avLst/>
          </a:prstGeom>
          <a:noFill/>
          <a:ln/>
        </p:spPr>
        <p:txBody>
          <a:bodyPr wrap="square" lIns="0" tIns="0" rIns="0" bIns="0" rtlCol="0" anchor="ctr"/>
          <a:lstStyle/>
          <a:p>
            <a:pPr marL="0" indent="0">
              <a:buNone/>
            </a:pPr>
            <a:r>
              <a:rPr lang="en-US" sz="1100" err="1">
                <a:solidFill>
                  <a:srgbClr val="9FC4C1"/>
                </a:solidFill>
              </a:rPr>
              <a:t>KinderFlow</a:t>
            </a:r>
            <a:r>
              <a:rPr lang="en-US" sz="1100">
                <a:solidFill>
                  <a:srgbClr val="9FC4C1"/>
                </a:solidFill>
              </a:rPr>
              <a:t> - Early-stage commercial validation</a:t>
            </a:r>
            <a:endParaRPr lang="en-US" sz="110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dirty="0">
                <a:solidFill>
                  <a:srgbClr val="2E2E2E"/>
                </a:solidFill>
                <a:latin typeface="Aptos Display" pitchFamily="34" charset="0"/>
                <a:ea typeface="Aptos Display" pitchFamily="34" charset="-122"/>
                <a:cs typeface="Aptos Display" pitchFamily="34" charset="-120"/>
              </a:rPr>
              <a:t>Chleo starts with a trust advantage most parenting apps do not have</a:t>
            </a:r>
            <a:endParaRPr lang="en-US" sz="2100" dirty="0"/>
          </a:p>
        </p:txBody>
      </p:sp>
      <p:sp>
        <p:nvSpPr>
          <p:cNvPr id="3" name="Shape 1"/>
          <p:cNvSpPr/>
          <p:nvPr/>
        </p:nvSpPr>
        <p:spPr>
          <a:xfrm>
            <a:off x="658368" y="1647360"/>
            <a:ext cx="3429000" cy="2200000"/>
          </a:xfrm>
          <a:prstGeom prst="roundRect">
            <a:avLst>
              <a:gd name="adj" fmla="val 2388"/>
            </a:avLst>
          </a:prstGeom>
          <a:solidFill>
            <a:srgbClr val="E9F2F1"/>
          </a:solidFill>
          <a:ln w="9525">
            <a:solidFill>
              <a:srgbClr val="2F7F7B">
                <a:alpha val="85000"/>
              </a:srgbClr>
            </a:solidFill>
            <a:prstDash val="solid"/>
          </a:ln>
        </p:spPr>
        <p:txBody>
          <a:bodyPr/>
          <a:lstStyle/>
          <a:p>
            <a:endParaRPr lang="en-US"/>
          </a:p>
        </p:txBody>
      </p:sp>
      <p:sp>
        <p:nvSpPr>
          <p:cNvPr id="4" name="Text 2"/>
          <p:cNvSpPr/>
          <p:nvPr/>
        </p:nvSpPr>
        <p:spPr>
          <a:xfrm>
            <a:off x="822960" y="2040000"/>
            <a:ext cx="3099816" cy="280000"/>
          </a:xfrm>
          <a:prstGeom prst="rect">
            <a:avLst/>
          </a:prstGeom>
          <a:noFill/>
          <a:ln/>
        </p:spPr>
        <p:txBody>
          <a:bodyPr wrap="square" lIns="0" tIns="0" rIns="0" bIns="0" rtlCol="0" anchor="ctr"/>
          <a:lstStyle/>
          <a:p>
            <a:pPr marL="0" indent="0">
              <a:buNone/>
            </a:pPr>
            <a:r>
              <a:rPr lang="en-US" sz="1300" b="1" spc="80" dirty="0">
                <a:solidFill>
                  <a:srgbClr val="2F7F7B"/>
                </a:solidFill>
              </a:rPr>
              <a:t>Trust</a:t>
            </a:r>
            <a:endParaRPr lang="en-US" sz="1300" dirty="0"/>
          </a:p>
        </p:txBody>
      </p:sp>
      <p:sp>
        <p:nvSpPr>
          <p:cNvPr id="5" name="Text 3"/>
          <p:cNvSpPr/>
          <p:nvPr/>
        </p:nvSpPr>
        <p:spPr>
          <a:xfrm>
            <a:off x="822960" y="2360000"/>
            <a:ext cx="3099816" cy="1050000"/>
          </a:xfrm>
          <a:prstGeom prst="rect">
            <a:avLst/>
          </a:prstGeom>
          <a:noFill/>
          <a:ln/>
        </p:spPr>
        <p:txBody>
          <a:bodyPr wrap="square" lIns="254" tIns="254" rIns="254" bIns="254" rtlCol="0" anchor="ctr">
            <a:normAutofit/>
          </a:bodyPr>
          <a:lstStyle/>
          <a:p>
            <a:pPr marL="0" indent="0">
              <a:buNone/>
            </a:pPr>
            <a:r>
              <a:rPr lang="en-US" sz="1300" dirty="0">
                <a:solidFill>
                  <a:srgbClr val="2E2E2E"/>
                </a:solidFill>
              </a:rPr>
              <a:t>Families already know the school. Early-childhood guidance is easier to test when the channel is already trusted.</a:t>
            </a:r>
            <a:endParaRPr lang="en-US" sz="1300" dirty="0"/>
          </a:p>
        </p:txBody>
      </p:sp>
      <p:sp>
        <p:nvSpPr>
          <p:cNvPr id="6" name="Shape 4"/>
          <p:cNvSpPr/>
          <p:nvPr/>
        </p:nvSpPr>
        <p:spPr>
          <a:xfrm>
            <a:off x="4370832" y="1887360"/>
            <a:ext cx="3429000" cy="2200000"/>
          </a:xfrm>
          <a:prstGeom prst="roundRect">
            <a:avLst>
              <a:gd name="adj" fmla="val 2388"/>
            </a:avLst>
          </a:prstGeom>
          <a:solidFill>
            <a:srgbClr val="FBF0E7"/>
          </a:solidFill>
          <a:ln w="9525">
            <a:solidFill>
              <a:srgbClr val="D98B5F">
                <a:alpha val="85000"/>
              </a:srgbClr>
            </a:solidFill>
            <a:prstDash val="solid"/>
          </a:ln>
        </p:spPr>
        <p:txBody>
          <a:bodyPr/>
          <a:lstStyle/>
          <a:p>
            <a:endParaRPr lang="en-US"/>
          </a:p>
        </p:txBody>
      </p:sp>
      <p:sp>
        <p:nvSpPr>
          <p:cNvPr id="7" name="Text 5"/>
          <p:cNvSpPr/>
          <p:nvPr/>
        </p:nvSpPr>
        <p:spPr>
          <a:xfrm>
            <a:off x="4535424" y="2280000"/>
            <a:ext cx="3099816" cy="280000"/>
          </a:xfrm>
          <a:prstGeom prst="rect">
            <a:avLst/>
          </a:prstGeom>
          <a:noFill/>
          <a:ln/>
        </p:spPr>
        <p:txBody>
          <a:bodyPr wrap="square" lIns="0" tIns="0" rIns="0" bIns="0" rtlCol="0" anchor="ctr"/>
          <a:lstStyle/>
          <a:p>
            <a:pPr marL="0" indent="0">
              <a:buNone/>
            </a:pPr>
            <a:r>
              <a:rPr lang="en-US" sz="1300" b="1" spc="80">
                <a:solidFill>
                  <a:srgbClr val="D98B5F"/>
                </a:solidFill>
              </a:rPr>
              <a:t>Access</a:t>
            </a:r>
            <a:endParaRPr lang="en-US" sz="1300" dirty="0"/>
          </a:p>
        </p:txBody>
      </p:sp>
      <p:sp>
        <p:nvSpPr>
          <p:cNvPr id="8" name="Text 6"/>
          <p:cNvSpPr/>
          <p:nvPr/>
        </p:nvSpPr>
        <p:spPr>
          <a:xfrm>
            <a:off x="4535424" y="2600000"/>
            <a:ext cx="3099816" cy="1050000"/>
          </a:xfrm>
          <a:prstGeom prst="rect">
            <a:avLst/>
          </a:prstGeom>
          <a:noFill/>
          <a:ln/>
        </p:spPr>
        <p:txBody>
          <a:bodyPr wrap="square" lIns="254" tIns="254" rIns="254" bIns="254" rtlCol="0" anchor="ctr">
            <a:normAutofit/>
          </a:bodyPr>
          <a:lstStyle/>
          <a:p>
            <a:pPr marL="0" indent="0">
              <a:buNone/>
            </a:pPr>
            <a:r>
              <a:rPr lang="en-US" sz="1300" dirty="0">
                <a:solidFill>
                  <a:srgbClr val="2E2E2E"/>
                </a:solidFill>
              </a:rPr>
              <a:t>Parents and educators are already connected through school routines and communication.</a:t>
            </a:r>
            <a:endParaRPr lang="en-US" sz="1300" dirty="0"/>
          </a:p>
        </p:txBody>
      </p:sp>
      <p:sp>
        <p:nvSpPr>
          <p:cNvPr id="9" name="Shape 7"/>
          <p:cNvSpPr/>
          <p:nvPr/>
        </p:nvSpPr>
        <p:spPr>
          <a:xfrm>
            <a:off x="8083296" y="2127360"/>
            <a:ext cx="3429000" cy="2200000"/>
          </a:xfrm>
          <a:prstGeom prst="roundRect">
            <a:avLst>
              <a:gd name="adj" fmla="val 2388"/>
            </a:avLst>
          </a:prstGeom>
          <a:solidFill>
            <a:srgbClr val="E4EDEC"/>
          </a:solidFill>
          <a:ln w="9525">
            <a:solidFill>
              <a:srgbClr val="1E5B58">
                <a:alpha val="85000"/>
              </a:srgbClr>
            </a:solidFill>
            <a:prstDash val="solid"/>
          </a:ln>
        </p:spPr>
        <p:txBody>
          <a:bodyPr/>
          <a:lstStyle/>
          <a:p>
            <a:endParaRPr lang="en-US"/>
          </a:p>
        </p:txBody>
      </p:sp>
      <p:sp>
        <p:nvSpPr>
          <p:cNvPr id="10" name="Text 8"/>
          <p:cNvSpPr/>
          <p:nvPr/>
        </p:nvSpPr>
        <p:spPr>
          <a:xfrm>
            <a:off x="8247888" y="2520000"/>
            <a:ext cx="3099816" cy="280000"/>
          </a:xfrm>
          <a:prstGeom prst="rect">
            <a:avLst/>
          </a:prstGeom>
          <a:noFill/>
          <a:ln/>
        </p:spPr>
        <p:txBody>
          <a:bodyPr wrap="square" lIns="0" tIns="0" rIns="0" bIns="0" rtlCol="0" anchor="ctr"/>
          <a:lstStyle/>
          <a:p>
            <a:pPr marL="0" indent="0">
              <a:buNone/>
            </a:pPr>
            <a:r>
              <a:rPr lang="en-US" sz="1300" b="1" spc="80">
                <a:solidFill>
                  <a:srgbClr val="1E5B58"/>
                </a:solidFill>
              </a:rPr>
              <a:t>Real routines</a:t>
            </a:r>
            <a:endParaRPr lang="en-US" sz="1300" dirty="0"/>
          </a:p>
        </p:txBody>
      </p:sp>
      <p:sp>
        <p:nvSpPr>
          <p:cNvPr id="11" name="Text 9"/>
          <p:cNvSpPr/>
          <p:nvPr/>
        </p:nvSpPr>
        <p:spPr>
          <a:xfrm>
            <a:off x="8247888" y="2840000"/>
            <a:ext cx="3099816" cy="1050000"/>
          </a:xfrm>
          <a:prstGeom prst="rect">
            <a:avLst/>
          </a:prstGeom>
          <a:noFill/>
          <a:ln/>
        </p:spPr>
        <p:txBody>
          <a:bodyPr wrap="square" lIns="254" tIns="254" rIns="254" bIns="254" rtlCol="0" anchor="ctr">
            <a:normAutofit/>
          </a:bodyPr>
          <a:lstStyle/>
          <a:p>
            <a:pPr marL="0" indent="0">
              <a:buNone/>
            </a:pPr>
            <a:r>
              <a:rPr lang="en-US" sz="1300" dirty="0">
                <a:solidFill>
                  <a:srgbClr val="2E2E2E"/>
                </a:solidFill>
              </a:rPr>
              <a:t>Signs, meals and daily updates happen in moments that cross school and home.</a:t>
            </a:r>
            <a:endParaRPr lang="en-US" sz="1300" dirty="0"/>
          </a:p>
        </p:txBody>
      </p:sp>
      <p:sp>
        <p:nvSpPr>
          <p:cNvPr id="70" name="Card Accent 1"/>
          <p:cNvSpPr/>
          <p:nvPr/>
        </p:nvSpPr>
        <p:spPr>
          <a:xfrm>
            <a:off x="778368" y="1647360"/>
            <a:ext cx="3189000" cy="110000"/>
          </a:xfrm>
          <a:prstGeom prst="rect">
            <a:avLst/>
          </a:prstGeom>
          <a:solidFill>
            <a:srgbClr val="2F7F7B"/>
          </a:solidFill>
          <a:ln>
            <a:noFill/>
          </a:ln>
        </p:spPr>
        <p:txBody>
          <a:bodyPr/>
          <a:lstStyle/>
          <a:p>
            <a:endParaRPr lang="en-US"/>
          </a:p>
        </p:txBody>
      </p:sp>
      <p:sp>
        <p:nvSpPr>
          <p:cNvPr id="71" name="Card Accent 2"/>
          <p:cNvSpPr/>
          <p:nvPr/>
        </p:nvSpPr>
        <p:spPr>
          <a:xfrm>
            <a:off x="4490832" y="1887360"/>
            <a:ext cx="3189000" cy="110000"/>
          </a:xfrm>
          <a:prstGeom prst="rect">
            <a:avLst/>
          </a:prstGeom>
          <a:solidFill>
            <a:srgbClr val="D98B5F"/>
          </a:solidFill>
          <a:ln>
            <a:noFill/>
          </a:ln>
        </p:spPr>
        <p:txBody>
          <a:bodyPr/>
          <a:lstStyle/>
          <a:p>
            <a:endParaRPr lang="en-US"/>
          </a:p>
        </p:txBody>
      </p:sp>
      <p:sp>
        <p:nvSpPr>
          <p:cNvPr id="72" name="Card Accent 3"/>
          <p:cNvSpPr/>
          <p:nvPr/>
        </p:nvSpPr>
        <p:spPr>
          <a:xfrm>
            <a:off x="8203296" y="2127360"/>
            <a:ext cx="3189000" cy="110000"/>
          </a:xfrm>
          <a:prstGeom prst="rect">
            <a:avLst/>
          </a:prstGeom>
          <a:solidFill>
            <a:srgbClr val="1E5B58"/>
          </a:solidFill>
          <a:ln>
            <a:noFill/>
          </a:ln>
        </p:spPr>
        <p:txBody>
          <a:bodyPr/>
          <a:lstStyle/>
          <a:p>
            <a:endParaRPr lang="en-US"/>
          </a:p>
        </p:txBody>
      </p:sp>
      <p:sp>
        <p:nvSpPr>
          <p:cNvPr id="80" name="Closing Accent"/>
          <p:cNvSpPr/>
          <p:nvPr/>
        </p:nvSpPr>
        <p:spPr>
          <a:xfrm>
            <a:off x="566928" y="4450000"/>
            <a:ext cx="777240" cy="50292"/>
          </a:xfrm>
          <a:prstGeom prst="rect">
            <a:avLst/>
          </a:prstGeom>
          <a:solidFill>
            <a:srgbClr val="D98B5F"/>
          </a:solidFill>
          <a:ln>
            <a:noFill/>
          </a:ln>
        </p:spPr>
        <p:txBody>
          <a:bodyPr/>
          <a:lstStyle/>
          <a:p>
            <a:endParaRPr lang="en-US"/>
          </a:p>
        </p:txBody>
      </p:sp>
      <p:sp>
        <p:nvSpPr>
          <p:cNvPr id="12" name="Text 10"/>
          <p:cNvSpPr/>
          <p:nvPr/>
        </p:nvSpPr>
        <p:spPr>
          <a:xfrm>
            <a:off x="566928" y="4700000"/>
            <a:ext cx="8600000" cy="760000"/>
          </a:xfrm>
          <a:prstGeom prst="rect">
            <a:avLst/>
          </a:prstGeom>
          <a:noFill/>
          <a:ln/>
        </p:spPr>
        <p:txBody>
          <a:bodyPr wrap="square" lIns="0" tIns="0" rIns="0" bIns="0" rtlCol="0" anchor="ctr"/>
          <a:lstStyle/>
          <a:p>
            <a:pPr marL="0" indent="0" algn="l">
              <a:buNone/>
            </a:pPr>
            <a:r>
              <a:rPr lang="en-US" sz="2000" b="1">
                <a:solidFill>
                  <a:srgbClr val="2E2E2E"/>
                </a:solidFill>
              </a:rPr>
              <a:t>The opportunity is turning that trusted relationship into a scalable digital service. An advantage, not yet proof of adoption.</a:t>
            </a:r>
            <a:endParaRPr lang="en-US" sz="2000"/>
          </a:p>
        </p:txBody>
      </p:sp>
      <p:sp>
        <p:nvSpPr>
          <p:cNvPr id="13" name="Text 11"/>
          <p:cNvSpPr/>
          <p:nvPr/>
        </p:nvSpPr>
        <p:spPr>
          <a:xfrm>
            <a:off x="566928" y="6565392"/>
            <a:ext cx="6766560" cy="201168"/>
          </a:xfrm>
          <a:prstGeom prst="rect">
            <a:avLst/>
          </a:prstGeom>
          <a:noFill/>
          <a:ln/>
        </p:spPr>
        <p:txBody>
          <a:bodyPr wrap="square" lIns="0" tIns="0" rIns="0" bIns="0" rtlCol="0" anchor="ctr"/>
          <a:lstStyle/>
          <a:p>
            <a:pPr marL="0" indent="0">
              <a:buNone/>
            </a:pPr>
            <a:r>
              <a:rPr lang="en-US" sz="1100" dirty="0">
                <a:solidFill>
                  <a:srgbClr val="6F6F6F"/>
                </a:solidFill>
              </a:rPr>
              <a:t>KinderFlow - </a:t>
            </a:r>
            <a:r>
              <a:rPr lang="en-US" sz="1100">
                <a:solidFill>
                  <a:srgbClr val="6F6F6F"/>
                </a:solidFill>
              </a:rPr>
              <a:t>Early-stage commercial </a:t>
            </a:r>
            <a:r>
              <a:rPr lang="en-US" sz="1100" dirty="0">
                <a:solidFill>
                  <a:srgbClr val="6F6F6F"/>
                </a:solidFill>
              </a:rPr>
              <a:t>validation</a:t>
            </a:r>
            <a:endParaRPr lang="en-US" sz="11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3</a:t>
            </a:fld>
            <a:endParaRPr lang="en-US"/>
          </a:p>
        </p:txBody>
      </p:sp>
      <p:sp>
        <p:nvSpPr>
          <p:cNvPr id="14" name="Chleo Definition"/>
          <p:cNvSpPr/>
          <p:nvPr/>
        </p:nvSpPr>
        <p:spPr>
          <a:xfrm>
            <a:off x="566928" y="1000000"/>
            <a:ext cx="10881360" cy="480000"/>
          </a:xfrm>
          <a:prstGeom prst="rect">
            <a:avLst/>
          </a:prstGeom>
          <a:noFill/>
          <a:ln>
            <a:noFill/>
          </a:ln>
        </p:spPr>
        <p:txBody>
          <a:bodyPr wrap="square" lIns="0" tIns="0" rIns="0" bIns="0" rtlCol="0" anchor="ctr"/>
          <a:lstStyle/>
          <a:p>
            <a:pPr marL="0" indent="0">
              <a:buNone/>
            </a:pPr>
            <a:r>
              <a:rPr lang="en-US" sz="1200">
                <a:solidFill>
                  <a:srgbClr val="6F6F6F"/>
                </a:solidFill>
              </a:rPr>
              <a:t>Chleo and her husband own an early-years center in Madrid that already teaches baby sign. Her school is the trusted channel to families, and KinderFlow's first B2B customer.</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4</a:t>
            </a:fld>
            <a:endParaRPr lang="en-US"/>
          </a:p>
        </p:txBody>
      </p:sp>
      <p:pic>
        <p:nvPicPr>
          <p:cNvPr id="18" name="Imagen 17">
            <a:extLst>
              <a:ext uri="{FF2B5EF4-FFF2-40B4-BE49-F238E27FC236}">
                <a16:creationId xmlns:a16="http://schemas.microsoft.com/office/drawing/2014/main" id="{649A3BBA-B30E-1A41-8278-AE95B407EF13}"/>
              </a:ext>
            </a:extLst>
          </p:cNvPr>
          <p:cNvPicPr>
            <a:picLocks noChangeAspect="1"/>
          </p:cNvPicPr>
          <p:nvPr/>
        </p:nvPicPr>
        <p:blipFill>
          <a:blip r:embed="rId3"/>
          <a:stretch>
            <a:fillRect/>
          </a:stretch>
        </p:blipFill>
        <p:spPr>
          <a:xfrm>
            <a:off x="0" y="0"/>
            <a:ext cx="8544393" cy="6833231"/>
          </a:xfrm>
          <a:prstGeom prst="rect">
            <a:avLst/>
          </a:prstGeom>
        </p:spPr>
      </p:pic>
      <p:sp>
        <p:nvSpPr>
          <p:cNvPr id="19" name="Text 0">
            <a:extLst>
              <a:ext uri="{FF2B5EF4-FFF2-40B4-BE49-F238E27FC236}">
                <a16:creationId xmlns:a16="http://schemas.microsoft.com/office/drawing/2014/main" id="{55BC0AD4-91D3-0D42-D66A-4AB1B93A69D0}"/>
              </a:ext>
            </a:extLst>
          </p:cNvPr>
          <p:cNvSpPr/>
          <p:nvPr/>
        </p:nvSpPr>
        <p:spPr>
          <a:xfrm>
            <a:off x="8844196" y="329184"/>
            <a:ext cx="2604091" cy="1514606"/>
          </a:xfrm>
          <a:prstGeom prst="rect">
            <a:avLst/>
          </a:prstGeom>
          <a:noFill/>
          <a:ln/>
        </p:spPr>
        <p:txBody>
          <a:bodyPr wrap="square" lIns="0" tIns="0" rIns="0" bIns="0" rtlCol="0" anchor="ctr"/>
          <a:lstStyle/>
          <a:p>
            <a:pPr marL="0" indent="0">
              <a:buNone/>
            </a:pPr>
            <a:r>
              <a:rPr lang="en-US" sz="2100" b="1" dirty="0">
                <a:solidFill>
                  <a:srgbClr val="2E2E2E"/>
                </a:solidFill>
                <a:latin typeface="Aptos Display" pitchFamily="34" charset="0"/>
                <a:ea typeface="Aptos Display" pitchFamily="34" charset="-122"/>
                <a:cs typeface="Aptos Display" pitchFamily="34" charset="-120"/>
              </a:rPr>
              <a:t>The dashboard supports </a:t>
            </a:r>
            <a:r>
              <a:rPr lang="en-US" sz="2100" b="1">
                <a:solidFill>
                  <a:srgbClr val="2E2E2E"/>
                </a:solidFill>
                <a:latin typeface="Aptos Display" pitchFamily="34" charset="0"/>
                <a:ea typeface="Aptos Display" pitchFamily="34" charset="-122"/>
                <a:cs typeface="Aptos Display" pitchFamily="34" charset="-120"/>
              </a:rPr>
              <a:t>commercial</a:t>
            </a:r>
            <a:r>
              <a:rPr lang="en-US" sz="2100" b="1" dirty="0">
                <a:solidFill>
                  <a:srgbClr val="2E2E2E"/>
                </a:solidFill>
                <a:latin typeface="Aptos Display" pitchFamily="34" charset="0"/>
                <a:ea typeface="Aptos Display" pitchFamily="34" charset="-122"/>
                <a:cs typeface="Aptos Display" pitchFamily="34" charset="-120"/>
              </a:rPr>
              <a:t> validation, not a scale decision</a:t>
            </a:r>
            <a:endParaRPr lang="en-US" sz="2100" dirty="0"/>
          </a:p>
        </p:txBody>
      </p:sp>
      <p:sp>
        <p:nvSpPr>
          <p:cNvPr id="20" name="Shape 4">
            <a:extLst>
              <a:ext uri="{FF2B5EF4-FFF2-40B4-BE49-F238E27FC236}">
                <a16:creationId xmlns:a16="http://schemas.microsoft.com/office/drawing/2014/main" id="{9C57FF84-6AB0-C35A-1AFE-06A30FE8581A}"/>
              </a:ext>
            </a:extLst>
          </p:cNvPr>
          <p:cNvSpPr/>
          <p:nvPr/>
        </p:nvSpPr>
        <p:spPr>
          <a:xfrm>
            <a:off x="8844196" y="1970773"/>
            <a:ext cx="2971800" cy="1143000"/>
          </a:xfrm>
          <a:prstGeom prst="roundRect">
            <a:avLst>
              <a:gd name="adj" fmla="val 6400"/>
            </a:avLst>
          </a:prstGeom>
          <a:noFill/>
          <a:ln>
            <a:noFill/>
          </a:ln>
        </p:spPr>
        <p:txBody>
          <a:bodyPr/>
          <a:lstStyle/>
          <a:p>
            <a:endParaRPr lang="en-US"/>
          </a:p>
        </p:txBody>
      </p:sp>
      <p:sp>
        <p:nvSpPr>
          <p:cNvPr id="21" name="Text 5">
            <a:extLst>
              <a:ext uri="{FF2B5EF4-FFF2-40B4-BE49-F238E27FC236}">
                <a16:creationId xmlns:a16="http://schemas.microsoft.com/office/drawing/2014/main" id="{2223ACF4-6AE7-269D-2A4A-D07CA0F6369F}"/>
              </a:ext>
            </a:extLst>
          </p:cNvPr>
          <p:cNvSpPr/>
          <p:nvPr/>
        </p:nvSpPr>
        <p:spPr>
          <a:xfrm>
            <a:off x="9290000" y="2117077"/>
            <a:ext cx="2361404" cy="256032"/>
          </a:xfrm>
          <a:prstGeom prst="rect">
            <a:avLst/>
          </a:prstGeom>
          <a:noFill/>
          <a:ln/>
        </p:spPr>
        <p:txBody>
          <a:bodyPr wrap="square" lIns="0" tIns="0" rIns="0" bIns="0" rtlCol="0" anchor="ctr"/>
          <a:lstStyle/>
          <a:p>
            <a:pPr marL="0" indent="0">
              <a:buNone/>
            </a:pPr>
            <a:r>
              <a:rPr lang="en-US" sz="1200" b="1" dirty="0">
                <a:solidFill>
                  <a:srgbClr val="2F7F7B"/>
                </a:solidFill>
              </a:rPr>
              <a:t>Market access</a:t>
            </a:r>
            <a:endParaRPr lang="en-US" sz="1200" dirty="0"/>
          </a:p>
        </p:txBody>
      </p:sp>
      <p:sp>
        <p:nvSpPr>
          <p:cNvPr id="22" name="Text 6">
            <a:extLst>
              <a:ext uri="{FF2B5EF4-FFF2-40B4-BE49-F238E27FC236}">
                <a16:creationId xmlns:a16="http://schemas.microsoft.com/office/drawing/2014/main" id="{02BAC0E7-C19B-CD1C-89BE-3663192448EE}"/>
              </a:ext>
            </a:extLst>
          </p:cNvPr>
          <p:cNvSpPr/>
          <p:nvPr/>
        </p:nvSpPr>
        <p:spPr>
          <a:xfrm>
            <a:off x="9290000" y="2446261"/>
            <a:ext cx="2361404" cy="539496"/>
          </a:xfrm>
          <a:prstGeom prst="rect">
            <a:avLst/>
          </a:prstGeom>
          <a:noFill/>
          <a:ln/>
        </p:spPr>
        <p:txBody>
          <a:bodyPr wrap="square" lIns="254" tIns="254" rIns="254" bIns="254" rtlCol="0" anchor="ctr">
            <a:normAutofit/>
          </a:bodyPr>
          <a:lstStyle/>
          <a:p>
            <a:pPr marL="0" indent="0">
              <a:buNone/>
            </a:pPr>
            <a:r>
              <a:rPr lang="en-US" sz="1100" dirty="0">
                <a:solidFill>
                  <a:srgbClr val="2E2E2E"/>
                </a:solidFill>
              </a:rPr>
              <a:t>Spain has a sizeable early-years education audience.</a:t>
            </a:r>
            <a:endParaRPr lang="en-US" sz="1100" dirty="0"/>
          </a:p>
        </p:txBody>
      </p:sp>
      <p:sp>
        <p:nvSpPr>
          <p:cNvPr id="23" name="Shape 7">
            <a:extLst>
              <a:ext uri="{FF2B5EF4-FFF2-40B4-BE49-F238E27FC236}">
                <a16:creationId xmlns:a16="http://schemas.microsoft.com/office/drawing/2014/main" id="{DBD050DF-7FFE-B54B-7F74-45D67F7860BA}"/>
              </a:ext>
            </a:extLst>
          </p:cNvPr>
          <p:cNvSpPr/>
          <p:nvPr/>
        </p:nvSpPr>
        <p:spPr>
          <a:xfrm>
            <a:off x="8844196" y="3314941"/>
            <a:ext cx="2971800" cy="1143000"/>
          </a:xfrm>
          <a:prstGeom prst="roundRect">
            <a:avLst>
              <a:gd name="adj" fmla="val 6400"/>
            </a:avLst>
          </a:prstGeom>
          <a:noFill/>
          <a:ln>
            <a:noFill/>
          </a:ln>
        </p:spPr>
        <p:txBody>
          <a:bodyPr/>
          <a:lstStyle/>
          <a:p>
            <a:endParaRPr lang="en-US"/>
          </a:p>
        </p:txBody>
      </p:sp>
      <p:sp>
        <p:nvSpPr>
          <p:cNvPr id="24" name="Text 8">
            <a:extLst>
              <a:ext uri="{FF2B5EF4-FFF2-40B4-BE49-F238E27FC236}">
                <a16:creationId xmlns:a16="http://schemas.microsoft.com/office/drawing/2014/main" id="{FD714E8C-A4AD-2DFA-7160-BF7A48291E23}"/>
              </a:ext>
            </a:extLst>
          </p:cNvPr>
          <p:cNvSpPr/>
          <p:nvPr/>
        </p:nvSpPr>
        <p:spPr>
          <a:xfrm>
            <a:off x="9290000" y="3461245"/>
            <a:ext cx="2361404" cy="256032"/>
          </a:xfrm>
          <a:prstGeom prst="rect">
            <a:avLst/>
          </a:prstGeom>
          <a:noFill/>
          <a:ln/>
        </p:spPr>
        <p:txBody>
          <a:bodyPr wrap="square" lIns="0" tIns="0" rIns="0" bIns="0" rtlCol="0" anchor="ctr"/>
          <a:lstStyle/>
          <a:p>
            <a:pPr marL="0" indent="0">
              <a:buNone/>
            </a:pPr>
            <a:r>
              <a:rPr lang="en-US" sz="1200" b="1" dirty="0">
                <a:solidFill>
                  <a:srgbClr val="2F7F7B"/>
                </a:solidFill>
              </a:rPr>
              <a:t>Madrid entry point</a:t>
            </a:r>
            <a:endParaRPr lang="en-US" sz="1200" dirty="0"/>
          </a:p>
        </p:txBody>
      </p:sp>
      <p:sp>
        <p:nvSpPr>
          <p:cNvPr id="26" name="Text 9">
            <a:extLst>
              <a:ext uri="{FF2B5EF4-FFF2-40B4-BE49-F238E27FC236}">
                <a16:creationId xmlns:a16="http://schemas.microsoft.com/office/drawing/2014/main" id="{D77040E9-838C-73A5-833A-184689E01D97}"/>
              </a:ext>
            </a:extLst>
          </p:cNvPr>
          <p:cNvSpPr/>
          <p:nvPr/>
        </p:nvSpPr>
        <p:spPr>
          <a:xfrm>
            <a:off x="9290000" y="3790429"/>
            <a:ext cx="2361404" cy="539496"/>
          </a:xfrm>
          <a:prstGeom prst="rect">
            <a:avLst/>
          </a:prstGeom>
          <a:noFill/>
          <a:ln/>
        </p:spPr>
        <p:txBody>
          <a:bodyPr wrap="square" lIns="254" tIns="254" rIns="254" bIns="254" rtlCol="0" anchor="ctr">
            <a:normAutofit/>
          </a:bodyPr>
          <a:lstStyle/>
          <a:p>
            <a:pPr marL="0" indent="0">
              <a:buNone/>
            </a:pPr>
            <a:r>
              <a:rPr lang="en-US" sz="1100" dirty="0">
                <a:solidFill>
                  <a:srgbClr val="2E2E2E"/>
                </a:solidFill>
              </a:rPr>
              <a:t>Madrid offers a relevant education ecosystem and digital readiness.</a:t>
            </a:r>
            <a:endParaRPr lang="en-US" sz="1100" dirty="0"/>
          </a:p>
        </p:txBody>
      </p:sp>
      <p:sp>
        <p:nvSpPr>
          <p:cNvPr id="27" name="Shape 10">
            <a:extLst>
              <a:ext uri="{FF2B5EF4-FFF2-40B4-BE49-F238E27FC236}">
                <a16:creationId xmlns:a16="http://schemas.microsoft.com/office/drawing/2014/main" id="{86367493-EA0B-16FB-E70A-DB7D835819B1}"/>
              </a:ext>
            </a:extLst>
          </p:cNvPr>
          <p:cNvSpPr/>
          <p:nvPr/>
        </p:nvSpPr>
        <p:spPr>
          <a:xfrm>
            <a:off x="8844196" y="4659109"/>
            <a:ext cx="2971800" cy="1143000"/>
          </a:xfrm>
          <a:prstGeom prst="roundRect">
            <a:avLst>
              <a:gd name="adj" fmla="val 6400"/>
            </a:avLst>
          </a:prstGeom>
          <a:noFill/>
          <a:ln>
            <a:noFill/>
          </a:ln>
        </p:spPr>
        <p:txBody>
          <a:bodyPr/>
          <a:lstStyle/>
          <a:p>
            <a:endParaRPr lang="en-US"/>
          </a:p>
        </p:txBody>
      </p:sp>
      <p:sp>
        <p:nvSpPr>
          <p:cNvPr id="28" name="Text 11">
            <a:extLst>
              <a:ext uri="{FF2B5EF4-FFF2-40B4-BE49-F238E27FC236}">
                <a16:creationId xmlns:a16="http://schemas.microsoft.com/office/drawing/2014/main" id="{2B6AAB18-817A-25BD-2238-988419BA6E87}"/>
              </a:ext>
            </a:extLst>
          </p:cNvPr>
          <p:cNvSpPr/>
          <p:nvPr/>
        </p:nvSpPr>
        <p:spPr>
          <a:xfrm>
            <a:off x="9290000" y="4805413"/>
            <a:ext cx="2361404" cy="256032"/>
          </a:xfrm>
          <a:prstGeom prst="rect">
            <a:avLst/>
          </a:prstGeom>
          <a:noFill/>
          <a:ln/>
        </p:spPr>
        <p:txBody>
          <a:bodyPr wrap="square" lIns="0" tIns="0" rIns="0" bIns="0" rtlCol="0" anchor="ctr"/>
          <a:lstStyle/>
          <a:p>
            <a:pPr marL="0" indent="0">
              <a:buNone/>
            </a:pPr>
            <a:r>
              <a:rPr lang="en-US" sz="1200" b="1" dirty="0">
                <a:solidFill>
                  <a:srgbClr val="2F7F7B"/>
                </a:solidFill>
              </a:rPr>
              <a:t>Positioning gap</a:t>
            </a:r>
            <a:endParaRPr lang="en-US" sz="1200" dirty="0"/>
          </a:p>
        </p:txBody>
      </p:sp>
      <p:sp>
        <p:nvSpPr>
          <p:cNvPr id="29" name="Text 12">
            <a:extLst>
              <a:ext uri="{FF2B5EF4-FFF2-40B4-BE49-F238E27FC236}">
                <a16:creationId xmlns:a16="http://schemas.microsoft.com/office/drawing/2014/main" id="{2C918608-01D5-26F2-EB57-92ACAD500DD7}"/>
              </a:ext>
            </a:extLst>
          </p:cNvPr>
          <p:cNvSpPr/>
          <p:nvPr/>
        </p:nvSpPr>
        <p:spPr>
          <a:xfrm>
            <a:off x="9290000" y="5134597"/>
            <a:ext cx="2361404" cy="539496"/>
          </a:xfrm>
          <a:prstGeom prst="rect">
            <a:avLst/>
          </a:prstGeom>
          <a:noFill/>
          <a:ln/>
        </p:spPr>
        <p:txBody>
          <a:bodyPr wrap="square" lIns="254" tIns="254" rIns="254" bIns="254" rtlCol="0" anchor="ctr">
            <a:normAutofit/>
          </a:bodyPr>
          <a:lstStyle/>
          <a:p>
            <a:pPr marL="0" indent="0">
              <a:buNone/>
            </a:pPr>
            <a:r>
              <a:rPr lang="en-US" sz="1100" dirty="0">
                <a:solidFill>
                  <a:srgbClr val="2E2E2E"/>
                </a:solidFill>
              </a:rPr>
              <a:t>The opportunity is trusted school-home continuity, not Spanish content alone.</a:t>
            </a:r>
            <a:endParaRPr lang="en-US" sz="1100" dirty="0"/>
          </a:p>
        </p:txBody>
      </p:sp>
      <p:sp>
        <p:nvSpPr>
          <p:cNvPr id="30" name="Text 13">
            <a:extLst>
              <a:ext uri="{FF2B5EF4-FFF2-40B4-BE49-F238E27FC236}">
                <a16:creationId xmlns:a16="http://schemas.microsoft.com/office/drawing/2014/main" id="{86EAF5D0-E752-6811-737E-0F40A8532EB8}"/>
              </a:ext>
            </a:extLst>
          </p:cNvPr>
          <p:cNvSpPr/>
          <p:nvPr/>
        </p:nvSpPr>
        <p:spPr>
          <a:xfrm>
            <a:off x="8889916" y="6003277"/>
            <a:ext cx="2880360" cy="457200"/>
          </a:xfrm>
          <a:prstGeom prst="rect">
            <a:avLst/>
          </a:prstGeom>
          <a:noFill/>
          <a:ln/>
        </p:spPr>
        <p:txBody>
          <a:bodyPr wrap="square" lIns="254" tIns="254" rIns="254" bIns="254" rtlCol="0" anchor="ctr">
            <a:normAutofit fontScale="77500" lnSpcReduction="20000"/>
          </a:bodyPr>
          <a:lstStyle/>
          <a:p>
            <a:pPr marL="0" indent="0">
              <a:buNone/>
            </a:pPr>
            <a:r>
              <a:rPr lang="en-US" sz="1000" i="1" dirty="0">
                <a:solidFill>
                  <a:srgbClr val="6F6F6F"/>
                </a:solidFill>
              </a:rPr>
              <a:t>The dashboard supports access and positioning. It does not </a:t>
            </a:r>
            <a:r>
              <a:rPr lang="en-US" sz="1000" i="1">
                <a:solidFill>
                  <a:srgbClr val="6F6F6F"/>
                </a:solidFill>
              </a:rPr>
              <a:t>yet </a:t>
            </a:r>
            <a:r>
              <a:rPr lang="en-US" sz="1000" i="1" dirty="0">
                <a:solidFill>
                  <a:srgbClr val="6F6F6F"/>
                </a:solidFill>
              </a:rPr>
              <a:t>prove demand, willingness to pay or product-market fit.</a:t>
            </a:r>
            <a:endParaRPr lang="en-US" sz="1000" i="1">
              <a:solidFill>
                <a:srgbClr val="6F6F6F"/>
              </a:solidFill>
            </a:endParaRPr>
          </a:p>
          <a:p>
            <a:pPr marL="0" indent="0">
              <a:buNone/>
            </a:pPr>
            <a:r>
              <a:rPr lang="en-US" sz="1000" i="1">
                <a:solidFill>
                  <a:srgbClr val="6F6F6F"/>
                </a:solidFill>
              </a:rPr>
              <a:t>Sources: Spanish Ministry of Education; Comunidad de Madrid; INE ICT Survey.</a:t>
            </a:r>
            <a:endParaRPr lang="en-US" sz="1000"/>
          </a:p>
        </p:txBody>
      </p:sp>
      <p:sp>
        <p:nvSpPr>
          <p:cNvPr id="90" name="Marker A1"/>
          <p:cNvSpPr/>
          <p:nvPr/>
        </p:nvSpPr>
        <p:spPr>
          <a:xfrm>
            <a:off x="8889916" y="2112077"/>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1</a:t>
            </a:r>
          </a:p>
        </p:txBody>
      </p:sp>
      <p:sp>
        <p:nvSpPr>
          <p:cNvPr id="91" name="Marker A2"/>
          <p:cNvSpPr/>
          <p:nvPr/>
        </p:nvSpPr>
        <p:spPr>
          <a:xfrm>
            <a:off x="8889916" y="3456245"/>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2</a:t>
            </a:r>
          </a:p>
        </p:txBody>
      </p:sp>
      <p:sp>
        <p:nvSpPr>
          <p:cNvPr id="92" name="Marker A3"/>
          <p:cNvSpPr/>
          <p:nvPr/>
        </p:nvSpPr>
        <p:spPr>
          <a:xfrm>
            <a:off x="8889916" y="4800413"/>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3</a:t>
            </a:r>
          </a:p>
        </p:txBody>
      </p:sp>
      <p:sp>
        <p:nvSpPr>
          <p:cNvPr id="93" name="Marker B1"/>
          <p:cNvSpPr/>
          <p:nvPr/>
        </p:nvSpPr>
        <p:spPr>
          <a:xfrm>
            <a:off x="3560000" y="560000"/>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1</a:t>
            </a:r>
          </a:p>
        </p:txBody>
      </p:sp>
      <p:sp>
        <p:nvSpPr>
          <p:cNvPr id="94" name="Marker B2"/>
          <p:cNvSpPr/>
          <p:nvPr/>
        </p:nvSpPr>
        <p:spPr>
          <a:xfrm>
            <a:off x="8060000" y="3620000"/>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2</a:t>
            </a:r>
          </a:p>
        </p:txBody>
      </p:sp>
      <p:sp>
        <p:nvSpPr>
          <p:cNvPr id="95" name="Marker B3"/>
          <p:cNvSpPr/>
          <p:nvPr/>
        </p:nvSpPr>
        <p:spPr>
          <a:xfrm>
            <a:off x="8060000" y="560000"/>
            <a:ext cx="266000" cy="266000"/>
          </a:xfrm>
          <a:prstGeom prst="ellipse">
            <a:avLst/>
          </a:prstGeom>
          <a:solidFill>
            <a:srgbClr val="D98B5F"/>
          </a:solidFill>
          <a:ln>
            <a:noFill/>
          </a:ln>
        </p:spPr>
        <p:txBody>
          <a:bodyPr lIns="0" tIns="0" rIns="0" bIns="0" anchor="ctr"/>
          <a:lstStyle/>
          <a:p>
            <a:pPr algn="ctr">
              <a:buNone/>
            </a:pPr>
            <a:r>
              <a:rPr lang="en-US" sz="1000" b="1">
                <a:solidFill>
                  <a:srgbClr val="FFFFFF"/>
                </a:solidFill>
              </a:rPr>
              <a:t>3</a:t>
            </a:r>
          </a:p>
        </p:txBody>
      </p:sp>
      <p:sp>
        <p:nvSpPr>
          <p:cNvPr id="300" name="Stat Caption Patch"/>
          <p:cNvSpPr/>
          <p:nvPr/>
        </p:nvSpPr>
        <p:spPr>
          <a:xfrm>
            <a:off x="150121" y="1708403"/>
            <a:ext cx="2155757" cy="270773"/>
          </a:xfrm>
          <a:prstGeom prst="rect">
            <a:avLst/>
          </a:prstGeom>
          <a:solidFill>
            <a:srgbClr val="FFFFFF"/>
          </a:solidFill>
          <a:ln>
            <a:noFill/>
          </a:ln>
        </p:spPr>
        <p:txBody>
          <a:bodyPr wrap="square" lIns="22860" tIns="0" rIns="0" bIns="0" rtlCol="0" anchor="ctr">
            <a:noAutofit/>
          </a:bodyPr>
          <a:lstStyle/>
          <a:p>
            <a:pPr marL="0" indent="0">
              <a:buNone/>
            </a:pPr>
            <a:r>
              <a:rPr lang="en-US" sz="850" dirty="0">
                <a:solidFill>
                  <a:srgbClr val="8A8A8A"/>
                </a:solidFill>
                <a:latin typeface="Aptos" panose="020B0004020202020204" pitchFamily="34" charset="0"/>
              </a:rPr>
              <a:t>Children enrolled in 1st-cycle education</a:t>
            </a:r>
            <a:endParaRPr lang="en-US" sz="85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85AC48-D3DA-4FDE-08CE-F7BF112077B0}"/>
              </a:ext>
            </a:extLst>
          </p:cNvPr>
          <p:cNvSpPr txBox="1"/>
          <p:nvPr/>
        </p:nvSpPr>
        <p:spPr>
          <a:xfrm>
            <a:off x="502920" y="320040"/>
            <a:ext cx="10881360" cy="548640"/>
          </a:xfrm>
          <a:prstGeom prst="rect">
            <a:avLst/>
          </a:prstGeom>
          <a:noFill/>
        </p:spPr>
        <p:txBody>
          <a:bodyPr wrap="square" lIns="27432" tIns="18288" rIns="27432" bIns="18288">
            <a:normAutofit/>
          </a:bodyPr>
          <a:lstStyle/>
          <a:p>
            <a:pPr algn="l"/>
            <a:r>
              <a:rPr lang="en-US" sz="3000" b="1">
                <a:solidFill>
                  <a:srgbClr val="222222"/>
                </a:solidFill>
                <a:latin typeface="Aptos"/>
              </a:rPr>
              <a:t>Each stakeholder question maps to a metric</a:t>
            </a:r>
          </a:p>
        </p:txBody>
      </p:sp>
      <p:sp>
        <p:nvSpPr>
          <p:cNvPr id="3" name="TextBox 2">
            <a:extLst>
              <a:ext uri="{FF2B5EF4-FFF2-40B4-BE49-F238E27FC236}">
                <a16:creationId xmlns:a16="http://schemas.microsoft.com/office/drawing/2014/main" id="{F7C9B0B7-402A-DDD7-0531-A128203E86E4}"/>
              </a:ext>
            </a:extLst>
          </p:cNvPr>
          <p:cNvSpPr txBox="1"/>
          <p:nvPr/>
        </p:nvSpPr>
        <p:spPr>
          <a:xfrm>
            <a:off x="530352" y="868680"/>
            <a:ext cx="10789920" cy="229294"/>
          </a:xfrm>
          <a:prstGeom prst="rect">
            <a:avLst/>
          </a:prstGeom>
          <a:noFill/>
        </p:spPr>
        <p:txBody>
          <a:bodyPr wrap="square" lIns="27432" tIns="18288" rIns="27432" bIns="18288">
            <a:spAutoFit/>
          </a:bodyPr>
          <a:lstStyle/>
          <a:p>
            <a:pPr algn="l"/>
            <a:r>
              <a:rPr lang="en-US" sz="1250" b="0">
                <a:solidFill>
                  <a:srgbClr val="6B7280"/>
                </a:solidFill>
                <a:latin typeface="Aptos"/>
              </a:rPr>
              <a:t>Stakeholder metrics for a validation decision. Not a revenue forecast.</a:t>
            </a:r>
          </a:p>
        </p:txBody>
      </p:sp>
      <p:sp>
        <p:nvSpPr>
          <p:cNvPr id="4" name="TextBox 3">
            <a:extLst>
              <a:ext uri="{FF2B5EF4-FFF2-40B4-BE49-F238E27FC236}">
                <a16:creationId xmlns:a16="http://schemas.microsoft.com/office/drawing/2014/main" id="{FF38A145-1492-750D-E402-179F6BB9FE77}"/>
              </a:ext>
            </a:extLst>
          </p:cNvPr>
          <p:cNvSpPr txBox="1"/>
          <p:nvPr/>
        </p:nvSpPr>
        <p:spPr>
          <a:xfrm>
            <a:off x="530352" y="6537960"/>
            <a:ext cx="5943600" cy="201168"/>
          </a:xfrm>
          <a:prstGeom prst="rect">
            <a:avLst/>
          </a:prstGeom>
          <a:noFill/>
        </p:spPr>
        <p:txBody>
          <a:bodyPr wrap="square" lIns="27432" tIns="18288" rIns="27432" bIns="18288">
            <a:spAutoFit/>
          </a:bodyPr>
          <a:lstStyle/>
          <a:p>
            <a:pPr algn="l"/>
            <a:r>
              <a:rPr sz="850" b="0">
                <a:solidFill>
                  <a:srgbClr val="6B7280"/>
                </a:solidFill>
                <a:latin typeface="Aptos"/>
              </a:rPr>
              <a:t>KinderFlow - Early-stage commercial validation</a:t>
            </a:r>
          </a:p>
        </p:txBody>
      </p:sp>
      <p:sp>
        <p:nvSpPr>
          <p:cNvPr id="5" name="TextBox 4">
            <a:extLst>
              <a:ext uri="{FF2B5EF4-FFF2-40B4-BE49-F238E27FC236}">
                <a16:creationId xmlns:a16="http://schemas.microsoft.com/office/drawing/2014/main" id="{0DB5CC14-B361-C0C1-0D06-8E7BD2651CA7}"/>
              </a:ext>
            </a:extLst>
          </p:cNvPr>
          <p:cNvSpPr txBox="1"/>
          <p:nvPr/>
        </p:nvSpPr>
        <p:spPr>
          <a:xfrm>
            <a:off x="11292840" y="6528816"/>
            <a:ext cx="594360" cy="201168"/>
          </a:xfrm>
          <a:prstGeom prst="rect">
            <a:avLst/>
          </a:prstGeom>
          <a:noFill/>
        </p:spPr>
        <p:txBody>
          <a:bodyPr wrap="square" lIns="27432" tIns="18288" rIns="27432" bIns="18288">
            <a:spAutoFit/>
          </a:bodyPr>
          <a:lstStyle/>
          <a:p>
            <a:pPr algn="r"/>
            <a:r>
              <a:rPr sz="850">
                <a:solidFill>
                  <a:srgbClr val="6B7280"/>
                </a:solidFill>
                <a:latin typeface="Aptos"/>
              </a:rPr>
              <a:t>5</a:t>
            </a:r>
          </a:p>
        </p:txBody>
      </p:sp>
      <p:sp>
        <p:nvSpPr>
          <p:cNvPr id="6" name="Rounded Rectangle 5">
            <a:extLst>
              <a:ext uri="{FF2B5EF4-FFF2-40B4-BE49-F238E27FC236}">
                <a16:creationId xmlns:a16="http://schemas.microsoft.com/office/drawing/2014/main" id="{CD343676-6BEB-3D99-9A71-D7C3F61D76EF}"/>
              </a:ext>
            </a:extLst>
          </p:cNvPr>
          <p:cNvSpPr/>
          <p:nvPr/>
        </p:nvSpPr>
        <p:spPr>
          <a:xfrm>
            <a:off x="1411061" y="1340290"/>
            <a:ext cx="4093921" cy="1096586"/>
          </a:xfrm>
          <a:prstGeom prst="roundRect">
            <a:avLst/>
          </a:prstGeom>
          <a:solidFill>
            <a:srgbClr val="CA7855"/>
          </a:solid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100" b="1" spc="200" noProof="1">
                <a:solidFill>
                  <a:srgbClr val="FFFFFF"/>
                </a:solidFill>
                <a:latin typeface="Aptos"/>
              </a:rPr>
              <a:t>Decision owner: Chleo</a:t>
            </a:r>
          </a:p>
          <a:p>
            <a:pPr algn="ctr">
              <a:spcBef>
                <a:spcPts val="300"/>
              </a:spcBef>
            </a:pPr>
            <a:r>
              <a:rPr lang="en-US" sz="1500" b="1" noProof="1">
                <a:solidFill>
                  <a:srgbClr val="FFFFFF"/>
                </a:solidFill>
                <a:latin typeface="Aptos"/>
              </a:rPr>
              <a:t>Is Kinder Signs worth an 8–9 week commercial validation phase before scaling?</a:t>
            </a:r>
          </a:p>
        </p:txBody>
      </p:sp>
      <p:sp>
        <p:nvSpPr>
          <p:cNvPr id="7" name="Rounded Rectangle 6">
            <a:extLst>
              <a:ext uri="{FF2B5EF4-FFF2-40B4-BE49-F238E27FC236}">
                <a16:creationId xmlns:a16="http://schemas.microsoft.com/office/drawing/2014/main" id="{4A364D44-FCF3-C1FE-6E08-75B18383D5FC}"/>
              </a:ext>
            </a:extLst>
          </p:cNvPr>
          <p:cNvSpPr/>
          <p:nvPr/>
        </p:nvSpPr>
        <p:spPr>
          <a:xfrm>
            <a:off x="6035040" y="1188720"/>
            <a:ext cx="1920240" cy="13716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050" b="1" noProof="1">
                <a:solidFill>
                  <a:srgbClr val="1F6F6B"/>
                </a:solidFill>
                <a:latin typeface="Aptos"/>
              </a:rPr>
              <a:t>Educators</a:t>
            </a:r>
          </a:p>
          <a:p>
            <a:pPr algn="ctr">
              <a:spcBef>
                <a:spcPts val="300"/>
              </a:spcBef>
            </a:pPr>
            <a:r>
              <a:rPr lang="en-US" sz="1000" noProof="1">
                <a:solidFill>
                  <a:srgbClr val="6B7280"/>
                </a:solidFill>
                <a:latin typeface="Aptos"/>
              </a:rPr>
              <a:t>Can it fit the weekly classroom routine without adding production work?</a:t>
            </a:r>
          </a:p>
        </p:txBody>
      </p:sp>
      <p:sp>
        <p:nvSpPr>
          <p:cNvPr id="8" name="Rounded Rectangle 7">
            <a:extLst>
              <a:ext uri="{FF2B5EF4-FFF2-40B4-BE49-F238E27FC236}">
                <a16:creationId xmlns:a16="http://schemas.microsoft.com/office/drawing/2014/main" id="{FFE22ADB-937A-BE50-A298-A365AAD28B13}"/>
              </a:ext>
            </a:extLst>
          </p:cNvPr>
          <p:cNvSpPr/>
          <p:nvPr/>
        </p:nvSpPr>
        <p:spPr>
          <a:xfrm>
            <a:off x="8092440" y="1188720"/>
            <a:ext cx="1920240" cy="13716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s-ES" sz="1050" b="1">
                <a:solidFill>
                  <a:srgbClr val="1F6F6B"/>
                </a:solidFill>
                <a:latin typeface="Aptos"/>
              </a:rPr>
              <a:t>Families</a:t>
            </a:r>
          </a:p>
          <a:p>
            <a:pPr algn="ctr">
              <a:spcBef>
                <a:spcPts val="300"/>
              </a:spcBef>
            </a:pPr>
            <a:r>
              <a:rPr lang="es-ES" sz="1000">
                <a:solidFill>
                  <a:srgbClr val="6B7280"/>
                </a:solidFill>
                <a:latin typeface="Aptos"/>
              </a:rPr>
              <a:t>Will the guidance be clear, useful and easy to repeat at home?</a:t>
            </a:r>
          </a:p>
        </p:txBody>
      </p:sp>
      <p:sp>
        <p:nvSpPr>
          <p:cNvPr id="9" name="Rounded Rectangle 8">
            <a:extLst>
              <a:ext uri="{FF2B5EF4-FFF2-40B4-BE49-F238E27FC236}">
                <a16:creationId xmlns:a16="http://schemas.microsoft.com/office/drawing/2014/main" id="{0FFA792B-90D9-93BF-D55C-BDC21B2B583B}"/>
              </a:ext>
            </a:extLst>
          </p:cNvPr>
          <p:cNvSpPr/>
          <p:nvPr/>
        </p:nvSpPr>
        <p:spPr>
          <a:xfrm>
            <a:off x="10149840" y="1188720"/>
            <a:ext cx="1920240" cy="13716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050" b="1" dirty="0" err="1">
                <a:solidFill>
                  <a:srgbClr val="1F6F6B"/>
                </a:solidFill>
                <a:latin typeface="Aptos"/>
              </a:rPr>
              <a:t>KinderFlow</a:t>
            </a:r>
            <a:endParaRPr lang="en-US" sz="1050" b="1" dirty="0">
              <a:solidFill>
                <a:srgbClr val="1F6F6B"/>
              </a:solidFill>
              <a:latin typeface="Aptos"/>
            </a:endParaRPr>
          </a:p>
          <a:p>
            <a:pPr algn="ctr">
              <a:spcBef>
                <a:spcPts val="300"/>
              </a:spcBef>
            </a:pPr>
            <a:r>
              <a:rPr lang="en-US" sz="1000" noProof="1">
                <a:solidFill>
                  <a:srgbClr val="6B7280"/>
                </a:solidFill>
                <a:latin typeface="Aptos"/>
              </a:rPr>
              <a:t>Can one approved library serve multiple schools, groups and children?</a:t>
            </a:r>
          </a:p>
        </p:txBody>
      </p:sp>
      <p:sp>
        <p:nvSpPr>
          <p:cNvPr id="10" name="Rounded Rectangle 9">
            <a:extLst>
              <a:ext uri="{FF2B5EF4-FFF2-40B4-BE49-F238E27FC236}">
                <a16:creationId xmlns:a16="http://schemas.microsoft.com/office/drawing/2014/main" id="{BD435C80-CE63-CA00-7C40-001AE19596B5}"/>
              </a:ext>
            </a:extLst>
          </p:cNvPr>
          <p:cNvSpPr/>
          <p:nvPr/>
        </p:nvSpPr>
        <p:spPr>
          <a:xfrm>
            <a:off x="594360" y="2697480"/>
            <a:ext cx="2743200" cy="804672"/>
          </a:xfrm>
          <a:prstGeom prst="roundRect">
            <a:avLst/>
          </a:prstGeom>
          <a:solidFill>
            <a:srgbClr val="F0F8F7"/>
          </a:solid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491,811 children in 1st-cycle education</a:t>
            </a:r>
          </a:p>
          <a:p>
            <a:pPr algn="ctr">
              <a:spcBef>
                <a:spcPts val="300"/>
              </a:spcBef>
            </a:pPr>
            <a:r>
              <a:rPr lang="en-US" sz="900">
                <a:solidFill>
                  <a:srgbClr val="6B7280"/>
                </a:solidFill>
                <a:latin typeface="Aptos"/>
              </a:rPr>
              <a:t>REACH  ·  market access</a:t>
            </a:r>
          </a:p>
        </p:txBody>
      </p:sp>
      <p:sp>
        <p:nvSpPr>
          <p:cNvPr id="11" name="Rounded Rectangle 10">
            <a:extLst>
              <a:ext uri="{FF2B5EF4-FFF2-40B4-BE49-F238E27FC236}">
                <a16:creationId xmlns:a16="http://schemas.microsoft.com/office/drawing/2014/main" id="{EC852F52-836E-A446-8381-ABF1C776FA2C}"/>
              </a:ext>
            </a:extLst>
          </p:cNvPr>
          <p:cNvSpPr/>
          <p:nvPr/>
        </p:nvSpPr>
        <p:spPr>
          <a:xfrm>
            <a:off x="3458022" y="2697480"/>
            <a:ext cx="2606040" cy="804672"/>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76.4% enrolled at age 2</a:t>
            </a:r>
          </a:p>
          <a:p>
            <a:pPr algn="ctr">
              <a:spcBef>
                <a:spcPts val="300"/>
              </a:spcBef>
            </a:pPr>
            <a:r>
              <a:rPr lang="en-US" sz="900">
                <a:solidFill>
                  <a:srgbClr val="6B7280"/>
                </a:solidFill>
                <a:latin typeface="Aptos"/>
              </a:rPr>
              <a:t>REACH  ·  routine starts early</a:t>
            </a:r>
          </a:p>
        </p:txBody>
      </p:sp>
      <p:sp>
        <p:nvSpPr>
          <p:cNvPr id="12" name="Rounded Rectangle 11">
            <a:extLst>
              <a:ext uri="{FF2B5EF4-FFF2-40B4-BE49-F238E27FC236}">
                <a16:creationId xmlns:a16="http://schemas.microsoft.com/office/drawing/2014/main" id="{0E96DB6D-EEC0-709C-DF02-F3D5DE3548D9}"/>
              </a:ext>
            </a:extLst>
          </p:cNvPr>
          <p:cNvSpPr/>
          <p:nvPr/>
        </p:nvSpPr>
        <p:spPr>
          <a:xfrm>
            <a:off x="6208776" y="2697480"/>
            <a:ext cx="2606040" cy="804672"/>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96.4% enrolled at age 3</a:t>
            </a:r>
          </a:p>
          <a:p>
            <a:pPr algn="ctr">
              <a:spcBef>
                <a:spcPts val="300"/>
              </a:spcBef>
            </a:pPr>
            <a:r>
              <a:rPr lang="en-US" sz="900">
                <a:solidFill>
                  <a:srgbClr val="6B7280"/>
                </a:solidFill>
                <a:latin typeface="Aptos"/>
              </a:rPr>
              <a:t>REACH  ·  continuity signal</a:t>
            </a:r>
          </a:p>
        </p:txBody>
      </p:sp>
      <p:sp>
        <p:nvSpPr>
          <p:cNvPr id="13" name="Rounded Rectangle 12">
            <a:extLst>
              <a:ext uri="{FF2B5EF4-FFF2-40B4-BE49-F238E27FC236}">
                <a16:creationId xmlns:a16="http://schemas.microsoft.com/office/drawing/2014/main" id="{A68ED893-7E4F-2A90-6AEC-B1ADC423DC74}"/>
              </a:ext>
            </a:extLst>
          </p:cNvPr>
          <p:cNvSpPr/>
          <p:nvPr/>
        </p:nvSpPr>
        <p:spPr>
          <a:xfrm>
            <a:off x="9015984" y="2697480"/>
            <a:ext cx="2606040" cy="804672"/>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1,169 centers in Madrid</a:t>
            </a:r>
          </a:p>
          <a:p>
            <a:pPr algn="ctr">
              <a:spcBef>
                <a:spcPts val="300"/>
              </a:spcBef>
            </a:pPr>
            <a:r>
              <a:rPr lang="en-US" sz="900">
                <a:solidFill>
                  <a:srgbClr val="6B7280"/>
                </a:solidFill>
                <a:latin typeface="Aptos"/>
              </a:rPr>
              <a:t>REACH  ·  entry ecosystem</a:t>
            </a:r>
          </a:p>
        </p:txBody>
      </p:sp>
      <p:sp>
        <p:nvSpPr>
          <p:cNvPr id="14" name="Rounded Rectangle 13">
            <a:extLst>
              <a:ext uri="{FF2B5EF4-FFF2-40B4-BE49-F238E27FC236}">
                <a16:creationId xmlns:a16="http://schemas.microsoft.com/office/drawing/2014/main" id="{BDC91884-CB17-0058-935F-CDB07F889B8D}"/>
              </a:ext>
            </a:extLst>
          </p:cNvPr>
          <p:cNvSpPr/>
          <p:nvPr/>
        </p:nvSpPr>
        <p:spPr>
          <a:xfrm>
            <a:off x="594360" y="3703320"/>
            <a:ext cx="2743200" cy="804672"/>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~58% private or concerted</a:t>
            </a:r>
          </a:p>
          <a:p>
            <a:pPr algn="ctr">
              <a:spcBef>
                <a:spcPts val="300"/>
              </a:spcBef>
            </a:pPr>
            <a:r>
              <a:rPr lang="en-US" sz="900">
                <a:solidFill>
                  <a:srgbClr val="6B7280"/>
                </a:solidFill>
                <a:latin typeface="Aptos"/>
              </a:rPr>
              <a:t>READINESS  ·  commercial channel</a:t>
            </a:r>
          </a:p>
        </p:txBody>
      </p:sp>
      <p:sp>
        <p:nvSpPr>
          <p:cNvPr id="15" name="Rounded Rectangle 14">
            <a:extLst>
              <a:ext uri="{FF2B5EF4-FFF2-40B4-BE49-F238E27FC236}">
                <a16:creationId xmlns:a16="http://schemas.microsoft.com/office/drawing/2014/main" id="{89876280-D26B-0FC6-34BD-02158A2B448B}"/>
              </a:ext>
            </a:extLst>
          </p:cNvPr>
          <p:cNvSpPr/>
          <p:nvPr/>
        </p:nvSpPr>
        <p:spPr>
          <a:xfrm>
            <a:off x="3458022" y="3703320"/>
            <a:ext cx="2606040" cy="804672"/>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98% internet use in Madrid</a:t>
            </a:r>
          </a:p>
          <a:p>
            <a:pPr algn="ctr">
              <a:spcBef>
                <a:spcPts val="300"/>
              </a:spcBef>
            </a:pPr>
            <a:r>
              <a:rPr lang="en-US" sz="900">
                <a:solidFill>
                  <a:srgbClr val="6B7280"/>
                </a:solidFill>
                <a:latin typeface="Aptos"/>
              </a:rPr>
              <a:t>READINESS  ·  family access</a:t>
            </a:r>
          </a:p>
        </p:txBody>
      </p:sp>
      <p:sp>
        <p:nvSpPr>
          <p:cNvPr id="16" name="Rounded Rectangle 15">
            <a:extLst>
              <a:ext uri="{FF2B5EF4-FFF2-40B4-BE49-F238E27FC236}">
                <a16:creationId xmlns:a16="http://schemas.microsoft.com/office/drawing/2014/main" id="{AD9A2F55-0FB4-AB6F-2E2D-8D115AB5C746}"/>
              </a:ext>
            </a:extLst>
          </p:cNvPr>
          <p:cNvSpPr/>
          <p:nvPr/>
        </p:nvSpPr>
        <p:spPr>
          <a:xfrm>
            <a:off x="6208776" y="3703320"/>
            <a:ext cx="2606040" cy="105156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1700" b="1">
                <a:solidFill>
                  <a:srgbClr val="222222"/>
                </a:solidFill>
                <a:latin typeface="Aptos"/>
              </a:rPr>
              <a:t>57.2% of parents aged 25-34 use GenAI</a:t>
            </a:r>
          </a:p>
          <a:p>
            <a:pPr algn="ctr">
              <a:spcBef>
                <a:spcPts val="300"/>
              </a:spcBef>
            </a:pPr>
            <a:r>
              <a:rPr lang="en-US" sz="900">
                <a:solidFill>
                  <a:srgbClr val="6B7280"/>
                </a:solidFill>
                <a:latin typeface="Aptos"/>
              </a:rPr>
              <a:t>READINESS  ·  AI-service readiness</a:t>
            </a:r>
          </a:p>
        </p:txBody>
      </p:sp>
      <p:sp>
        <p:nvSpPr>
          <p:cNvPr id="17" name="Rounded Rectangle 16">
            <a:extLst>
              <a:ext uri="{FF2B5EF4-FFF2-40B4-BE49-F238E27FC236}">
                <a16:creationId xmlns:a16="http://schemas.microsoft.com/office/drawing/2014/main" id="{6C8AF7D1-CA2E-88DE-581C-C1D64B275819}"/>
              </a:ext>
            </a:extLst>
          </p:cNvPr>
          <p:cNvSpPr/>
          <p:nvPr/>
        </p:nvSpPr>
        <p:spPr>
          <a:xfrm>
            <a:off x="758952" y="5029200"/>
            <a:ext cx="10378440" cy="868680"/>
          </a:xfrm>
          <a:prstGeom prst="roundRect">
            <a:avLst/>
          </a:prstGeom>
          <a:solidFill>
            <a:srgbClr val="F0F8F7"/>
          </a:solid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274320" tIns="310000" rIns="274320" bIns="64008" rtlCol="0" anchor="t"/>
          <a:lstStyle/>
          <a:p>
            <a:pPr>
              <a:lnSpc>
                <a:spcPts val="100"/>
              </a:lnSpc>
            </a:pPr>
            <a:endParaRPr lang="en-US" sz="100">
              <a:solidFill>
                <a:srgbClr val="6B7280"/>
              </a:solidFill>
              <a:latin typeface="Aptos"/>
            </a:endParaRPr>
          </a:p>
          <a:p>
            <a:pPr>
              <a:lnSpc>
                <a:spcPts val="100"/>
              </a:lnSpc>
            </a:pPr>
            <a:endParaRPr lang="en-US" sz="100">
              <a:solidFill>
                <a:srgbClr val="6B7280"/>
              </a:solidFill>
              <a:latin typeface="Aptos"/>
            </a:endParaRPr>
          </a:p>
          <a:p>
            <a:pPr algn="l">
              <a:spcBef>
                <a:spcPts val="300"/>
              </a:spcBef>
            </a:pPr>
            <a:r>
              <a:rPr lang="en-US" sz="1400">
                <a:solidFill>
                  <a:srgbClr val="222222"/>
                </a:solidFill>
                <a:latin typeface="Aptos"/>
              </a:rPr>
              <a:t>The audience is reachable and the channel already exists. Demand and willingness to pay are the only unknowns left, and that is exactly what the 8-9 weeks test.</a:t>
            </a:r>
          </a:p>
        </p:txBody>
      </p:sp>
      <p:sp>
        <p:nvSpPr>
          <p:cNvPr id="18" name="TextBox 17">
            <a:extLst>
              <a:ext uri="{FF2B5EF4-FFF2-40B4-BE49-F238E27FC236}">
                <a16:creationId xmlns:a16="http://schemas.microsoft.com/office/drawing/2014/main" id="{97FB7B73-5A50-05E2-92EB-1C1D0B5A424F}"/>
              </a:ext>
            </a:extLst>
          </p:cNvPr>
          <p:cNvSpPr txBox="1"/>
          <p:nvPr/>
        </p:nvSpPr>
        <p:spPr>
          <a:xfrm>
            <a:off x="786384" y="6263640"/>
            <a:ext cx="10424160" cy="175433"/>
          </a:xfrm>
          <a:prstGeom prst="rect">
            <a:avLst/>
          </a:prstGeom>
          <a:noFill/>
        </p:spPr>
        <p:txBody>
          <a:bodyPr wrap="square" lIns="27432" tIns="18288" rIns="27432" bIns="18288">
            <a:spAutoFit/>
          </a:bodyPr>
          <a:lstStyle/>
          <a:p>
            <a:pPr algn="l"/>
            <a:r>
              <a:rPr lang="es-ES" sz="900" b="0">
                <a:solidFill>
                  <a:srgbClr val="6B7280"/>
                </a:solidFill>
                <a:latin typeface="Aptos"/>
              </a:rPr>
              <a:t>Sources used in dashboard: Spanish Ministry of Education, Comunidad de Madrid and INE public datasets.</a:t>
            </a:r>
          </a:p>
        </p:txBody>
      </p:sp>
      <p:sp>
        <p:nvSpPr>
          <p:cNvPr id="20" name="CuadroTexto 19">
            <a:extLst>
              <a:ext uri="{FF2B5EF4-FFF2-40B4-BE49-F238E27FC236}">
                <a16:creationId xmlns:a16="http://schemas.microsoft.com/office/drawing/2014/main" id="{26F33E71-00FA-20AC-F08E-001EE193281D}"/>
              </a:ext>
            </a:extLst>
          </p:cNvPr>
          <p:cNvSpPr txBox="1"/>
          <p:nvPr/>
        </p:nvSpPr>
        <p:spPr>
          <a:xfrm>
            <a:off x="1000000" y="5120000"/>
            <a:ext cx="3000000" cy="184666"/>
          </a:xfrm>
          <a:prstGeom prst="rect">
            <a:avLst/>
          </a:prstGeom>
          <a:noFill/>
        </p:spPr>
        <p:txBody>
          <a:bodyPr wrap="square" lIns="0" tIns="0" rIns="0" bIns="0">
            <a:spAutoFit/>
          </a:bodyPr>
          <a:lstStyle/>
          <a:p>
            <a:pPr algn="l"/>
            <a:r>
              <a:rPr lang="en-US" sz="1200" b="1" spc="200">
                <a:solidFill>
                  <a:srgbClr val="1F6F6B"/>
                </a:solidFill>
                <a:latin typeface="Aptos"/>
              </a:rPr>
              <a:t>So, what</a:t>
            </a:r>
          </a:p>
        </p:txBody>
      </p:sp>
      <p:sp>
        <p:nvSpPr>
          <p:cNvPr id="21" name="Accent Rule">
            <a:extLst>
              <a:ext uri="{C183D7F6-B498-43B3-948B-1728B52AA6E4}">
                <adec:decorative xmlns:adec="http://schemas.microsoft.com/office/drawing/2017/decorative" val="1"/>
              </a:ext>
            </a:extLst>
          </p:cNvPr>
          <p:cNvSpPr/>
          <p:nvPr/>
        </p:nvSpPr>
        <p:spPr>
          <a:xfrm>
            <a:off x="758952" y="4828032"/>
            <a:ext cx="685800" cy="45720"/>
          </a:xfrm>
          <a:prstGeom prst="rect">
            <a:avLst/>
          </a:prstGeom>
          <a:solidFill>
            <a:srgbClr val="C97855"/>
          </a:solidFill>
          <a:ln>
            <a:noFill/>
          </a:ln>
        </p:spPr>
        <p:txBody>
          <a:bodyPr/>
          <a:lstStyle/>
          <a:p>
            <a:endParaRPr lang="en-US"/>
          </a:p>
        </p:txBody>
      </p:sp>
    </p:spTree>
    <p:extLst>
      <p:ext uri="{BB962C8B-B14F-4D97-AF65-F5344CB8AC3E}">
        <p14:creationId xmlns:p14="http://schemas.microsoft.com/office/powerpoint/2010/main" val="298485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p:bldP spid="12" grpId="0"/>
      <p:bldP spid="13" grpId="0"/>
      <p:bldP spid="14" grpId="0"/>
      <p:bldP spid="15" grpId="0"/>
      <p:bldP spid="16" grpId="0"/>
      <p:bldP spid="17" grpId="0" animBg="1"/>
      <p:bldP spid="20" grpId="0"/>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914400" y="1005840"/>
            <a:ext cx="6400800" cy="230000"/>
          </a:xfrm>
          <a:prstGeom prst="rect">
            <a:avLst/>
          </a:prstGeom>
          <a:noFill/>
        </p:spPr>
        <p:txBody>
          <a:bodyPr wrap="square" lIns="0" tIns="0" rIns="0" bIns="0">
            <a:normAutofit/>
          </a:bodyPr>
          <a:lstStyle/>
          <a:p>
            <a:pPr algn="l"/>
            <a:r>
              <a:rPr lang="en-US" sz="1200" b="1" spc="300">
                <a:solidFill>
                  <a:srgbClr val="1F6F6B"/>
                </a:solidFill>
                <a:latin typeface="Aptos"/>
              </a:rPr>
              <a:t>THE MARKET IS ALREADY THERE</a:t>
            </a:r>
          </a:p>
        </p:txBody>
      </p:sp>
      <p:sp>
        <p:nvSpPr>
          <p:cNvPr id="3" name="Hero Number"/>
          <p:cNvSpPr txBox="1"/>
          <p:nvPr/>
        </p:nvSpPr>
        <p:spPr>
          <a:xfrm>
            <a:off x="914400" y="1417320"/>
            <a:ext cx="6400800" cy="1965960"/>
          </a:xfrm>
          <a:prstGeom prst="rect">
            <a:avLst/>
          </a:prstGeom>
          <a:noFill/>
        </p:spPr>
        <p:txBody>
          <a:bodyPr wrap="square" lIns="0" tIns="0" rIns="0" bIns="0" anchor="t">
            <a:normAutofit fontScale="92500" lnSpcReduction="20000"/>
          </a:bodyPr>
          <a:lstStyle/>
          <a:p>
            <a:pPr algn="l"/>
            <a:r>
              <a:rPr lang="en-US" sz="16000" b="1">
                <a:solidFill>
                  <a:srgbClr val="C97855"/>
                </a:solidFill>
                <a:latin typeface="Aptos"/>
              </a:rPr>
              <a:t>96%</a:t>
            </a:r>
          </a:p>
        </p:txBody>
      </p:sp>
      <p:sp>
        <p:nvSpPr>
          <p:cNvPr id="4" name="Hero Caption"/>
          <p:cNvSpPr txBox="1"/>
          <p:nvPr/>
        </p:nvSpPr>
        <p:spPr>
          <a:xfrm>
            <a:off x="914400" y="3474720"/>
            <a:ext cx="5486400" cy="800000"/>
          </a:xfrm>
          <a:prstGeom prst="rect">
            <a:avLst/>
          </a:prstGeom>
          <a:noFill/>
        </p:spPr>
        <p:txBody>
          <a:bodyPr wrap="square" lIns="0" tIns="0" rIns="0" bIns="0">
            <a:normAutofit/>
          </a:bodyPr>
          <a:lstStyle/>
          <a:p>
            <a:pPr algn="l"/>
            <a:r>
              <a:rPr lang="en-US" sz="1800" b="0" dirty="0">
                <a:solidFill>
                  <a:srgbClr val="222222"/>
                </a:solidFill>
                <a:latin typeface="Aptos"/>
              </a:rPr>
              <a:t>of children in Madrid are already in a</a:t>
            </a:r>
          </a:p>
          <a:p>
            <a:pPr algn="l"/>
            <a:r>
              <a:rPr lang="en-US" sz="1800" b="0" dirty="0">
                <a:solidFill>
                  <a:srgbClr val="222222"/>
                </a:solidFill>
                <a:latin typeface="Aptos"/>
              </a:rPr>
              <a:t> classroom at age 3.</a:t>
            </a:r>
          </a:p>
        </p:txBody>
      </p:sp>
      <p:sp>
        <p:nvSpPr>
          <p:cNvPr id="5" name="Accent Rule">
            <a:extLst>
              <a:ext uri="{C183D7F6-B498-43B3-948B-1728B52AA6E4}">
                <adec:decorative xmlns:adec="http://schemas.microsoft.com/office/drawing/2017/decorative" val="1"/>
              </a:ext>
            </a:extLst>
          </p:cNvPr>
          <p:cNvSpPr/>
          <p:nvPr/>
        </p:nvSpPr>
        <p:spPr>
          <a:xfrm>
            <a:off x="7772400" y="1417320"/>
            <a:ext cx="45720" cy="3017520"/>
          </a:xfrm>
          <a:prstGeom prst="rect">
            <a:avLst/>
          </a:prstGeom>
          <a:solidFill>
            <a:srgbClr val="DCE1E2"/>
          </a:solidFill>
          <a:ln>
            <a:noFill/>
          </a:ln>
        </p:spPr>
        <p:txBody>
          <a:bodyPr/>
          <a:lstStyle/>
          <a:p>
            <a:endParaRPr lang="en-US"/>
          </a:p>
        </p:txBody>
      </p:sp>
      <p:sp>
        <p:nvSpPr>
          <p:cNvPr id="6" name="Statement"/>
          <p:cNvSpPr txBox="1"/>
          <p:nvPr/>
        </p:nvSpPr>
        <p:spPr>
          <a:xfrm>
            <a:off x="8321040" y="1417320"/>
            <a:ext cx="2971800" cy="3017520"/>
          </a:xfrm>
          <a:prstGeom prst="rect">
            <a:avLst/>
          </a:prstGeom>
          <a:noFill/>
        </p:spPr>
        <p:txBody>
          <a:bodyPr wrap="square" lIns="0" tIns="0" rIns="0" bIns="0" anchor="ctr">
            <a:normAutofit/>
          </a:bodyPr>
          <a:lstStyle/>
          <a:p>
            <a:pPr algn="l"/>
            <a:r>
              <a:rPr lang="en-US" sz="2400" b="1">
                <a:solidFill>
                  <a:srgbClr val="222222"/>
                </a:solidFill>
                <a:latin typeface="Aptos"/>
              </a:rPr>
              <a:t>The classroom is already full.</a:t>
            </a:r>
          </a:p>
          <a:p>
            <a:pPr algn="l">
              <a:spcBef>
                <a:spcPts val="600"/>
              </a:spcBef>
            </a:pPr>
            <a:r>
              <a:rPr lang="en-US" sz="2400" b="1">
                <a:solidFill>
                  <a:srgbClr val="1F6F6B"/>
                </a:solidFill>
                <a:latin typeface="Aptos"/>
              </a:rPr>
              <a:t>What we still do not know is whether anyone pays for the routine.</a:t>
            </a:r>
          </a:p>
        </p:txBody>
      </p:sp>
      <p:sp>
        <p:nvSpPr>
          <p:cNvPr id="7" name="Closing Line"/>
          <p:cNvSpPr txBox="1"/>
          <p:nvPr/>
        </p:nvSpPr>
        <p:spPr>
          <a:xfrm>
            <a:off x="914400" y="4937760"/>
            <a:ext cx="10378440" cy="480000"/>
          </a:xfrm>
          <a:prstGeom prst="rect">
            <a:avLst/>
          </a:prstGeom>
          <a:noFill/>
        </p:spPr>
        <p:txBody>
          <a:bodyPr wrap="square" lIns="0" tIns="0" rIns="0" bIns="0">
            <a:normAutofit/>
          </a:bodyPr>
          <a:lstStyle/>
          <a:p>
            <a:pPr algn="l"/>
            <a:r>
              <a:rPr lang="en-US" sz="1500" dirty="0">
                <a:solidFill>
                  <a:srgbClr val="6B7280"/>
                </a:solidFill>
                <a:latin typeface="Aptos"/>
              </a:rPr>
              <a:t>That gap is what the 8–9 week validation phase is built to close.</a:t>
            </a:r>
          </a:p>
        </p:txBody>
      </p:sp>
      <p:sp>
        <p:nvSpPr>
          <p:cNvPr id="8" name="Source"/>
          <p:cNvSpPr txBox="1"/>
          <p:nvPr/>
        </p:nvSpPr>
        <p:spPr>
          <a:xfrm>
            <a:off x="914400" y="5600700"/>
            <a:ext cx="10378440" cy="175433"/>
          </a:xfrm>
          <a:prstGeom prst="rect">
            <a:avLst/>
          </a:prstGeom>
          <a:noFill/>
        </p:spPr>
        <p:txBody>
          <a:bodyPr wrap="square" lIns="0" tIns="0" rIns="0" bIns="0">
            <a:spAutoFit/>
          </a:bodyPr>
          <a:lstStyle/>
          <a:p>
            <a:pPr algn="l"/>
            <a:r>
              <a:rPr lang="en-US" sz="850">
                <a:solidFill>
                  <a:srgbClr val="9AA1A8"/>
                </a:solidFill>
                <a:latin typeface="Aptos"/>
              </a:rPr>
              <a:t>Source: Spanish Ministry of Education and INE public datasets. Full metric set in appendix.</a:t>
            </a:r>
          </a:p>
        </p:txBody>
      </p:sp>
      <p:sp>
        <p:nvSpPr>
          <p:cNvPr id="9" name="Footer"/>
          <p:cNvSpPr txBox="1"/>
          <p:nvPr/>
        </p:nvSpPr>
        <p:spPr>
          <a:xfrm>
            <a:off x="530352" y="6537960"/>
            <a:ext cx="5943600" cy="201168"/>
          </a:xfrm>
          <a:prstGeom prst="rect">
            <a:avLst/>
          </a:prstGeom>
          <a:noFill/>
        </p:spPr>
        <p:txBody>
          <a:bodyPr wrap="square" lIns="27432" tIns="18288" rIns="27432" bIns="18288">
            <a:spAutoFit/>
          </a:bodyPr>
          <a:lstStyle/>
          <a:p>
            <a:pPr algn="l"/>
            <a:r>
              <a:rPr sz="850" b="0">
                <a:solidFill>
                  <a:srgbClr val="6B7280"/>
                </a:solidFill>
                <a:latin typeface="Aptos"/>
              </a:rPr>
              <a:t>KinderFlow - Early-stage commercial validation</a:t>
            </a:r>
          </a:p>
        </p:txBody>
      </p:sp>
      <p:sp>
        <p:nvSpPr>
          <p:cNvPr id="10" name="Page Number"/>
          <p:cNvSpPr txBox="1"/>
          <p:nvPr/>
        </p:nvSpPr>
        <p:spPr>
          <a:xfrm>
            <a:off x="11292840" y="6528816"/>
            <a:ext cx="594360" cy="201168"/>
          </a:xfrm>
          <a:prstGeom prst="rect">
            <a:avLst/>
          </a:prstGeom>
          <a:noFill/>
        </p:spPr>
        <p:txBody>
          <a:bodyPr wrap="square" lIns="27432" tIns="18288" rIns="27432" bIns="18288">
            <a:spAutoFit/>
          </a:bodyPr>
          <a:lstStyle/>
          <a:p>
            <a:pPr algn="r"/>
            <a:r>
              <a:rPr sz="850">
                <a:solidFill>
                  <a:srgbClr val="6B7280"/>
                </a:solidFill>
                <a:latin typeface="Aptos"/>
              </a:rPr>
              <a:t>6</a:t>
            </a:r>
          </a:p>
        </p:txBody>
      </p:sp>
    </p:spTree>
    <p:extLst>
      <p:ext uri="{BB962C8B-B14F-4D97-AF65-F5344CB8AC3E}">
        <p14:creationId xmlns:p14="http://schemas.microsoft.com/office/powerpoint/2010/main" val="3874089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a:solidFill>
                  <a:srgbClr val="2E2E2E"/>
                </a:solidFill>
                <a:latin typeface="Aptos Display" pitchFamily="34" charset="0"/>
                <a:ea typeface="Aptos Display" pitchFamily="34" charset="-122"/>
                <a:cs typeface="Aptos Display" pitchFamily="34" charset="-120"/>
              </a:rPr>
              <a:t>The strongest first use case to validate</a:t>
            </a:r>
            <a:endParaRPr lang="en-US" sz="2100"/>
          </a:p>
        </p:txBody>
      </p:sp>
      <p:sp>
        <p:nvSpPr>
          <p:cNvPr id="3" name="Primary Name"/>
          <p:cNvSpPr/>
          <p:nvPr/>
        </p:nvSpPr>
        <p:spPr>
          <a:xfrm>
            <a:off x="566928" y="1549390"/>
            <a:ext cx="5700000" cy="620000"/>
          </a:xfrm>
          <a:prstGeom prst="rect">
            <a:avLst/>
          </a:prstGeom>
          <a:noFill/>
          <a:ln/>
        </p:spPr>
        <p:txBody>
          <a:bodyPr wrap="square" lIns="0" tIns="0" rIns="0" bIns="0" rtlCol="0" anchor="ctr"/>
          <a:lstStyle/>
          <a:p>
            <a:pPr marL="0" indent="0">
              <a:buNone/>
            </a:pPr>
            <a:r>
              <a:rPr lang="en-US" sz="3200" b="1">
                <a:solidFill>
                  <a:srgbClr val="1E5B58"/>
                </a:solidFill>
                <a:latin typeface="Aptos Display" pitchFamily="34" charset="0"/>
              </a:rPr>
              <a:t>Kinder Signs</a:t>
            </a:r>
            <a:endParaRPr lang="en-US" sz="3200"/>
          </a:p>
        </p:txBody>
      </p:sp>
      <p:sp>
        <p:nvSpPr>
          <p:cNvPr id="4" name="Primary Description"/>
          <p:cNvSpPr/>
          <p:nvPr/>
        </p:nvSpPr>
        <p:spPr>
          <a:xfrm>
            <a:off x="566928" y="2229390"/>
            <a:ext cx="5500000" cy="500000"/>
          </a:xfrm>
          <a:prstGeom prst="rect">
            <a:avLst/>
          </a:prstGeom>
          <a:noFill/>
          <a:ln/>
        </p:spPr>
        <p:txBody>
          <a:bodyPr wrap="square" lIns="0" tIns="0" rIns="0" bIns="0" rtlCol="0" anchor="t">
            <a:normAutofit/>
          </a:bodyPr>
          <a:lstStyle/>
          <a:p>
            <a:pPr marL="0" indent="0">
              <a:buNone/>
            </a:pPr>
            <a:r>
              <a:rPr lang="en-US" sz="1400">
                <a:solidFill>
                  <a:srgbClr val="2E2E2E"/>
                </a:solidFill>
              </a:rPr>
              <a:t>Trusted early communication across school and home.</a:t>
            </a:r>
            <a:endParaRPr lang="en-US" sz="1400"/>
          </a:p>
        </p:txBody>
      </p:sp>
      <p:sp>
        <p:nvSpPr>
          <p:cNvPr id="5" name="Primary Rule"/>
          <p:cNvSpPr/>
          <p:nvPr/>
        </p:nvSpPr>
        <p:spPr>
          <a:xfrm>
            <a:off x="566928" y="2899390"/>
            <a:ext cx="600000" cy="45000"/>
          </a:xfrm>
          <a:prstGeom prst="rect">
            <a:avLst/>
          </a:prstGeom>
          <a:solidFill>
            <a:srgbClr val="D98B5F"/>
          </a:solidFill>
          <a:ln>
            <a:noFill/>
          </a:ln>
        </p:spPr>
        <p:txBody>
          <a:bodyPr/>
          <a:lstStyle/>
          <a:p>
            <a:endParaRPr lang="en-US"/>
          </a:p>
        </p:txBody>
      </p:sp>
      <p:sp>
        <p:nvSpPr>
          <p:cNvPr id="6" name="Primary Detail"/>
          <p:cNvSpPr/>
          <p:nvPr/>
        </p:nvSpPr>
        <p:spPr>
          <a:xfrm>
            <a:off x="566928" y="3099390"/>
            <a:ext cx="5500000" cy="1700000"/>
          </a:xfrm>
          <a:prstGeom prst="rect">
            <a:avLst/>
          </a:prstGeom>
          <a:noFill/>
          <a:ln/>
        </p:spPr>
        <p:txBody>
          <a:bodyPr wrap="square" lIns="0" tIns="0" rIns="0" bIns="0" rtlCol="0" anchor="t">
            <a:normAutofit/>
          </a:bodyPr>
          <a:lstStyle/>
          <a:p>
            <a:pPr marL="0" indent="0">
              <a:buNone/>
            </a:pPr>
            <a:r>
              <a:rPr lang="en-US" sz="900" b="1" spc="200">
                <a:solidFill>
                  <a:srgbClr val="D98B5F"/>
                </a:solidFill>
              </a:rPr>
              <a:t>Why it matters</a:t>
            </a:r>
          </a:p>
          <a:p>
            <a:pPr marL="0" indent="0">
              <a:spcBef>
                <a:spcPts val="300"/>
              </a:spcBef>
              <a:buNone/>
            </a:pPr>
            <a:r>
              <a:rPr lang="en-US" sz="1200">
                <a:solidFill>
                  <a:srgbClr val="2E2E2E"/>
                </a:solidFill>
              </a:rPr>
              <a:t>Clear differentiation and a real Computer Vision feasibility test.</a:t>
            </a:r>
          </a:p>
          <a:p>
            <a:pPr marL="0" indent="0">
              <a:spcBef>
                <a:spcPts val="1000"/>
              </a:spcBef>
              <a:buNone/>
            </a:pPr>
            <a:r>
              <a:rPr lang="en-US" sz="900" b="1" spc="200">
                <a:solidFill>
                  <a:srgbClr val="D98B5F"/>
                </a:solidFill>
              </a:rPr>
              <a:t>Main risk</a:t>
            </a:r>
          </a:p>
          <a:p>
            <a:pPr marL="0" indent="0">
              <a:spcBef>
                <a:spcPts val="300"/>
              </a:spcBef>
              <a:buNone/>
            </a:pPr>
            <a:r>
              <a:rPr lang="en-US" sz="1200">
                <a:solidFill>
                  <a:srgbClr val="2E2E2E"/>
                </a:solidFill>
              </a:rPr>
              <a:t>Demand and willingness to pay are not proven yet.</a:t>
            </a:r>
            <a:endParaRPr lang="en-US" sz="1200"/>
          </a:p>
        </p:txBody>
      </p:sp>
      <p:sp>
        <p:nvSpPr>
          <p:cNvPr id="7" name="Divider"/>
          <p:cNvSpPr/>
          <p:nvPr/>
        </p:nvSpPr>
        <p:spPr>
          <a:xfrm>
            <a:off x="6900000" y="1470000"/>
            <a:ext cx="12000" cy="3230000"/>
          </a:xfrm>
          <a:prstGeom prst="rect">
            <a:avLst/>
          </a:prstGeom>
          <a:solidFill>
            <a:srgbClr val="E3D6C8"/>
          </a:solidFill>
          <a:ln>
            <a:noFill/>
          </a:ln>
        </p:spPr>
        <p:txBody>
          <a:bodyPr/>
          <a:lstStyle/>
          <a:p>
            <a:endParaRPr lang="en-US"/>
          </a:p>
        </p:txBody>
      </p:sp>
      <p:sp>
        <p:nvSpPr>
          <p:cNvPr id="8" name="Secondary 1"/>
          <p:cNvSpPr/>
          <p:nvPr/>
        </p:nvSpPr>
        <p:spPr>
          <a:xfrm>
            <a:off x="7350000" y="1470000"/>
            <a:ext cx="4100000" cy="1450000"/>
          </a:xfrm>
          <a:prstGeom prst="rect">
            <a:avLst/>
          </a:prstGeom>
          <a:noFill/>
          <a:ln/>
        </p:spPr>
        <p:txBody>
          <a:bodyPr wrap="square" lIns="0" tIns="0" rIns="0" bIns="0" rtlCol="0" anchor="t">
            <a:normAutofit/>
          </a:bodyPr>
          <a:lstStyle/>
          <a:p>
            <a:pPr marL="0" indent="0">
              <a:buNone/>
            </a:pPr>
            <a:r>
              <a:rPr lang="en-US" sz="1300" b="1">
                <a:solidFill>
                  <a:srgbClr val="7A7A7A"/>
                </a:solidFill>
                <a:latin typeface="Aptos Display" pitchFamily="34" charset="0"/>
              </a:rPr>
              <a:t>Kinder Daily</a:t>
            </a:r>
          </a:p>
          <a:p>
            <a:pPr marL="0" indent="0">
              <a:spcBef>
                <a:spcPts val="300"/>
              </a:spcBef>
              <a:buNone/>
            </a:pPr>
            <a:r>
              <a:rPr lang="en-US" sz="1000">
                <a:solidFill>
                  <a:srgbClr val="8A8A8A"/>
                </a:solidFill>
              </a:rPr>
              <a:t>School-family information turned into useful shared context.</a:t>
            </a:r>
          </a:p>
          <a:p>
            <a:pPr marL="0" indent="0">
              <a:spcBef>
                <a:spcPts val="600"/>
              </a:spcBef>
              <a:buNone/>
            </a:pPr>
            <a:r>
              <a:rPr lang="en-US" sz="800" b="1" spc="200">
                <a:solidFill>
                  <a:srgbClr val="A89684"/>
                </a:solidFill>
              </a:rPr>
              <a:t>Why it matters</a:t>
            </a:r>
          </a:p>
          <a:p>
            <a:pPr marL="0" indent="0">
              <a:spcBef>
                <a:spcPts val="200"/>
              </a:spcBef>
              <a:buNone/>
            </a:pPr>
            <a:r>
              <a:rPr lang="en-US" sz="950">
                <a:solidFill>
                  <a:srgbClr val="8A8A8A"/>
                </a:solidFill>
              </a:rPr>
              <a:t>Schools already use and pay for communication tools.</a:t>
            </a:r>
          </a:p>
          <a:p>
            <a:pPr marL="0" indent="0">
              <a:spcBef>
                <a:spcPts val="500"/>
              </a:spcBef>
              <a:buNone/>
            </a:pPr>
            <a:r>
              <a:rPr lang="en-US" sz="800" b="1" spc="200">
                <a:solidFill>
                  <a:srgbClr val="A89684"/>
                </a:solidFill>
              </a:rPr>
              <a:t>Main risk</a:t>
            </a:r>
          </a:p>
          <a:p>
            <a:pPr marL="0" indent="0">
              <a:spcBef>
                <a:spcPts val="200"/>
              </a:spcBef>
              <a:buNone/>
            </a:pPr>
            <a:r>
              <a:rPr lang="en-US" sz="950">
                <a:solidFill>
                  <a:srgbClr val="8A8A8A"/>
                </a:solidFill>
              </a:rPr>
              <a:t>The market is crowded and switching costs are high.</a:t>
            </a:r>
            <a:endParaRPr lang="en-US" sz="950"/>
          </a:p>
        </p:txBody>
      </p:sp>
      <p:sp>
        <p:nvSpPr>
          <p:cNvPr id="9" name="Secondary 2"/>
          <p:cNvSpPr/>
          <p:nvPr/>
        </p:nvSpPr>
        <p:spPr>
          <a:xfrm>
            <a:off x="7350000" y="3150000"/>
            <a:ext cx="4100000" cy="1450000"/>
          </a:xfrm>
          <a:prstGeom prst="rect">
            <a:avLst/>
          </a:prstGeom>
          <a:noFill/>
          <a:ln/>
        </p:spPr>
        <p:txBody>
          <a:bodyPr wrap="square" lIns="0" tIns="0" rIns="0" bIns="0" rtlCol="0" anchor="t">
            <a:normAutofit/>
          </a:bodyPr>
          <a:lstStyle/>
          <a:p>
            <a:pPr marL="0" indent="0">
              <a:buNone/>
            </a:pPr>
            <a:r>
              <a:rPr lang="en-US" sz="1300" b="1">
                <a:solidFill>
                  <a:srgbClr val="7A7A7A"/>
                </a:solidFill>
                <a:latin typeface="Aptos Display" pitchFamily="34" charset="0"/>
              </a:rPr>
              <a:t>Kinder Food</a:t>
            </a:r>
          </a:p>
          <a:p>
            <a:pPr marL="0" indent="0">
              <a:spcBef>
                <a:spcPts val="300"/>
              </a:spcBef>
              <a:buNone/>
            </a:pPr>
            <a:r>
              <a:rPr lang="en-US" sz="1000">
                <a:solidFill>
                  <a:srgbClr val="8A8A8A"/>
                </a:solidFill>
              </a:rPr>
              <a:t>School meal context connected to useful family guidance at home.</a:t>
            </a:r>
          </a:p>
          <a:p>
            <a:pPr marL="0" indent="0">
              <a:spcBef>
                <a:spcPts val="600"/>
              </a:spcBef>
              <a:buNone/>
            </a:pPr>
            <a:r>
              <a:rPr lang="en-US" sz="800" b="1" spc="200">
                <a:solidFill>
                  <a:srgbClr val="A89684"/>
                </a:solidFill>
              </a:rPr>
              <a:t>Why it matters</a:t>
            </a:r>
          </a:p>
          <a:p>
            <a:pPr marL="0" indent="0">
              <a:spcBef>
                <a:spcPts val="200"/>
              </a:spcBef>
              <a:buNone/>
            </a:pPr>
            <a:r>
              <a:rPr lang="en-US" sz="950">
                <a:solidFill>
                  <a:srgbClr val="8A8A8A"/>
                </a:solidFill>
              </a:rPr>
              <a:t>Strong school-home continuity logic.</a:t>
            </a:r>
          </a:p>
          <a:p>
            <a:pPr marL="0" indent="0">
              <a:spcBef>
                <a:spcPts val="500"/>
              </a:spcBef>
              <a:buNone/>
            </a:pPr>
            <a:r>
              <a:rPr lang="en-US" sz="800" b="1" spc="200">
                <a:solidFill>
                  <a:srgbClr val="A89684"/>
                </a:solidFill>
              </a:rPr>
              <a:t>Main risk</a:t>
            </a:r>
          </a:p>
          <a:p>
            <a:pPr marL="0" indent="0">
              <a:spcBef>
                <a:spcPts val="200"/>
              </a:spcBef>
              <a:buNone/>
            </a:pPr>
            <a:r>
              <a:rPr lang="en-US" sz="950">
                <a:solidFill>
                  <a:srgbClr val="8A8A8A"/>
                </a:solidFill>
              </a:rPr>
              <a:t>More professional governance and specialist competition.</a:t>
            </a:r>
            <a:endParaRPr lang="en-US" sz="950"/>
          </a:p>
        </p:txBody>
      </p:sp>
      <p:sp>
        <p:nvSpPr>
          <p:cNvPr id="80" name="Closing Accent"/>
          <p:cNvSpPr/>
          <p:nvPr/>
        </p:nvSpPr>
        <p:spPr>
          <a:xfrm>
            <a:off x="566928" y="5200000"/>
            <a:ext cx="700000" cy="45000"/>
          </a:xfrm>
          <a:prstGeom prst="rect">
            <a:avLst/>
          </a:prstGeom>
          <a:solidFill>
            <a:srgbClr val="D98B5F"/>
          </a:solidFill>
          <a:ln>
            <a:noFill/>
          </a:ln>
        </p:spPr>
        <p:txBody>
          <a:bodyPr/>
          <a:lstStyle/>
          <a:p>
            <a:endParaRPr lang="en-US"/>
          </a:p>
        </p:txBody>
      </p:sp>
      <p:sp>
        <p:nvSpPr>
          <p:cNvPr id="12" name="Text 10"/>
          <p:cNvSpPr/>
          <p:nvPr/>
        </p:nvSpPr>
        <p:spPr>
          <a:xfrm>
            <a:off x="566928" y="5420000"/>
            <a:ext cx="10500000" cy="620000"/>
          </a:xfrm>
          <a:prstGeom prst="rect">
            <a:avLst/>
          </a:prstGeom>
          <a:noFill/>
          <a:ln/>
        </p:spPr>
        <p:txBody>
          <a:bodyPr wrap="square" lIns="0" tIns="0" rIns="0" bIns="0" rtlCol="0" anchor="ctr">
            <a:normAutofit/>
          </a:bodyPr>
          <a:lstStyle/>
          <a:p>
            <a:pPr marL="0" indent="0" algn="l">
              <a:buNone/>
            </a:pPr>
            <a:r>
              <a:rPr lang="en-US" sz="1800" b="1">
                <a:solidFill>
                  <a:srgbClr val="1E5B58"/>
                </a:solidFill>
                <a:latin typeface="Aptos Display" pitchFamily="34" charset="0"/>
              </a:rPr>
              <a:t>Not commercially proven yet. It is the strongest first commercial validation wedge.</a:t>
            </a:r>
            <a:endParaRPr lang="en-US" sz="1800"/>
          </a:p>
        </p:txBody>
      </p:sp>
      <p:sp>
        <p:nvSpPr>
          <p:cNvPr id="13" name="Text 11"/>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a:solidFill>
                  <a:srgbClr val="6F6F6F"/>
                </a:solidFill>
              </a:rPr>
              <a:t>KinderFlow - Early-stage commercial validation</a:t>
            </a:r>
            <a:endParaRPr lang="en-US" sz="110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7</a:t>
            </a:fld>
            <a:endParaRPr lang="en-US"/>
          </a:p>
        </p:txBody>
      </p:sp>
    </p:spTree>
    <p:extLst>
      <p:ext uri="{BB962C8B-B14F-4D97-AF65-F5344CB8AC3E}">
        <p14:creationId xmlns:p14="http://schemas.microsoft.com/office/powerpoint/2010/main" val="328875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0"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AF7EF"/>
        </a:solidFill>
        <a:effectLst/>
      </p:bgPr>
    </p:bg>
    <p:spTree>
      <p:nvGrpSpPr>
        <p:cNvPr id="1" name=""/>
        <p:cNvGrpSpPr/>
        <p:nvPr/>
      </p:nvGrpSpPr>
      <p:grpSpPr>
        <a:xfrm>
          <a:off x="0" y="0"/>
          <a:ext cx="0" cy="0"/>
          <a:chOff x="0" y="0"/>
          <a:chExt cx="0" cy="0"/>
        </a:xfrm>
      </p:grpSpPr>
      <p:sp>
        <p:nvSpPr>
          <p:cNvPr id="2" name="Cover Panel"/>
          <p:cNvSpPr/>
          <p:nvPr/>
        </p:nvSpPr>
        <p:spPr>
          <a:xfrm>
            <a:off x="0" y="0"/>
            <a:ext cx="12192000" cy="6858000"/>
          </a:xfrm>
          <a:prstGeom prst="rect">
            <a:avLst/>
          </a:prstGeom>
          <a:gradFill flip="none" rotWithShape="1">
            <a:gsLst>
              <a:gs pos="0">
                <a:srgbClr val="1E5B58"/>
              </a:gs>
              <a:gs pos="100000">
                <a:srgbClr val="2F7F7B"/>
              </a:gs>
            </a:gsLst>
            <a:lin ang="2700000" scaled="0"/>
          </a:gradFill>
          <a:ln>
            <a:noFill/>
          </a:ln>
        </p:spPr>
        <p:txBody>
          <a:bodyPr/>
          <a:lstStyle/>
          <a:p>
            <a:endParaRPr lang="en-US"/>
          </a:p>
        </p:txBody>
      </p:sp>
      <p:sp>
        <p:nvSpPr>
          <p:cNvPr id="21" name="Accent Rule"/>
          <p:cNvSpPr/>
          <p:nvPr/>
        </p:nvSpPr>
        <p:spPr>
          <a:xfrm>
            <a:off x="1200000" y="2750000"/>
            <a:ext cx="1100000" cy="60000"/>
          </a:xfrm>
          <a:prstGeom prst="rect">
            <a:avLst/>
          </a:prstGeom>
          <a:solidFill>
            <a:srgbClr val="D98B5F"/>
          </a:solidFill>
          <a:ln>
            <a:noFill/>
          </a:ln>
        </p:spPr>
        <p:txBody>
          <a:bodyPr/>
          <a:lstStyle/>
          <a:p>
            <a:endParaRPr lang="en-US"/>
          </a:p>
        </p:txBody>
      </p:sp>
      <p:sp>
        <p:nvSpPr>
          <p:cNvPr id="3" name="Text 1"/>
          <p:cNvSpPr/>
          <p:nvPr/>
        </p:nvSpPr>
        <p:spPr>
          <a:xfrm>
            <a:off x="1200000" y="3050000"/>
            <a:ext cx="8400000" cy="2000000"/>
          </a:xfrm>
          <a:prstGeom prst="rect">
            <a:avLst/>
          </a:prstGeom>
          <a:noFill/>
          <a:ln/>
        </p:spPr>
        <p:txBody>
          <a:bodyPr wrap="square" lIns="0" tIns="0" rIns="0" bIns="0" rtlCol="0" anchor="t">
            <a:normAutofit/>
          </a:bodyPr>
          <a:lstStyle/>
          <a:p>
            <a:pPr marL="0" indent="0">
              <a:buNone/>
            </a:pPr>
            <a:r>
              <a:rPr lang="en-US" sz="4000" b="1">
                <a:solidFill>
                  <a:srgbClr val="FFFFFF"/>
                </a:solidFill>
                <a:latin typeface="Aptos Display" pitchFamily="34" charset="0"/>
                <a:ea typeface="Aptos Display" pitchFamily="34" charset="-122"/>
                <a:cs typeface="Aptos Display" pitchFamily="34" charset="-120"/>
              </a:rPr>
              <a:t>Spanish sign content already exists. That is not the opportunity.</a:t>
            </a:r>
            <a:endParaRPr lang="en-US" sz="4000"/>
          </a:p>
        </p:txBody>
      </p:sp>
      <p:sp>
        <p:nvSpPr>
          <p:cNvPr id="8" name="Text 6"/>
          <p:cNvSpPr/>
          <p:nvPr/>
        </p:nvSpPr>
        <p:spPr>
          <a:xfrm>
            <a:off x="914400" y="6420000"/>
            <a:ext cx="5200000" cy="201168"/>
          </a:xfrm>
          <a:prstGeom prst="rect">
            <a:avLst/>
          </a:prstGeom>
          <a:noFill/>
          <a:ln/>
        </p:spPr>
        <p:txBody>
          <a:bodyPr wrap="square" lIns="0" tIns="0" rIns="0" bIns="0" rtlCol="0" anchor="ctr"/>
          <a:lstStyle/>
          <a:p>
            <a:pPr marL="0" indent="0">
              <a:buNone/>
            </a:pPr>
            <a:r>
              <a:rPr lang="en-US" sz="1100" err="1">
                <a:solidFill>
                  <a:srgbClr val="9FC4C1"/>
                </a:solidFill>
              </a:rPr>
              <a:t>KinderFlow</a:t>
            </a:r>
            <a:r>
              <a:rPr lang="en-US" sz="1100">
                <a:solidFill>
                  <a:srgbClr val="9FC4C1"/>
                </a:solidFill>
              </a:rPr>
              <a:t> - Early-stage commercial validation</a:t>
            </a:r>
            <a:endParaRPr lang="en-US" sz="110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a:solidFill>
                  <a:srgbClr val="2E2E2E"/>
                </a:solidFill>
                <a:latin typeface="Aptos Display" pitchFamily="34" charset="0"/>
              </a:rPr>
              <a:t>The product hypothesis is school-home continuity</a:t>
            </a:r>
            <a:endParaRPr lang="en-US" sz="2100"/>
          </a:p>
        </p:txBody>
      </p:sp>
      <p:sp>
        <p:nvSpPr>
          <p:cNvPr id="10" name="Journey Line"/>
          <p:cNvSpPr/>
          <p:nvPr/>
        </p:nvSpPr>
        <p:spPr>
          <a:xfrm>
            <a:off x="616928" y="1250000"/>
            <a:ext cx="7633072" cy="10000"/>
          </a:xfrm>
          <a:prstGeom prst="rect">
            <a:avLst/>
          </a:prstGeom>
          <a:solidFill>
            <a:srgbClr val="E3D6C8"/>
          </a:solidFill>
          <a:ln>
            <a:noFill/>
          </a:ln>
        </p:spPr>
        <p:txBody>
          <a:bodyPr/>
          <a:lstStyle/>
          <a:p>
            <a:endParaRPr lang="en-US"/>
          </a:p>
        </p:txBody>
      </p:sp>
      <p:sp>
        <p:nvSpPr>
          <p:cNvPr id="11" name="Step Dot 1"/>
          <p:cNvSpPr/>
          <p:nvPr/>
        </p:nvSpPr>
        <p:spPr>
          <a:xfrm>
            <a:off x="566928" y="1205000"/>
            <a:ext cx="100000" cy="100000"/>
          </a:xfrm>
          <a:prstGeom prst="ellipse">
            <a:avLst/>
          </a:prstGeom>
          <a:solidFill>
            <a:srgbClr val="D98B5F"/>
          </a:solidFill>
          <a:ln>
            <a:noFill/>
          </a:ln>
        </p:spPr>
        <p:txBody>
          <a:bodyPr/>
          <a:lstStyle/>
          <a:p>
            <a:endParaRPr lang="en-US"/>
          </a:p>
        </p:txBody>
      </p:sp>
      <p:sp>
        <p:nvSpPr>
          <p:cNvPr id="12" name="Step Dot 2"/>
          <p:cNvSpPr/>
          <p:nvPr/>
        </p:nvSpPr>
        <p:spPr>
          <a:xfrm>
            <a:off x="4400000" y="1205000"/>
            <a:ext cx="100000" cy="100000"/>
          </a:xfrm>
          <a:prstGeom prst="ellipse">
            <a:avLst/>
          </a:prstGeom>
          <a:solidFill>
            <a:srgbClr val="D98B5F"/>
          </a:solidFill>
          <a:ln>
            <a:noFill/>
          </a:ln>
        </p:spPr>
        <p:txBody>
          <a:bodyPr/>
          <a:lstStyle/>
          <a:p>
            <a:endParaRPr lang="en-US"/>
          </a:p>
        </p:txBody>
      </p:sp>
      <p:sp>
        <p:nvSpPr>
          <p:cNvPr id="13" name="Step Dot 3"/>
          <p:cNvSpPr/>
          <p:nvPr/>
        </p:nvSpPr>
        <p:spPr>
          <a:xfrm>
            <a:off x="8165000" y="1170000"/>
            <a:ext cx="170000" cy="170000"/>
          </a:xfrm>
          <a:prstGeom prst="ellipse">
            <a:avLst/>
          </a:prstGeom>
          <a:solidFill>
            <a:srgbClr val="1E5B58"/>
          </a:solidFill>
          <a:ln>
            <a:noFill/>
          </a:ln>
        </p:spPr>
        <p:txBody>
          <a:bodyPr/>
          <a:lstStyle/>
          <a:p>
            <a:endParaRPr lang="en-US"/>
          </a:p>
        </p:txBody>
      </p:sp>
      <p:sp>
        <p:nvSpPr>
          <p:cNvPr id="14" name="Step 1"/>
          <p:cNvSpPr/>
          <p:nvPr/>
        </p:nvSpPr>
        <p:spPr>
          <a:xfrm>
            <a:off x="566928" y="1390000"/>
            <a:ext cx="3500000" cy="330000"/>
          </a:xfrm>
          <a:prstGeom prst="rect">
            <a:avLst/>
          </a:prstGeom>
          <a:noFill/>
          <a:ln/>
        </p:spPr>
        <p:txBody>
          <a:bodyPr wrap="square" lIns="0" tIns="0" rIns="0" bIns="0" rtlCol="0" anchor="t">
            <a:normAutofit/>
          </a:bodyPr>
          <a:lstStyle/>
          <a:p>
            <a:pPr marL="0" indent="0">
              <a:buNone/>
            </a:pPr>
            <a:r>
              <a:rPr lang="en-US" sz="1100">
                <a:solidFill>
                  <a:srgbClr val="6F6F6F"/>
                </a:solidFill>
              </a:rPr>
              <a:t>The school teaches a sign that week</a:t>
            </a:r>
            <a:endParaRPr lang="en-US" sz="1100"/>
          </a:p>
        </p:txBody>
      </p:sp>
      <p:sp>
        <p:nvSpPr>
          <p:cNvPr id="15" name="Step 2"/>
          <p:cNvSpPr/>
          <p:nvPr/>
        </p:nvSpPr>
        <p:spPr>
          <a:xfrm>
            <a:off x="4400000" y="1390000"/>
            <a:ext cx="3500000" cy="330000"/>
          </a:xfrm>
          <a:prstGeom prst="rect">
            <a:avLst/>
          </a:prstGeom>
          <a:noFill/>
          <a:ln/>
        </p:spPr>
        <p:txBody>
          <a:bodyPr wrap="square" lIns="0" tIns="0" rIns="0" bIns="0" rtlCol="0" anchor="t">
            <a:normAutofit/>
          </a:bodyPr>
          <a:lstStyle/>
          <a:p>
            <a:pPr marL="0" indent="0">
              <a:buNone/>
            </a:pPr>
            <a:r>
              <a:rPr lang="en-US" sz="1100">
                <a:solidFill>
                  <a:srgbClr val="6F6F6F"/>
                </a:solidFill>
              </a:rPr>
              <a:t>Family receives short guidance</a:t>
            </a:r>
            <a:endParaRPr lang="en-US" sz="1100"/>
          </a:p>
        </p:txBody>
      </p:sp>
      <p:sp>
        <p:nvSpPr>
          <p:cNvPr id="16" name="Step 3"/>
          <p:cNvSpPr/>
          <p:nvPr/>
        </p:nvSpPr>
        <p:spPr>
          <a:xfrm>
            <a:off x="8200000" y="1430000"/>
            <a:ext cx="3425072" cy="400000"/>
          </a:xfrm>
          <a:prstGeom prst="rect">
            <a:avLst/>
          </a:prstGeom>
          <a:noFill/>
          <a:ln/>
        </p:spPr>
        <p:txBody>
          <a:bodyPr wrap="square" lIns="0" tIns="0" rIns="0" bIns="0" rtlCol="0" anchor="t">
            <a:normAutofit/>
          </a:bodyPr>
          <a:lstStyle/>
          <a:p>
            <a:pPr marL="0" indent="0">
              <a:buNone/>
            </a:pPr>
            <a:r>
              <a:rPr lang="en-US" sz="1400" b="1">
                <a:solidFill>
                  <a:srgbClr val="1E5B58"/>
                </a:solidFill>
              </a:rPr>
              <a:t>The same sign is used at home</a:t>
            </a:r>
            <a:endParaRPr lang="en-US" sz="1400"/>
          </a:p>
        </p:txBody>
      </p:sp>
      <p:sp>
        <p:nvSpPr>
          <p:cNvPr id="20" name="Not This Label"/>
          <p:cNvSpPr/>
          <p:nvPr/>
        </p:nvSpPr>
        <p:spPr>
          <a:xfrm>
            <a:off x="566928" y="2150000"/>
            <a:ext cx="3000000" cy="280000"/>
          </a:xfrm>
          <a:prstGeom prst="rect">
            <a:avLst/>
          </a:prstGeom>
          <a:noFill/>
          <a:ln/>
        </p:spPr>
        <p:txBody>
          <a:bodyPr wrap="square" lIns="0" tIns="0" rIns="0" bIns="0" rtlCol="0" anchor="ctr"/>
          <a:lstStyle/>
          <a:p>
            <a:pPr marL="0" indent="0">
              <a:buNone/>
            </a:pPr>
            <a:r>
              <a:rPr lang="en-US" sz="1000" b="1" spc="200">
                <a:solidFill>
                  <a:srgbClr val="A89684"/>
                </a:solidFill>
              </a:rPr>
              <a:t>Not this</a:t>
            </a:r>
            <a:endParaRPr lang="en-US" sz="1000"/>
          </a:p>
        </p:txBody>
      </p:sp>
      <p:sp>
        <p:nvSpPr>
          <p:cNvPr id="21" name="Not This Items"/>
          <p:cNvSpPr/>
          <p:nvPr/>
        </p:nvSpPr>
        <p:spPr>
          <a:xfrm>
            <a:off x="566928" y="2500000"/>
            <a:ext cx="3300000" cy="1800000"/>
          </a:xfrm>
          <a:prstGeom prst="rect">
            <a:avLst/>
          </a:prstGeom>
          <a:noFill/>
          <a:ln/>
        </p:spPr>
        <p:txBody>
          <a:bodyPr wrap="square" lIns="0" tIns="0" rIns="0" bIns="0" rtlCol="0" anchor="t">
            <a:normAutofit/>
          </a:bodyPr>
          <a:lstStyle/>
          <a:p>
            <a:pPr marL="0" indent="0">
              <a:buNone/>
            </a:pPr>
            <a:r>
              <a:rPr lang="en-US" sz="1500">
                <a:solidFill>
                  <a:srgbClr val="9A9A9A"/>
                </a:solidFill>
              </a:rPr>
              <a:t>Generic dictionary</a:t>
            </a:r>
          </a:p>
          <a:p>
            <a:pPr marL="0" indent="0">
              <a:spcBef>
                <a:spcPts val="1500"/>
              </a:spcBef>
              <a:buNone/>
            </a:pPr>
            <a:r>
              <a:rPr lang="en-US" sz="1500">
                <a:solidFill>
                  <a:srgbClr val="9A9A9A"/>
                </a:solidFill>
              </a:rPr>
              <a:t>More content</a:t>
            </a:r>
          </a:p>
          <a:p>
            <a:pPr marL="0" indent="0">
              <a:spcBef>
                <a:spcPts val="1500"/>
              </a:spcBef>
              <a:buNone/>
            </a:pPr>
            <a:r>
              <a:rPr lang="en-US" sz="1500">
                <a:solidFill>
                  <a:srgbClr val="9A9A9A"/>
                </a:solidFill>
              </a:rPr>
              <a:t>AI as authority</a:t>
            </a:r>
            <a:endParaRPr lang="en-US" sz="1500"/>
          </a:p>
        </p:txBody>
      </p:sp>
      <p:sp>
        <p:nvSpPr>
          <p:cNvPr id="26" name="Contrast Divider"/>
          <p:cNvSpPr/>
          <p:nvPr/>
        </p:nvSpPr>
        <p:spPr>
          <a:xfrm>
            <a:off x="3600000" y="2150000"/>
            <a:ext cx="12000" cy="2100000"/>
          </a:xfrm>
          <a:prstGeom prst="rect">
            <a:avLst/>
          </a:prstGeom>
          <a:solidFill>
            <a:srgbClr val="E3D6C8"/>
          </a:solidFill>
          <a:ln>
            <a:noFill/>
          </a:ln>
        </p:spPr>
        <p:txBody>
          <a:bodyPr/>
          <a:lstStyle/>
          <a:p>
            <a:endParaRPr lang="en-US"/>
          </a:p>
        </p:txBody>
      </p:sp>
      <p:sp>
        <p:nvSpPr>
          <p:cNvPr id="30" name="But This Label"/>
          <p:cNvSpPr/>
          <p:nvPr/>
        </p:nvSpPr>
        <p:spPr>
          <a:xfrm>
            <a:off x="4850000" y="2150000"/>
            <a:ext cx="3000000" cy="280000"/>
          </a:xfrm>
          <a:prstGeom prst="rect">
            <a:avLst/>
          </a:prstGeom>
          <a:noFill/>
          <a:ln/>
        </p:spPr>
        <p:txBody>
          <a:bodyPr wrap="square" lIns="0" tIns="0" rIns="0" bIns="0" rtlCol="0" anchor="ctr"/>
          <a:lstStyle/>
          <a:p>
            <a:pPr marL="0" indent="0">
              <a:buNone/>
            </a:pPr>
            <a:r>
              <a:rPr lang="en-US" sz="1000" b="1" spc="200">
                <a:solidFill>
                  <a:srgbClr val="D98B5F"/>
                </a:solidFill>
              </a:rPr>
              <a:t>But this</a:t>
            </a:r>
            <a:endParaRPr lang="en-US" sz="1000"/>
          </a:p>
        </p:txBody>
      </p:sp>
      <p:sp>
        <p:nvSpPr>
          <p:cNvPr id="31" name="But This Items"/>
          <p:cNvSpPr/>
          <p:nvPr/>
        </p:nvSpPr>
        <p:spPr>
          <a:xfrm>
            <a:off x="4850000" y="2470000"/>
            <a:ext cx="4100000" cy="1790000"/>
          </a:xfrm>
          <a:prstGeom prst="rect">
            <a:avLst/>
          </a:prstGeom>
          <a:noFill/>
          <a:ln/>
        </p:spPr>
        <p:txBody>
          <a:bodyPr wrap="square" lIns="0" tIns="0" rIns="0" bIns="0" rtlCol="0" anchor="t">
            <a:normAutofit/>
          </a:bodyPr>
          <a:lstStyle/>
          <a:p>
            <a:pPr marL="0" indent="0">
              <a:buNone/>
            </a:pPr>
            <a:r>
              <a:rPr lang="en-US" sz="2400" b="1">
                <a:solidFill>
                  <a:srgbClr val="1E5B58"/>
                </a:solidFill>
                <a:latin typeface="Aptos Display" pitchFamily="34" charset="0"/>
              </a:rPr>
              <a:t>School-home guidance</a:t>
            </a:r>
          </a:p>
          <a:p>
            <a:pPr marL="0" indent="0">
              <a:spcBef>
                <a:spcPts val="500"/>
              </a:spcBef>
              <a:buNone/>
            </a:pPr>
            <a:r>
              <a:rPr lang="en-US" sz="2400" b="1">
                <a:solidFill>
                  <a:srgbClr val="1E5B58"/>
                </a:solidFill>
                <a:latin typeface="Aptos Display" pitchFamily="34" charset="0"/>
              </a:rPr>
              <a:t>More context</a:t>
            </a:r>
          </a:p>
          <a:p>
            <a:pPr marL="0" indent="0">
              <a:spcBef>
                <a:spcPts val="500"/>
              </a:spcBef>
              <a:buNone/>
            </a:pPr>
            <a:r>
              <a:rPr lang="en-US" sz="2400" b="1">
                <a:solidFill>
                  <a:srgbClr val="1E5B58"/>
                </a:solidFill>
                <a:latin typeface="Aptos Display" pitchFamily="34" charset="0"/>
              </a:rPr>
              <a:t>AI as support</a:t>
            </a:r>
            <a:endParaRPr lang="en-US" sz="2400"/>
          </a:p>
        </p:txBody>
      </p:sp>
      <p:sp>
        <p:nvSpPr>
          <p:cNvPr id="80" name="Closing Accent"/>
          <p:cNvSpPr/>
          <p:nvPr/>
        </p:nvSpPr>
        <p:spPr>
          <a:xfrm>
            <a:off x="566928" y="4750000"/>
            <a:ext cx="700000" cy="45000"/>
          </a:xfrm>
          <a:prstGeom prst="rect">
            <a:avLst/>
          </a:prstGeom>
          <a:solidFill>
            <a:srgbClr val="D98B5F"/>
          </a:solidFill>
          <a:ln>
            <a:noFill/>
          </a:ln>
        </p:spPr>
        <p:txBody>
          <a:bodyPr/>
          <a:lstStyle/>
          <a:p>
            <a:endParaRPr lang="en-US"/>
          </a:p>
        </p:txBody>
      </p:sp>
      <p:sp>
        <p:nvSpPr>
          <p:cNvPr id="81" name="Closing Text"/>
          <p:cNvSpPr/>
          <p:nvPr/>
        </p:nvSpPr>
        <p:spPr>
          <a:xfrm>
            <a:off x="566928" y="4960000"/>
            <a:ext cx="7500000" cy="560000"/>
          </a:xfrm>
          <a:prstGeom prst="rect">
            <a:avLst/>
          </a:prstGeom>
          <a:noFill/>
          <a:ln/>
        </p:spPr>
        <p:txBody>
          <a:bodyPr wrap="square" lIns="0" tIns="0" rIns="0" bIns="0" rtlCol="0" anchor="ctr">
            <a:normAutofit/>
          </a:bodyPr>
          <a:lstStyle/>
          <a:p>
            <a:pPr marL="0" indent="0" algn="l">
              <a:buNone/>
            </a:pPr>
            <a:r>
              <a:rPr lang="en-US" sz="1800" b="1">
                <a:solidFill>
                  <a:srgbClr val="1E5B58"/>
                </a:solidFill>
                <a:latin typeface="Aptos Display" pitchFamily="34" charset="0"/>
              </a:rPr>
              <a:t>The value is trusted continuity across real routines.</a:t>
            </a:r>
            <a:endParaRPr lang="en-US" sz="1800"/>
          </a:p>
        </p:txBody>
      </p:sp>
      <p:sp>
        <p:nvSpPr>
          <p:cNvPr id="90" name="Footer"/>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a:solidFill>
                  <a:srgbClr val="6F6F6F"/>
                </a:solidFill>
              </a:rPr>
              <a:t>KinderFlow - Early-stage commercial validation</a:t>
            </a:r>
            <a:endParaRPr lang="en-US" sz="1100"/>
          </a:p>
        </p:txBody>
      </p:sp>
      <p:sp>
        <p:nvSpPr>
          <p:cNvPr id="95" name="Slide Number Placeholder 0"/>
          <p:cNvSpPr>
            <a:spLocks noGrp="1"/>
          </p:cNvSpPr>
          <p:nvPr>
            <p:ph type="sldNum" sz="quarter" idx="4294967295"/>
          </p:nvPr>
        </p:nvSpPr>
        <p:spPr>
          <a:xfrm>
            <a:off x="11300000" y="6565392"/>
            <a:ext cx="800000" cy="250000"/>
          </a:xfrm>
          <a:prstGeom prst="rect">
            <a:avLst/>
          </a:prstGeom>
        </p:spPr>
        <p:txBody>
          <a:bodyPr/>
          <a:lstStyle>
            <a:lvl1pPr>
              <a:defRPr sz="700">
                <a:solidFill>
                  <a:srgbClr val="6F6F6F"/>
                </a:solidFill>
                <a:latin typeface="Aptos"/>
                <a:ea typeface="Aptos"/>
                <a:cs typeface="Aptos"/>
              </a:defRPr>
            </a:lvl1pPr>
          </a:lstStyle>
          <a:p>
            <a:pPr algn="l"/>
            <a:fld id="{F7021451-1387-4CA6-816F-3879F97B5CBC}" type="slidenum">
              <a:rPr lang="en-US" b="0"/>
              <a:t>9</a:t>
            </a:fld>
            <a:endParaRPr lang="en-US"/>
          </a:p>
        </p:txBody>
      </p:sp>
      <p:pic>
        <p:nvPicPr>
          <p:cNvPr id="70" name="Signs Photo"/>
          <p:cNvPicPr>
            <a:picLocks noChangeAspect="1"/>
          </p:cNvPicPr>
          <p:nvPr/>
        </p:nvPicPr>
        <p:blipFill>
          <a:blip r:embed="rId3"/>
          <a:stretch>
            <a:fillRect/>
          </a:stretch>
        </p:blipFill>
        <p:spPr>
          <a:xfrm>
            <a:off x="8786927" y="2149999"/>
            <a:ext cx="2878001" cy="2878001"/>
          </a:xfrm>
          <a:prstGeom prst="ellipse">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7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7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80" grpId="0" animBg="1"/>
      <p:bldP spid="8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a:solidFill>
                  <a:srgbClr val="2E2E2E"/>
                </a:solidFill>
                <a:latin typeface="Aptos Display" pitchFamily="34" charset="0"/>
                <a:ea typeface="Aptos Display" pitchFamily="34" charset="-122"/>
                <a:cs typeface="Aptos Display" pitchFamily="34" charset="-120"/>
              </a:rPr>
              <a:t>We capture the movement first. The next build is controlled avatar rendering.</a:t>
            </a:r>
            <a:endParaRPr lang="en-US" sz="2100" dirty="0"/>
          </a:p>
        </p:txBody>
      </p:sp>
      <p:sp>
        <p:nvSpPr>
          <p:cNvPr id="3" name="Text 1"/>
          <p:cNvSpPr/>
          <p:nvPr/>
        </p:nvSpPr>
        <p:spPr>
          <a:xfrm>
            <a:off x="667512" y="841248"/>
            <a:ext cx="10881360" cy="274320"/>
          </a:xfrm>
          <a:prstGeom prst="rect">
            <a:avLst/>
          </a:prstGeom>
          <a:noFill/>
          <a:ln/>
        </p:spPr>
        <p:txBody>
          <a:bodyPr wrap="square" lIns="0" tIns="0" rIns="0" bIns="0" rtlCol="0" anchor="ctr"/>
          <a:lstStyle/>
          <a:p>
            <a:pPr marL="0" indent="0">
              <a:buNone/>
            </a:pPr>
            <a:r>
              <a:rPr lang="en-US" sz="1250" b="1">
                <a:solidFill>
                  <a:srgbClr val="2F7F7B"/>
                </a:solidFill>
              </a:rPr>
              <a:t>The current POC captures movement as structured data. The next technical test is whether an avatar can follow it without changing </a:t>
            </a:r>
            <a:r>
              <a:rPr lang="en-US" sz="1250" b="1" dirty="0">
                <a:solidFill>
                  <a:srgbClr val="2F7F7B"/>
                </a:solidFill>
              </a:rPr>
              <a:t>the </a:t>
            </a:r>
            <a:r>
              <a:rPr lang="en-US" sz="1250" b="1">
                <a:solidFill>
                  <a:srgbClr val="2F7F7B"/>
                </a:solidFill>
              </a:rPr>
              <a:t>sign</a:t>
            </a:r>
            <a:r>
              <a:rPr lang="en-US" sz="1250" b="1" dirty="0">
                <a:solidFill>
                  <a:srgbClr val="2F7F7B"/>
                </a:solidFill>
              </a:rPr>
              <a:t>.</a:t>
            </a:r>
            <a:endParaRPr lang="en-US" sz="1250" dirty="0"/>
          </a:p>
        </p:txBody>
      </p:sp>
      <p:sp>
        <p:nvSpPr>
          <p:cNvPr id="4" name="Shape 2"/>
          <p:cNvSpPr/>
          <p:nvPr/>
        </p:nvSpPr>
        <p:spPr>
          <a:xfrm>
            <a:off x="685800" y="3230000"/>
            <a:ext cx="3337560" cy="900000"/>
          </a:xfrm>
          <a:prstGeom prst="roundRect">
            <a:avLst>
              <a:gd name="adj" fmla="val 3077"/>
            </a:avLst>
          </a:prstGeom>
          <a:solidFill>
            <a:srgbClr val="FFFFFF"/>
          </a:solidFill>
          <a:ln w="15875">
            <a:noFill/>
            <a:prstDash val="solid"/>
          </a:ln>
        </p:spPr>
        <p:txBody>
          <a:bodyPr/>
          <a:lstStyle/>
          <a:p>
            <a:endParaRPr lang="en-US"/>
          </a:p>
        </p:txBody>
      </p:sp>
      <p:sp>
        <p:nvSpPr>
          <p:cNvPr id="5" name="Text 3"/>
          <p:cNvSpPr/>
          <p:nvPr/>
        </p:nvSpPr>
        <p:spPr>
          <a:xfrm>
            <a:off x="835152" y="3400000"/>
            <a:ext cx="3008376" cy="228600"/>
          </a:xfrm>
          <a:prstGeom prst="rect">
            <a:avLst/>
          </a:prstGeom>
          <a:noFill/>
          <a:ln/>
        </p:spPr>
        <p:txBody>
          <a:bodyPr wrap="square" lIns="0" tIns="0" rIns="0" bIns="0" rtlCol="0" anchor="ctr"/>
          <a:lstStyle/>
          <a:p>
            <a:pPr marL="0" indent="0" algn="ctr">
              <a:buNone/>
            </a:pPr>
            <a:r>
              <a:rPr lang="en-US" sz="1400" b="1">
                <a:solidFill>
                  <a:srgbClr val="9A9A9A"/>
                </a:solidFill>
              </a:rPr>
              <a:t>1. Generative AI attempt</a:t>
            </a:r>
            <a:endParaRPr lang="en-US" sz="1400" dirty="0"/>
          </a:p>
        </p:txBody>
      </p:sp>
      <p:sp>
        <p:nvSpPr>
          <p:cNvPr id="6" name="Text 4"/>
          <p:cNvSpPr/>
          <p:nvPr/>
        </p:nvSpPr>
        <p:spPr>
          <a:xfrm>
            <a:off x="887208" y="3730000"/>
            <a:ext cx="2935224" cy="228600"/>
          </a:xfrm>
          <a:prstGeom prst="rect">
            <a:avLst/>
          </a:prstGeom>
          <a:noFill/>
          <a:ln/>
        </p:spPr>
        <p:txBody>
          <a:bodyPr wrap="square" lIns="0" tIns="0" rIns="0" bIns="0" rtlCol="0" anchor="ctr"/>
          <a:lstStyle/>
          <a:p>
            <a:pPr marL="0" indent="0" algn="ctr">
              <a:buNone/>
            </a:pPr>
            <a:r>
              <a:rPr lang="en-US" sz="1200">
                <a:solidFill>
                  <a:srgbClr val="6F6F6F"/>
                </a:solidFill>
              </a:rPr>
              <a:t>Invents the hand, shape and timing</a:t>
            </a:r>
            <a:endParaRPr lang="en-US" sz="1200"/>
          </a:p>
        </p:txBody>
      </p:sp>
      <p:sp>
        <p:nvSpPr>
          <p:cNvPr id="7" name="Shape 5"/>
          <p:cNvSpPr/>
          <p:nvPr/>
        </p:nvSpPr>
        <p:spPr>
          <a:xfrm>
            <a:off x="4434840" y="3230000"/>
            <a:ext cx="3337560" cy="900000"/>
          </a:xfrm>
          <a:prstGeom prst="roundRect">
            <a:avLst>
              <a:gd name="adj" fmla="val 3077"/>
            </a:avLst>
          </a:prstGeom>
          <a:solidFill>
            <a:srgbClr val="FFFFFF"/>
          </a:solidFill>
          <a:ln w="15875">
            <a:noFill/>
            <a:prstDash val="solid"/>
          </a:ln>
        </p:spPr>
        <p:txBody>
          <a:bodyPr/>
          <a:lstStyle/>
          <a:p>
            <a:endParaRPr lang="en-US"/>
          </a:p>
        </p:txBody>
      </p:sp>
      <p:sp>
        <p:nvSpPr>
          <p:cNvPr id="8" name="Text 6"/>
          <p:cNvSpPr/>
          <p:nvPr/>
        </p:nvSpPr>
        <p:spPr>
          <a:xfrm>
            <a:off x="4526280" y="3400000"/>
            <a:ext cx="3008376" cy="228600"/>
          </a:xfrm>
          <a:prstGeom prst="rect">
            <a:avLst/>
          </a:prstGeom>
          <a:noFill/>
          <a:ln/>
        </p:spPr>
        <p:txBody>
          <a:bodyPr wrap="square" lIns="0" tIns="0" rIns="0" bIns="0" rtlCol="0" anchor="ctr"/>
          <a:lstStyle/>
          <a:p>
            <a:pPr marL="0" indent="0" algn="ctr">
              <a:buNone/>
            </a:pPr>
            <a:r>
              <a:rPr lang="en-US" sz="1400" b="1">
                <a:solidFill>
                  <a:srgbClr val="2F7F7B"/>
                </a:solidFill>
              </a:rPr>
              <a:t>2. </a:t>
            </a:r>
            <a:r>
              <a:rPr lang="en-US" sz="1400" b="1" dirty="0">
                <a:solidFill>
                  <a:srgbClr val="2F7F7B"/>
                </a:solidFill>
              </a:rPr>
              <a:t>Validated video</a:t>
            </a:r>
            <a:endParaRPr lang="en-US" sz="1400" dirty="0"/>
          </a:p>
        </p:txBody>
      </p:sp>
      <p:sp>
        <p:nvSpPr>
          <p:cNvPr id="9" name="Text 7"/>
          <p:cNvSpPr/>
          <p:nvPr/>
        </p:nvSpPr>
        <p:spPr>
          <a:xfrm>
            <a:off x="4636008" y="3730000"/>
            <a:ext cx="2935224" cy="228600"/>
          </a:xfrm>
          <a:prstGeom prst="rect">
            <a:avLst/>
          </a:prstGeom>
          <a:noFill/>
          <a:ln/>
        </p:spPr>
        <p:txBody>
          <a:bodyPr wrap="square" lIns="0" tIns="0" rIns="0" bIns="0" rtlCol="0" anchor="ctr"/>
          <a:lstStyle/>
          <a:p>
            <a:pPr marL="0" indent="0" algn="ctr">
              <a:buNone/>
            </a:pPr>
            <a:r>
              <a:rPr lang="en-US" sz="1200" dirty="0">
                <a:solidFill>
                  <a:srgbClr val="6F6F6F"/>
                </a:solidFill>
              </a:rPr>
              <a:t>Movement source of truth</a:t>
            </a:r>
            <a:endParaRPr lang="en-US" sz="1200" dirty="0"/>
          </a:p>
        </p:txBody>
      </p:sp>
      <p:sp>
        <p:nvSpPr>
          <p:cNvPr id="10" name="Shape 8"/>
          <p:cNvSpPr/>
          <p:nvPr/>
        </p:nvSpPr>
        <p:spPr>
          <a:xfrm>
            <a:off x="8183880" y="3230000"/>
            <a:ext cx="3337560" cy="900000"/>
          </a:xfrm>
          <a:prstGeom prst="roundRect">
            <a:avLst>
              <a:gd name="adj" fmla="val 3077"/>
            </a:avLst>
          </a:prstGeom>
          <a:solidFill>
            <a:srgbClr val="C0703A"/>
          </a:solidFill>
          <a:ln w="15875">
            <a:noFill/>
            <a:prstDash val="solid"/>
          </a:ln>
        </p:spPr>
        <p:txBody>
          <a:bodyPr/>
          <a:lstStyle/>
          <a:p>
            <a:endParaRPr lang="en-US"/>
          </a:p>
        </p:txBody>
      </p:sp>
      <p:sp>
        <p:nvSpPr>
          <p:cNvPr id="11" name="Text 9"/>
          <p:cNvSpPr/>
          <p:nvPr/>
        </p:nvSpPr>
        <p:spPr>
          <a:xfrm>
            <a:off x="8348472" y="3400000"/>
            <a:ext cx="3008376" cy="228600"/>
          </a:xfrm>
          <a:prstGeom prst="rect">
            <a:avLst/>
          </a:prstGeom>
          <a:noFill/>
          <a:ln/>
        </p:spPr>
        <p:txBody>
          <a:bodyPr wrap="square" lIns="0" tIns="0" rIns="0" bIns="0" rtlCol="0" anchor="ctr"/>
          <a:lstStyle/>
          <a:p>
            <a:pPr marL="0" indent="0" algn="ctr">
              <a:buNone/>
            </a:pPr>
            <a:r>
              <a:rPr lang="en-US" sz="1400" b="1">
                <a:solidFill>
                  <a:srgbClr val="FFFFFF"/>
                </a:solidFill>
              </a:rPr>
              <a:t>3. Intended POC output</a:t>
            </a:r>
            <a:endParaRPr lang="en-US" sz="1400" dirty="0"/>
          </a:p>
        </p:txBody>
      </p:sp>
      <p:sp>
        <p:nvSpPr>
          <p:cNvPr id="12" name="Text 10"/>
          <p:cNvSpPr/>
          <p:nvPr/>
        </p:nvSpPr>
        <p:spPr>
          <a:xfrm>
            <a:off x="8385048" y="3730000"/>
            <a:ext cx="2935224" cy="228600"/>
          </a:xfrm>
          <a:prstGeom prst="rect">
            <a:avLst/>
          </a:prstGeom>
          <a:noFill/>
          <a:ln/>
        </p:spPr>
        <p:txBody>
          <a:bodyPr wrap="square" lIns="0" tIns="0" rIns="0" bIns="0" rtlCol="0" anchor="ctr"/>
          <a:lstStyle/>
          <a:p>
            <a:pPr marL="0" indent="0" algn="ctr">
              <a:buNone/>
            </a:pPr>
            <a:r>
              <a:rPr lang="en-US" sz="1200">
                <a:solidFill>
                  <a:srgbClr val="FAE8DA"/>
                </a:solidFill>
              </a:rPr>
              <a:t>Next build: avatar preview</a:t>
            </a:r>
            <a:endParaRPr lang="en-US" sz="1200" dirty="0"/>
          </a:p>
        </p:txBody>
      </p:sp>
      <p:sp>
        <p:nvSpPr>
          <p:cNvPr id="31" name="Text 25"/>
          <p:cNvSpPr/>
          <p:nvPr/>
        </p:nvSpPr>
        <p:spPr>
          <a:xfrm>
            <a:off x="824564" y="5350000"/>
            <a:ext cx="10789920" cy="480000"/>
          </a:xfrm>
          <a:prstGeom prst="rect">
            <a:avLst/>
          </a:prstGeom>
          <a:noFill/>
          <a:ln/>
        </p:spPr>
        <p:txBody>
          <a:bodyPr wrap="square" lIns="0" tIns="0" rIns="0" bIns="0" rtlCol="0" anchor="ctr"/>
          <a:lstStyle/>
          <a:p>
            <a:pPr marL="0" indent="0" algn="ctr">
              <a:buNone/>
            </a:pPr>
            <a:r>
              <a:rPr lang="en-US" sz="1250" dirty="0">
                <a:solidFill>
                  <a:srgbClr val="6F6F6F"/>
                </a:solidFill>
              </a:rPr>
              <a:t>If validated, the same motion-first pipeline is a </a:t>
            </a:r>
            <a:r>
              <a:rPr lang="en-US" sz="1250" dirty="0" err="1">
                <a:solidFill>
                  <a:srgbClr val="6F6F6F"/>
                </a:solidFill>
              </a:rPr>
              <a:t>KinderFlow</a:t>
            </a:r>
            <a:r>
              <a:rPr lang="en-US" sz="1250" dirty="0">
                <a:solidFill>
                  <a:srgbClr val="6F6F6F"/>
                </a:solidFill>
              </a:rPr>
              <a:t> asset that could later be explored in other structured communication contexts, with specialist validation.</a:t>
            </a:r>
            <a:endParaRPr lang="en-US" sz="1100" dirty="0"/>
          </a:p>
        </p:txBody>
      </p:sp>
      <p:sp>
        <p:nvSpPr>
          <p:cNvPr id="26" name="Text 24"/>
          <p:cNvSpPr/>
          <p:nvPr/>
        </p:nvSpPr>
        <p:spPr>
          <a:xfrm>
            <a:off x="596000" y="4720000"/>
            <a:ext cx="11000000" cy="400000"/>
          </a:xfrm>
          <a:prstGeom prst="rect">
            <a:avLst/>
          </a:prstGeom>
          <a:noFill/>
          <a:ln/>
        </p:spPr>
        <p:txBody>
          <a:bodyPr wrap="square" lIns="0" tIns="0" rIns="0" bIns="0" rtlCol="0" anchor="ctr"/>
          <a:lstStyle/>
          <a:p>
            <a:pPr marL="0" indent="0" algn="ctr">
              <a:buNone/>
            </a:pPr>
            <a:r>
              <a:rPr lang="en-US" sz="1600" b="1">
                <a:solidFill>
                  <a:srgbClr val="2E2E2E"/>
                </a:solidFill>
              </a:rPr>
              <a:t>The capture works: 332 frames, 100% body tracked, 93.98% signing hand</a:t>
            </a:r>
            <a:endParaRPr lang="en-US" sz="1100" i="1"/>
          </a:p>
        </p:txBody>
      </p:sp>
      <p:sp>
        <p:nvSpPr>
          <p:cNvPr id="27"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10</a:t>
            </a:fld>
            <a:endParaRPr lang="en-US"/>
          </a:p>
        </p:txBody>
      </p:sp>
      <p:pic>
        <p:nvPicPr>
          <p:cNvPr id="28" name="hungry.mp4">
            <a:hlinkClick r:id="" action="ppaction://media"/>
            <a:extLst>
              <a:ext uri="{FF2B5EF4-FFF2-40B4-BE49-F238E27FC236}">
                <a16:creationId xmlns:a16="http://schemas.microsoft.com/office/drawing/2014/main" id="{70C47143-5477-2685-DCB6-2BFEC3212A0F}"/>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4434840" y="1371600"/>
            <a:ext cx="3337560" cy="1874520"/>
          </a:xfrm>
          <a:prstGeom prst="rect">
            <a:avLst/>
          </a:prstGeom>
        </p:spPr>
      </p:pic>
      <p:pic>
        <p:nvPicPr>
          <p:cNvPr id="29" name="HAMBRE.mp4">
            <a:hlinkClick r:id="" action="ppaction://media"/>
            <a:extLst>
              <a:ext uri="{FF2B5EF4-FFF2-40B4-BE49-F238E27FC236}">
                <a16:creationId xmlns:a16="http://schemas.microsoft.com/office/drawing/2014/main" id="{4F7D4CE7-F66B-D7DE-7019-1967432A7E32}"/>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8183880" y="1371600"/>
            <a:ext cx="3337560" cy="1874520"/>
          </a:xfrm>
          <a:prstGeom prst="rect">
            <a:avLst/>
          </a:prstGeom>
        </p:spPr>
      </p:pic>
      <p:pic>
        <p:nvPicPr>
          <p:cNvPr id="30" name="Bloop.mp4">
            <a:hlinkClick r:id="" action="ppaction://media"/>
            <a:extLst>
              <a:ext uri="{FF2B5EF4-FFF2-40B4-BE49-F238E27FC236}">
                <a16:creationId xmlns:a16="http://schemas.microsoft.com/office/drawing/2014/main" id="{D66800C2-474A-0D57-9A77-2408E1223BEE}"/>
              </a:ext>
            </a:extLst>
          </p:cNvPr>
          <p:cNvPicPr>
            <a:picLocks noChangeAspect="1"/>
          </p:cNvPicPr>
          <p:nvPr>
            <a:videoFile r:link="rId6"/>
            <p:extLst>
              <p:ext uri="{DAA4B4D4-6D71-4841-9C94-3DE7FCFB9230}">
                <p14:media xmlns:p14="http://schemas.microsoft.com/office/powerpoint/2010/main" r:embed="rId5"/>
              </p:ext>
            </p:extLst>
          </p:nvPr>
        </p:nvPicPr>
        <p:blipFill>
          <a:blip r:embed="rId11"/>
          <a:stretch>
            <a:fillRect/>
          </a:stretch>
        </p:blipFill>
        <p:spPr>
          <a:xfrm>
            <a:off x="685800" y="1371600"/>
            <a:ext cx="3337560" cy="1874520"/>
          </a:xfrm>
          <a:prstGeom prst="rect">
            <a:avLst/>
          </a:prstGeom>
        </p:spPr>
      </p:pic>
      <p:sp>
        <p:nvSpPr>
          <p:cNvPr id="61" name="Statement Accent"/>
          <p:cNvSpPr/>
          <p:nvPr/>
        </p:nvSpPr>
        <p:spPr>
          <a:xfrm>
            <a:off x="5746000" y="4500000"/>
            <a:ext cx="700000" cy="50000"/>
          </a:xfrm>
          <a:prstGeom prst="rect">
            <a:avLst/>
          </a:prstGeom>
          <a:solidFill>
            <a:srgbClr val="C0703A"/>
          </a:solidFill>
          <a:ln>
            <a:no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46" fill="hold"/>
                                        <p:tgtEl>
                                          <p:spTgt spid="2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9"/>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0000"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8"/>
                </p:tgtEl>
              </p:cMediaNode>
            </p:video>
            <p:seq concurrent="1" nextAc="seek">
              <p:cTn id="16" restart="whenNotActive" fill="hold" evtFilter="cancelBubble" nodeType="interactiveSeq">
                <p:stCondLst>
                  <p:cond evt="onClick" delay="0">
                    <p:tgtEl>
                      <p:spTgt spid="28"/>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8"/>
                                        </p:tgtEl>
                                      </p:cBhvr>
                                    </p:cmd>
                                  </p:childTnLst>
                                </p:cTn>
                              </p:par>
                            </p:childTnLst>
                          </p:cTn>
                        </p:par>
                      </p:childTnLst>
                    </p:cTn>
                  </p:par>
                </p:childTnLst>
              </p:cTn>
              <p:nextCondLst>
                <p:cond evt="onClick" delay="0">
                  <p:tgtEl>
                    <p:spTgt spid="28"/>
                  </p:tgtEl>
                </p:cond>
              </p:nextCondLst>
            </p:seq>
            <p:video>
              <p:cMediaNode vol="80000">
                <p:cTn id="21" fill="hold" display="0">
                  <p:stCondLst>
                    <p:cond delay="indefinite"/>
                  </p:stCondLst>
                </p:cTn>
                <p:tgtEl>
                  <p:spTgt spid="29"/>
                </p:tgtEl>
              </p:cMediaNode>
            </p:video>
            <p:seq concurrent="1" nextAc="seek">
              <p:cTn id="22" restart="whenNotActive" fill="hold" evtFilter="cancelBubble" nodeType="interactiveSeq">
                <p:stCondLst>
                  <p:cond evt="onClick" delay="0">
                    <p:tgtEl>
                      <p:spTgt spid="29"/>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29"/>
                                        </p:tgtEl>
                                      </p:cBhvr>
                                    </p:cmd>
                                  </p:childTnLst>
                                </p:cTn>
                              </p:par>
                            </p:childTnLst>
                          </p:cTn>
                        </p:par>
                      </p:childTnLst>
                    </p:cTn>
                  </p:par>
                </p:childTnLst>
              </p:cTn>
              <p:nextCondLst>
                <p:cond evt="onClick" delay="0">
                  <p:tgtEl>
                    <p:spTgt spid="29"/>
                  </p:tgtEl>
                </p:cond>
              </p:nextCondLst>
            </p:seq>
            <p:video>
              <p:cMediaNode vol="80000">
                <p:cTn id="27" fill="hold" display="0">
                  <p:stCondLst>
                    <p:cond delay="indefinite"/>
                  </p:stCondLst>
                </p:cTn>
                <p:tgtEl>
                  <p:spTgt spid="30"/>
                </p:tgtEl>
              </p:cMediaNode>
            </p:video>
            <p:seq concurrent="1" nextAc="seek">
              <p:cTn id="28" restart="whenNotActive" fill="hold" evtFilter="cancelBubble" nodeType="interactiveSeq">
                <p:stCondLst>
                  <p:cond evt="onClick" delay="0">
                    <p:tgtEl>
                      <p:spTgt spid="30"/>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30"/>
                                        </p:tgtEl>
                                      </p:cBhvr>
                                    </p:cmd>
                                  </p:childTnLst>
                                </p:cTn>
                              </p:par>
                            </p:childTnLst>
                          </p:cTn>
                        </p:par>
                      </p:childTnLst>
                    </p:cTn>
                  </p:par>
                </p:childTnLst>
              </p:cTn>
              <p:nextCondLst>
                <p:cond evt="onClick" delay="0">
                  <p:tgtEl>
                    <p:spTgt spid="30"/>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10881360" cy="411480"/>
          </a:xfrm>
          <a:prstGeom prst="rect">
            <a:avLst/>
          </a:prstGeom>
          <a:noFill/>
          <a:ln/>
        </p:spPr>
        <p:txBody>
          <a:bodyPr wrap="square" lIns="0" tIns="0" rIns="0" bIns="0" rtlCol="0" anchor="ctr">
            <a:normAutofit/>
          </a:bodyPr>
          <a:lstStyle/>
          <a:p>
            <a:pPr marL="0" indent="0">
              <a:buNone/>
            </a:pPr>
            <a:r>
              <a:rPr lang="en-US" sz="2100" b="1">
                <a:solidFill>
                  <a:srgbClr val="1E1E1E"/>
                </a:solidFill>
                <a:latin typeface="Aptos Display"/>
              </a:rPr>
              <a:t>Two prototype layers: experience and operations</a:t>
            </a:r>
            <a:endParaRPr lang="en-US" sz="2100"/>
          </a:p>
        </p:txBody>
      </p:sp>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0" name="Internal Label"/>
          <p:cNvSpPr/>
          <p:nvPr/>
        </p:nvSpPr>
        <p:spPr>
          <a:xfrm>
            <a:off x="566928" y="1240000"/>
            <a:ext cx="3000000" cy="280000"/>
          </a:xfrm>
          <a:prstGeom prst="rect">
            <a:avLst/>
          </a:prstGeom>
          <a:noFill/>
          <a:ln/>
        </p:spPr>
        <p:txBody>
          <a:bodyPr wrap="square" lIns="0" tIns="0" rIns="0" bIns="0" rtlCol="0" anchor="ctr"/>
          <a:lstStyle/>
          <a:p>
            <a:pPr marL="0" indent="0">
              <a:buNone/>
            </a:pPr>
            <a:r>
              <a:rPr lang="en-US" sz="1000" b="1" spc="200">
                <a:solidFill>
                  <a:srgbClr val="A89684"/>
                </a:solidFill>
              </a:rPr>
              <a:t>KinderFlow admin</a:t>
            </a:r>
            <a:endParaRPr lang="en-US" sz="1000"/>
          </a:p>
        </p:txBody>
      </p:sp>
      <p:sp>
        <p:nvSpPr>
          <p:cNvPr id="22" name="Internal Steps"/>
          <p:cNvSpPr/>
          <p:nvPr/>
        </p:nvSpPr>
        <p:spPr>
          <a:xfrm>
            <a:off x="566928" y="1560000"/>
            <a:ext cx="2050000" cy="820000"/>
          </a:xfrm>
          <a:prstGeom prst="roundRect">
            <a:avLst>
              <a:gd name="adj" fmla="val 8000"/>
            </a:avLst>
          </a:prstGeom>
          <a:solidFill>
            <a:srgbClr val="F2EDE4"/>
          </a:solidFill>
          <a:ln>
            <a:noFill/>
          </a:ln>
        </p:spPr>
        <p:txBody>
          <a:bodyPr wrap="square" lIns="182880" tIns="91440" rIns="182880" bIns="91440" rtlCol="0" anchor="ctr">
            <a:normAutofit/>
          </a:bodyPr>
          <a:lstStyle/>
          <a:p>
            <a:pPr marL="0" indent="0" algn="ctr">
              <a:buNone/>
            </a:pPr>
            <a:r>
              <a:rPr lang="en-US" sz="1100">
                <a:solidFill>
                  <a:srgbClr val="6F6F6F"/>
                </a:solidFill>
              </a:rPr>
              <a:t>Kinder Signs creates approved video</a:t>
            </a:r>
            <a:endParaRPr lang="en-US" sz="1300"/>
          </a:p>
        </p:txBody>
      </p:sp>
      <p:sp>
        <p:nvSpPr>
          <p:cNvPr id="202" name="Build Step 2"/>
          <p:cNvSpPr/>
          <p:nvPr/>
        </p:nvSpPr>
        <p:spPr>
          <a:xfrm>
            <a:off x="2791928" y="1560000"/>
            <a:ext cx="2050000" cy="820000"/>
          </a:xfrm>
          <a:prstGeom prst="roundRect">
            <a:avLst>
              <a:gd name="adj" fmla="val 8000"/>
            </a:avLst>
          </a:prstGeom>
          <a:solidFill>
            <a:srgbClr val="F2EDE4"/>
          </a:solidFill>
          <a:ln>
            <a:noFill/>
          </a:ln>
        </p:spPr>
        <p:txBody>
          <a:bodyPr wrap="square" lIns="182880" tIns="91440" rIns="182880" bIns="91440" rtlCol="0" anchor="ctr">
            <a:normAutofit/>
          </a:bodyPr>
          <a:lstStyle/>
          <a:p>
            <a:pPr marL="0" indent="0" algn="ctr">
              <a:buNone/>
            </a:pPr>
            <a:r>
              <a:rPr lang="en-US" sz="1300">
                <a:solidFill>
                  <a:srgbClr val="6F6F6F"/>
                </a:solidFill>
              </a:rPr>
              <a:t>Movement check</a:t>
            </a:r>
            <a:endParaRPr lang="en-US" sz="1300"/>
          </a:p>
        </p:txBody>
      </p:sp>
      <p:sp>
        <p:nvSpPr>
          <p:cNvPr id="203" name="Build Step 3"/>
          <p:cNvSpPr/>
          <p:nvPr/>
        </p:nvSpPr>
        <p:spPr>
          <a:xfrm>
            <a:off x="5016928" y="1560000"/>
            <a:ext cx="2050000" cy="820000"/>
          </a:xfrm>
          <a:prstGeom prst="roundRect">
            <a:avLst>
              <a:gd name="adj" fmla="val 8000"/>
            </a:avLst>
          </a:prstGeom>
          <a:solidFill>
            <a:srgbClr val="F2EDE4"/>
          </a:solidFill>
          <a:ln>
            <a:noFill/>
          </a:ln>
        </p:spPr>
        <p:txBody>
          <a:bodyPr wrap="square" lIns="182880" tIns="91440" rIns="182880" bIns="91440" rtlCol="0" anchor="ctr">
            <a:normAutofit/>
          </a:bodyPr>
          <a:lstStyle/>
          <a:p>
            <a:pPr marL="0" indent="0" algn="ctr">
              <a:buNone/>
            </a:pPr>
            <a:r>
              <a:rPr lang="en-US" sz="1300">
                <a:solidFill>
                  <a:srgbClr val="6F6F6F"/>
                </a:solidFill>
              </a:rPr>
              <a:t>Family card prepared</a:t>
            </a:r>
            <a:endParaRPr lang="en-US" sz="1300"/>
          </a:p>
        </p:txBody>
      </p:sp>
      <p:sp>
        <p:nvSpPr>
          <p:cNvPr id="204" name="Build Arrow 1"/>
          <p:cNvSpPr/>
          <p:nvPr/>
        </p:nvSpPr>
        <p:spPr>
          <a:xfrm>
            <a:off x="2629428" y="1900000"/>
            <a:ext cx="150000" cy="140000"/>
          </a:xfrm>
          <a:prstGeom prst="rightArrow">
            <a:avLst/>
          </a:prstGeom>
          <a:solidFill>
            <a:srgbClr val="C9BCA9"/>
          </a:solidFill>
          <a:ln>
            <a:noFill/>
          </a:ln>
        </p:spPr>
        <p:txBody>
          <a:bodyPr/>
          <a:lstStyle/>
          <a:p>
            <a:endParaRPr lang="en-US"/>
          </a:p>
        </p:txBody>
      </p:sp>
      <p:sp>
        <p:nvSpPr>
          <p:cNvPr id="205" name="Build Arrow 2"/>
          <p:cNvSpPr/>
          <p:nvPr/>
        </p:nvSpPr>
        <p:spPr>
          <a:xfrm>
            <a:off x="4854428" y="1900000"/>
            <a:ext cx="150000" cy="140000"/>
          </a:xfrm>
          <a:prstGeom prst="rightArrow">
            <a:avLst/>
          </a:prstGeom>
          <a:solidFill>
            <a:srgbClr val="C9BCA9"/>
          </a:solidFill>
          <a:ln>
            <a:noFill/>
          </a:ln>
        </p:spPr>
        <p:txBody>
          <a:bodyPr/>
          <a:lstStyle/>
          <a:p>
            <a:endParaRPr lang="en-US"/>
          </a:p>
        </p:txBody>
      </p:sp>
      <p:sp>
        <p:nvSpPr>
          <p:cNvPr id="206" name="Build Step 4"/>
          <p:cNvSpPr/>
          <p:nvPr/>
        </p:nvSpPr>
        <p:spPr>
          <a:xfrm>
            <a:off x="7241928" y="1560000"/>
            <a:ext cx="2050000" cy="820000"/>
          </a:xfrm>
          <a:prstGeom prst="roundRect">
            <a:avLst>
              <a:gd name="adj" fmla="val 8000"/>
            </a:avLst>
          </a:prstGeom>
          <a:solidFill>
            <a:srgbClr val="F2EDE4"/>
          </a:solidFill>
          <a:ln>
            <a:noFill/>
          </a:ln>
        </p:spPr>
        <p:txBody>
          <a:bodyPr wrap="square" lIns="137160" tIns="91440" rIns="137160" bIns="91440" rtlCol="0" anchor="ctr">
            <a:normAutofit/>
          </a:bodyPr>
          <a:lstStyle/>
          <a:p>
            <a:pPr marL="0" indent="0" algn="ctr">
              <a:buNone/>
            </a:pPr>
            <a:r>
              <a:rPr lang="en-US" sz="1100">
                <a:solidFill>
                  <a:srgbClr val="6F6F6F"/>
                </a:solidFill>
              </a:rPr>
              <a:t>Expert review</a:t>
            </a:r>
            <a:endParaRPr lang="en-US" sz="1100"/>
          </a:p>
        </p:txBody>
      </p:sp>
      <p:sp>
        <p:nvSpPr>
          <p:cNvPr id="207" name="Build Step 5"/>
          <p:cNvSpPr/>
          <p:nvPr/>
        </p:nvSpPr>
        <p:spPr>
          <a:xfrm>
            <a:off x="9466928" y="1560000"/>
            <a:ext cx="2050000" cy="820000"/>
          </a:xfrm>
          <a:prstGeom prst="roundRect">
            <a:avLst>
              <a:gd name="adj" fmla="val 8000"/>
            </a:avLst>
          </a:prstGeom>
          <a:solidFill>
            <a:srgbClr val="F2EDE4"/>
          </a:solidFill>
          <a:ln>
            <a:noFill/>
          </a:ln>
        </p:spPr>
        <p:txBody>
          <a:bodyPr wrap="square" lIns="137160" tIns="91440" rIns="137160" bIns="91440" rtlCol="0" anchor="ctr">
            <a:normAutofit/>
          </a:bodyPr>
          <a:lstStyle/>
          <a:p>
            <a:pPr marL="0" indent="0" algn="ctr">
              <a:buNone/>
            </a:pPr>
            <a:r>
              <a:rPr lang="en-US" sz="1100">
                <a:solidFill>
                  <a:srgbClr val="6F6F6F"/>
                </a:solidFill>
              </a:rPr>
              <a:t>Approved sign card, selected by the school</a:t>
            </a:r>
            <a:endParaRPr lang="en-US" sz="1100"/>
          </a:p>
        </p:txBody>
      </p:sp>
      <p:sp>
        <p:nvSpPr>
          <p:cNvPr id="208" name="Build Arrow 3"/>
          <p:cNvSpPr/>
          <p:nvPr/>
        </p:nvSpPr>
        <p:spPr>
          <a:xfrm>
            <a:off x="7079428" y="1900000"/>
            <a:ext cx="150000" cy="140000"/>
          </a:xfrm>
          <a:prstGeom prst="rightArrow">
            <a:avLst/>
          </a:prstGeom>
          <a:solidFill>
            <a:srgbClr val="C9BCA9"/>
          </a:solidFill>
          <a:ln>
            <a:noFill/>
          </a:ln>
        </p:spPr>
        <p:txBody>
          <a:bodyPr/>
          <a:lstStyle/>
          <a:p>
            <a:endParaRPr lang="en-US"/>
          </a:p>
        </p:txBody>
      </p:sp>
      <p:sp>
        <p:nvSpPr>
          <p:cNvPr id="209" name="Build Arrow 4"/>
          <p:cNvSpPr/>
          <p:nvPr/>
        </p:nvSpPr>
        <p:spPr>
          <a:xfrm>
            <a:off x="9304428" y="1900000"/>
            <a:ext cx="150000" cy="140000"/>
          </a:xfrm>
          <a:prstGeom prst="rightArrow">
            <a:avLst/>
          </a:prstGeom>
          <a:solidFill>
            <a:srgbClr val="C9BCA9"/>
          </a:solidFill>
          <a:ln>
            <a:noFill/>
          </a:ln>
        </p:spPr>
        <p:txBody>
          <a:bodyPr/>
          <a:lstStyle/>
          <a:p>
            <a:endParaRPr lang="en-US"/>
          </a:p>
        </p:txBody>
      </p:sp>
      <p:sp>
        <p:nvSpPr>
          <p:cNvPr id="30" name="Experience Label"/>
          <p:cNvSpPr/>
          <p:nvPr/>
        </p:nvSpPr>
        <p:spPr>
          <a:xfrm>
            <a:off x="566928" y="2680000"/>
            <a:ext cx="6400000" cy="280000"/>
          </a:xfrm>
          <a:prstGeom prst="rect">
            <a:avLst/>
          </a:prstGeom>
          <a:noFill/>
          <a:ln/>
        </p:spPr>
        <p:txBody>
          <a:bodyPr wrap="square" lIns="0" tIns="0" rIns="0" bIns="0" rtlCol="0" anchor="ctr"/>
          <a:lstStyle/>
          <a:p>
            <a:pPr marL="0" indent="0">
              <a:buNone/>
            </a:pPr>
            <a:r>
              <a:rPr lang="en-US" sz="1000" b="1" spc="200">
                <a:solidFill>
                  <a:srgbClr val="1E5B58"/>
                </a:solidFill>
              </a:rPr>
              <a:t>School-family experience</a:t>
            </a:r>
            <a:endParaRPr lang="en-US" sz="1000"/>
          </a:p>
        </p:txBody>
      </p:sp>
      <p:sp>
        <p:nvSpPr>
          <p:cNvPr id="31" name="Experience Steps"/>
          <p:cNvSpPr/>
          <p:nvPr/>
        </p:nvSpPr>
        <p:spPr>
          <a:xfrm>
            <a:off x="566928" y="3000000"/>
            <a:ext cx="3400000" cy="900000"/>
          </a:xfrm>
          <a:prstGeom prst="roundRect">
            <a:avLst>
              <a:gd name="adj" fmla="val 8000"/>
            </a:avLst>
          </a:prstGeom>
          <a:solidFill>
            <a:srgbClr val="1E5B58"/>
          </a:solidFill>
          <a:ln>
            <a:noFill/>
          </a:ln>
        </p:spPr>
        <p:txBody>
          <a:bodyPr wrap="square" lIns="182880" tIns="91440" rIns="182880" bIns="91440" rtlCol="0" anchor="ctr">
            <a:normAutofit/>
          </a:bodyPr>
          <a:lstStyle/>
          <a:p>
            <a:pPr marL="0" indent="0" algn="ctr">
              <a:buNone/>
            </a:pPr>
            <a:r>
              <a:rPr lang="en-US" sz="1400" b="1">
                <a:solidFill>
                  <a:srgbClr val="FFFFFF"/>
                </a:solidFill>
                <a:latin typeface="Aptos Display"/>
              </a:rPr>
              <a:t>School selects an approved sign</a:t>
            </a:r>
            <a:endParaRPr lang="en-US" sz="1400"/>
          </a:p>
        </p:txBody>
      </p:sp>
      <p:sp>
        <p:nvSpPr>
          <p:cNvPr id="212" name="School Step 2"/>
          <p:cNvSpPr/>
          <p:nvPr/>
        </p:nvSpPr>
        <p:spPr>
          <a:xfrm>
            <a:off x="4200000" y="3000000"/>
            <a:ext cx="3400000" cy="900000"/>
          </a:xfrm>
          <a:prstGeom prst="roundRect">
            <a:avLst>
              <a:gd name="adj" fmla="val 8000"/>
            </a:avLst>
          </a:prstGeom>
          <a:solidFill>
            <a:srgbClr val="1E5B58"/>
          </a:solidFill>
          <a:ln>
            <a:noFill/>
          </a:ln>
        </p:spPr>
        <p:txBody>
          <a:bodyPr wrap="square" lIns="182880" tIns="91440" rIns="182880" bIns="91440" rtlCol="0" anchor="ctr">
            <a:normAutofit/>
          </a:bodyPr>
          <a:lstStyle/>
          <a:p>
            <a:pPr marL="0" indent="0" algn="ctr">
              <a:buNone/>
            </a:pPr>
            <a:r>
              <a:rPr lang="en-US" sz="1400" b="1">
                <a:solidFill>
                  <a:srgbClr val="FFFFFF"/>
                </a:solidFill>
                <a:latin typeface="Aptos Display"/>
              </a:rPr>
              <a:t>It becomes the classroom routine that week</a:t>
            </a:r>
            <a:endParaRPr lang="en-US" sz="1400"/>
          </a:p>
        </p:txBody>
      </p:sp>
      <p:sp>
        <p:nvSpPr>
          <p:cNvPr id="213" name="School Step 3"/>
          <p:cNvSpPr/>
          <p:nvPr/>
        </p:nvSpPr>
        <p:spPr>
          <a:xfrm>
            <a:off x="7833072" y="3000000"/>
            <a:ext cx="3400000" cy="900000"/>
          </a:xfrm>
          <a:prstGeom prst="roundRect">
            <a:avLst>
              <a:gd name="adj" fmla="val 8000"/>
            </a:avLst>
          </a:prstGeom>
          <a:solidFill>
            <a:srgbClr val="1E5B58"/>
          </a:solidFill>
          <a:ln>
            <a:noFill/>
          </a:ln>
        </p:spPr>
        <p:txBody>
          <a:bodyPr wrap="square" lIns="182880" tIns="91440" rIns="182880" bIns="91440" rtlCol="0" anchor="ctr">
            <a:normAutofit/>
          </a:bodyPr>
          <a:lstStyle/>
          <a:p>
            <a:pPr marL="0" indent="0" algn="ctr">
              <a:buNone/>
            </a:pPr>
            <a:r>
              <a:rPr lang="en-US" sz="1400" b="1">
                <a:solidFill>
                  <a:srgbClr val="FFFFFF"/>
                </a:solidFill>
                <a:latin typeface="Aptos Display"/>
              </a:rPr>
              <a:t>Family guidance continues at home</a:t>
            </a:r>
            <a:endParaRPr lang="en-US" sz="1400"/>
          </a:p>
        </p:txBody>
      </p:sp>
      <p:sp>
        <p:nvSpPr>
          <p:cNvPr id="214" name="School Arrow 1"/>
          <p:cNvSpPr/>
          <p:nvPr/>
        </p:nvSpPr>
        <p:spPr>
          <a:xfrm>
            <a:off x="4013464" y="3380000"/>
            <a:ext cx="150000" cy="140000"/>
          </a:xfrm>
          <a:prstGeom prst="rightArrow">
            <a:avLst/>
          </a:prstGeom>
          <a:solidFill>
            <a:srgbClr val="C9BCA9"/>
          </a:solidFill>
          <a:ln>
            <a:noFill/>
          </a:ln>
        </p:spPr>
        <p:txBody>
          <a:bodyPr/>
          <a:lstStyle/>
          <a:p>
            <a:endParaRPr lang="en-US"/>
          </a:p>
        </p:txBody>
      </p:sp>
      <p:sp>
        <p:nvSpPr>
          <p:cNvPr id="215" name="School Arrow 2"/>
          <p:cNvSpPr/>
          <p:nvPr/>
        </p:nvSpPr>
        <p:spPr>
          <a:xfrm>
            <a:off x="7646536" y="3380000"/>
            <a:ext cx="150000" cy="140000"/>
          </a:xfrm>
          <a:prstGeom prst="rightArrow">
            <a:avLst/>
          </a:prstGeom>
          <a:solidFill>
            <a:srgbClr val="C9BCA9"/>
          </a:solidFill>
          <a:ln>
            <a:noFill/>
          </a:ln>
        </p:spPr>
        <p:txBody>
          <a:bodyPr/>
          <a:lstStyle/>
          <a:p>
            <a:endParaRPr lang="en-US"/>
          </a:p>
        </p:txBody>
      </p:sp>
      <p:sp>
        <p:nvSpPr>
          <p:cNvPr id="35" name="Consequence"/>
          <p:cNvSpPr/>
          <p:nvPr/>
        </p:nvSpPr>
        <p:spPr>
          <a:xfrm>
            <a:off x="566928" y="4180000"/>
            <a:ext cx="10800000" cy="400000"/>
          </a:xfrm>
          <a:prstGeom prst="rect">
            <a:avLst/>
          </a:prstGeom>
          <a:noFill/>
          <a:ln/>
        </p:spPr>
        <p:txBody>
          <a:bodyPr wrap="square" lIns="0" tIns="0" rIns="0" bIns="0" rtlCol="0" anchor="t">
            <a:normAutofit/>
          </a:bodyPr>
          <a:lstStyle/>
          <a:p>
            <a:pPr marL="0" indent="0">
              <a:buNone/>
            </a:pPr>
            <a:r>
              <a:rPr lang="en-US" sz="1200">
                <a:solidFill>
                  <a:srgbClr val="6F6F6F"/>
                </a:solidFill>
              </a:rPr>
              <a:t>One governed library serves every school, without adding work to the classroom.</a:t>
            </a:r>
            <a:endParaRPr lang="en-US" sz="1200"/>
          </a:p>
        </p:txBody>
      </p:sp>
      <p:sp>
        <p:nvSpPr>
          <p:cNvPr id="80" name="Closing Accent"/>
          <p:cNvSpPr/>
          <p:nvPr/>
        </p:nvSpPr>
        <p:spPr>
          <a:xfrm>
            <a:off x="566928" y="4900000"/>
            <a:ext cx="700000" cy="45000"/>
          </a:xfrm>
          <a:prstGeom prst="rect">
            <a:avLst/>
          </a:prstGeom>
          <a:solidFill>
            <a:srgbClr val="D98B5F"/>
          </a:solidFill>
          <a:ln>
            <a:noFill/>
          </a:ln>
        </p:spPr>
        <p:txBody>
          <a:bodyPr/>
          <a:lstStyle/>
          <a:p>
            <a:endParaRPr lang="en-US"/>
          </a:p>
        </p:txBody>
      </p:sp>
      <p:sp>
        <p:nvSpPr>
          <p:cNvPr id="81" name="Closing Text"/>
          <p:cNvSpPr/>
          <p:nvPr/>
        </p:nvSpPr>
        <p:spPr>
          <a:xfrm>
            <a:off x="566928" y="5110000"/>
            <a:ext cx="10800000" cy="580000"/>
          </a:xfrm>
          <a:prstGeom prst="rect">
            <a:avLst/>
          </a:prstGeom>
          <a:noFill/>
          <a:ln/>
        </p:spPr>
        <p:txBody>
          <a:bodyPr wrap="square" lIns="0" tIns="0" rIns="0" bIns="0" rtlCol="0" anchor="t">
            <a:normAutofit/>
          </a:bodyPr>
          <a:lstStyle/>
          <a:p>
            <a:pPr marL="0" indent="0">
              <a:buNone/>
            </a:pPr>
            <a:r>
              <a:rPr lang="en-US" sz="1800" b="1">
                <a:solidFill>
                  <a:srgbClr val="1E5B58"/>
                </a:solidFill>
                <a:latin typeface="Aptos Display"/>
              </a:rPr>
              <a:t>The school does not manage the AI workflow. It only uses approved content.</a:t>
            </a:r>
            <a:endParaRPr lang="en-US" sz="1800"/>
          </a:p>
        </p:txBody>
      </p:sp>
      <p:sp>
        <p:nvSpPr>
          <p:cNvPr id="90" name="Footer"/>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a:solidFill>
                  <a:srgbClr val="6F6F6F"/>
                </a:solidFill>
              </a:rPr>
              <a:t>KinderFlow - Early-stage commercial validation</a:t>
            </a:r>
            <a:endParaRPr lang="en-US" sz="1100"/>
          </a:p>
        </p:txBody>
      </p:sp>
      <p:sp>
        <p:nvSpPr>
          <p:cNvPr id="95" name="Slide Number Placeholder 0"/>
          <p:cNvSpPr>
            <a:spLocks noGrp="1"/>
          </p:cNvSpPr>
          <p:nvPr>
            <p:ph type="sldNum" sz="quarter" idx="4294967295"/>
          </p:nvPr>
        </p:nvSpPr>
        <p:spPr>
          <a:xfrm>
            <a:off x="11300000" y="6565392"/>
            <a:ext cx="800000" cy="250000"/>
          </a:xfrm>
          <a:prstGeom prst="rect">
            <a:avLst/>
          </a:prstGeom>
        </p:spPr>
        <p:txBody>
          <a:bodyPr/>
          <a:lstStyle>
            <a:lvl1pPr>
              <a:defRPr sz="700">
                <a:solidFill>
                  <a:srgbClr val="6F6F6F"/>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7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7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80" grpId="0" animBg="1"/>
      <p:bldP spid="8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9184"/>
            <a:ext cx="10881360" cy="411480"/>
          </a:xfrm>
          <a:prstGeom prst="rect">
            <a:avLst/>
          </a:prstGeom>
          <a:noFill/>
          <a:ln/>
        </p:spPr>
        <p:txBody>
          <a:bodyPr wrap="square" lIns="0" tIns="0" rIns="0" bIns="0" rtlCol="0" anchor="ctr">
            <a:normAutofit/>
          </a:bodyPr>
          <a:lstStyle/>
          <a:p>
            <a:pPr marL="0" indent="0">
              <a:buNone/>
            </a:pPr>
            <a:r>
              <a:rPr lang="en-US" sz="2100" b="1">
                <a:solidFill>
                  <a:srgbClr val="1E1E1E"/>
                </a:solidFill>
                <a:latin typeface="Aptos Display"/>
              </a:rPr>
              <a:t>Implementation: how the content pipeline actually works</a:t>
            </a:r>
            <a:endParaRPr lang="en-US" sz="2100"/>
          </a:p>
        </p:txBody>
      </p:sp>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0" name="Pipeline Label"/>
          <p:cNvSpPr/>
          <p:nvPr/>
        </p:nvSpPr>
        <p:spPr>
          <a:xfrm>
            <a:off x="566928" y="1350000"/>
            <a:ext cx="4400000" cy="280000"/>
          </a:xfrm>
          <a:prstGeom prst="rect">
            <a:avLst/>
          </a:prstGeom>
          <a:noFill/>
          <a:ln/>
        </p:spPr>
        <p:txBody>
          <a:bodyPr wrap="square" lIns="0" tIns="0" rIns="0" bIns="0" rtlCol="0" anchor="ctr"/>
          <a:lstStyle/>
          <a:p>
            <a:pPr marL="0" indent="0">
              <a:buNone/>
            </a:pPr>
            <a:r>
              <a:rPr lang="en-US" sz="1000" b="1" spc="200">
                <a:solidFill>
                  <a:srgbClr val="1E5B58"/>
                </a:solidFill>
              </a:rPr>
              <a:t>Pipeline and stack</a:t>
            </a:r>
            <a:endParaRPr lang="en-US" sz="1000"/>
          </a:p>
        </p:txBody>
      </p:sp>
      <p:sp>
        <p:nvSpPr>
          <p:cNvPr id="21" name="Pipeline Rule"/>
          <p:cNvSpPr/>
          <p:nvPr/>
        </p:nvSpPr>
        <p:spPr>
          <a:xfrm>
            <a:off x="566928" y="1780000"/>
            <a:ext cx="12000" cy="2650000"/>
          </a:xfrm>
          <a:prstGeom prst="rect">
            <a:avLst/>
          </a:prstGeom>
          <a:solidFill>
            <a:srgbClr val="E3D6C8"/>
          </a:solidFill>
          <a:ln>
            <a:noFill/>
          </a:ln>
        </p:spPr>
        <p:txBody>
          <a:bodyPr/>
          <a:lstStyle/>
          <a:p>
            <a:endParaRPr lang="en-US"/>
          </a:p>
        </p:txBody>
      </p:sp>
      <p:sp>
        <p:nvSpPr>
          <p:cNvPr id="22" name="Pipeline Steps"/>
          <p:cNvSpPr/>
          <p:nvPr/>
        </p:nvSpPr>
        <p:spPr>
          <a:xfrm>
            <a:off x="820000" y="1780000"/>
            <a:ext cx="4300000" cy="2650000"/>
          </a:xfrm>
          <a:prstGeom prst="rect">
            <a:avLst/>
          </a:prstGeom>
          <a:noFill/>
          <a:ln/>
        </p:spPr>
        <p:txBody>
          <a:bodyPr wrap="square" lIns="0" tIns="0" rIns="0" bIns="0" rtlCol="0" anchor="t">
            <a:normAutofit/>
          </a:bodyPr>
          <a:lstStyle/>
          <a:p>
            <a:pPr marL="0" indent="0">
              <a:buNone/>
            </a:pPr>
            <a:r>
              <a:rPr lang="en-US" sz="1300" b="1">
                <a:solidFill>
                  <a:srgbClr val="4A4A4A"/>
                </a:solidFill>
              </a:rPr>
              <a:t>School content + CV summary</a:t>
            </a:r>
            <a:r>
              <a:rPr lang="en-US" sz="1100">
                <a:solidFill>
                  <a:srgbClr val="9A9A9A"/>
                </a:solidFill>
              </a:rPr>
              <a:t>   MediaPipe landmarks, missing-frame analysis</a:t>
            </a:r>
          </a:p>
          <a:p>
            <a:pPr marL="0" indent="0">
              <a:spcBef>
                <a:spcPts val="1400"/>
              </a:spcBef>
              <a:buNone/>
            </a:pPr>
            <a:r>
              <a:rPr lang="en-US" sz="1300" b="1">
                <a:solidFill>
                  <a:srgbClr val="4A4A4A"/>
                </a:solidFill>
              </a:rPr>
              <a:t>LLM family draft</a:t>
            </a:r>
            <a:r>
              <a:rPr lang="en-US" sz="1100">
                <a:solidFill>
                  <a:srgbClr val="9A9A9A"/>
                </a:solidFill>
              </a:rPr>
              <a:t>   n8n orchestration, structured prompt</a:t>
            </a:r>
          </a:p>
          <a:p>
            <a:pPr marL="0" indent="0">
              <a:spcBef>
                <a:spcPts val="1400"/>
              </a:spcBef>
              <a:buNone/>
            </a:pPr>
            <a:r>
              <a:rPr lang="en-US" sz="1300" b="1">
                <a:solidFill>
                  <a:srgbClr val="4A4A4A"/>
                </a:solidFill>
              </a:rPr>
              <a:t>Quality checks</a:t>
            </a:r>
            <a:r>
              <a:rPr lang="en-US" sz="1100">
                <a:solidFill>
                  <a:srgbClr val="9A9A9A"/>
                </a:solidFill>
              </a:rPr>
              <a:t>   grounded fields, no unsupported claims</a:t>
            </a:r>
          </a:p>
          <a:p>
            <a:pPr marL="0" indent="0">
              <a:spcBef>
                <a:spcPts val="1400"/>
              </a:spcBef>
              <a:buNone/>
            </a:pPr>
            <a:r>
              <a:rPr lang="en-US" sz="1300" b="1">
                <a:solidFill>
                  <a:srgbClr val="4A4A4A"/>
                </a:solidFill>
              </a:rPr>
              <a:t>LangSmith trace</a:t>
            </a:r>
            <a:r>
              <a:rPr lang="en-US" sz="1100">
                <a:solidFill>
                  <a:srgbClr val="9A9A9A"/>
                </a:solidFill>
              </a:rPr>
              <a:t>   evaluation of the content step</a:t>
            </a:r>
          </a:p>
          <a:p>
            <a:pPr marL="0" indent="0">
              <a:spcBef>
                <a:spcPts val="1400"/>
              </a:spcBef>
              <a:buNone/>
            </a:pPr>
            <a:r>
              <a:rPr lang="en-US" sz="1300" b="1">
                <a:solidFill>
                  <a:srgbClr val="4A4A4A"/>
                </a:solidFill>
              </a:rPr>
              <a:t>Draft pending approval</a:t>
            </a:r>
            <a:r>
              <a:rPr lang="en-US" sz="1100">
                <a:solidFill>
                  <a:srgbClr val="9A9A9A"/>
                </a:solidFill>
              </a:rPr>
              <a:t>   released only after human review</a:t>
            </a:r>
            <a:endParaRPr lang="en-US" sz="1100"/>
          </a:p>
        </p:txBody>
      </p:sp>
      <p:sp>
        <p:nvSpPr>
          <p:cNvPr id="26" name="Column Divider"/>
          <p:cNvSpPr/>
          <p:nvPr/>
        </p:nvSpPr>
        <p:spPr>
          <a:xfrm>
            <a:off x="5700000" y="1350000"/>
            <a:ext cx="12000" cy="3080000"/>
          </a:xfrm>
          <a:prstGeom prst="rect">
            <a:avLst/>
          </a:prstGeom>
          <a:solidFill>
            <a:srgbClr val="E3D6C8"/>
          </a:solidFill>
          <a:ln>
            <a:noFill/>
          </a:ln>
        </p:spPr>
        <p:txBody>
          <a:bodyPr/>
          <a:lstStyle/>
          <a:p>
            <a:endParaRPr lang="en-US"/>
          </a:p>
        </p:txBody>
      </p:sp>
      <p:sp>
        <p:nvSpPr>
          <p:cNvPr id="30" name="Input Label"/>
          <p:cNvSpPr/>
          <p:nvPr/>
        </p:nvSpPr>
        <p:spPr>
          <a:xfrm>
            <a:off x="6200000" y="1350000"/>
            <a:ext cx="5200000" cy="280000"/>
          </a:xfrm>
          <a:prstGeom prst="rect">
            <a:avLst/>
          </a:prstGeom>
          <a:noFill/>
          <a:ln/>
        </p:spPr>
        <p:txBody>
          <a:bodyPr wrap="square" lIns="0" tIns="0" rIns="0" bIns="0" rtlCol="0" anchor="ctr"/>
          <a:lstStyle/>
          <a:p>
            <a:pPr marL="0" indent="0">
              <a:buNone/>
            </a:pPr>
            <a:r>
              <a:rPr lang="en-US" sz="1000" b="1" spc="200">
                <a:solidFill>
                  <a:srgbClr val="1E5B58"/>
                </a:solidFill>
              </a:rPr>
              <a:t>Illustrative input schema</a:t>
            </a:r>
            <a:endParaRPr lang="en-US" sz="1000"/>
          </a:p>
        </p:txBody>
      </p:sp>
      <p:sp>
        <p:nvSpPr>
          <p:cNvPr id="31" name="Input Body"/>
          <p:cNvSpPr/>
          <p:nvPr/>
        </p:nvSpPr>
        <p:spPr>
          <a:xfrm>
            <a:off x="6200000" y="1720000"/>
            <a:ext cx="5200000" cy="1150000"/>
          </a:xfrm>
          <a:prstGeom prst="rect">
            <a:avLst/>
          </a:prstGeom>
          <a:noFill/>
          <a:ln/>
        </p:spPr>
        <p:txBody>
          <a:bodyPr wrap="square" lIns="0" tIns="0" rIns="0" bIns="0" rtlCol="0" anchor="t">
            <a:normAutofit/>
          </a:bodyPr>
          <a:lstStyle/>
          <a:p>
            <a:pPr marL="0" indent="0">
              <a:buNone/>
            </a:pPr>
            <a:r>
              <a:rPr lang="en-US" sz="1100">
                <a:solidFill>
                  <a:srgbClr val="6F6F6F"/>
                </a:solidFill>
                <a:latin typeface="Consolas"/>
              </a:rPr>
              <a:t>sign_name: More</a:t>
            </a:r>
          </a:p>
          <a:p>
            <a:pPr marL="0" indent="0">
              <a:buNone/>
            </a:pPr>
            <a:r>
              <a:rPr lang="en-US" sz="1100">
                <a:solidFill>
                  <a:srgbClr val="6F6F6F"/>
                </a:solidFill>
                <a:latin typeface="Consolas"/>
              </a:rPr>
              <a:t>routine_context: Snack time / playtime</a:t>
            </a:r>
          </a:p>
          <a:p>
            <a:pPr marL="0" indent="0">
              <a:buNone/>
            </a:pPr>
            <a:r>
              <a:rPr lang="en-US" sz="1100">
                <a:solidFill>
                  <a:srgbClr val="6F6F6F"/>
                </a:solidFill>
                <a:latin typeface="Consolas"/>
              </a:rPr>
              <a:t>movement_notes: Use school reference only</a:t>
            </a:r>
          </a:p>
          <a:p>
            <a:pPr marL="0" indent="0">
              <a:buNone/>
            </a:pPr>
            <a:r>
              <a:rPr lang="en-US" sz="1100">
                <a:solidFill>
                  <a:srgbClr val="6F6F6F"/>
                </a:solidFill>
                <a:latin typeface="Consolas"/>
              </a:rPr>
              <a:t>do_not_claim: no acceleration, no diagnosis</a:t>
            </a:r>
            <a:endParaRPr lang="en-US" sz="1100"/>
          </a:p>
        </p:txBody>
      </p:sp>
      <p:sp>
        <p:nvSpPr>
          <p:cNvPr id="35" name="Output Label"/>
          <p:cNvSpPr/>
          <p:nvPr/>
        </p:nvSpPr>
        <p:spPr>
          <a:xfrm>
            <a:off x="6200000" y="3050000"/>
            <a:ext cx="5200000" cy="280000"/>
          </a:xfrm>
          <a:prstGeom prst="rect">
            <a:avLst/>
          </a:prstGeom>
          <a:noFill/>
          <a:ln/>
        </p:spPr>
        <p:txBody>
          <a:bodyPr wrap="square" lIns="0" tIns="0" rIns="0" bIns="0" rtlCol="0" anchor="ctr"/>
          <a:lstStyle/>
          <a:p>
            <a:pPr marL="0" indent="0">
              <a:buNone/>
            </a:pPr>
            <a:r>
              <a:rPr lang="en-US" sz="1000" b="1" spc="200">
                <a:solidFill>
                  <a:srgbClr val="1E5B58"/>
                </a:solidFill>
              </a:rPr>
              <a:t>Illustrative output schema</a:t>
            </a:r>
            <a:endParaRPr lang="en-US" sz="1000"/>
          </a:p>
        </p:txBody>
      </p:sp>
      <p:sp>
        <p:nvSpPr>
          <p:cNvPr id="36" name="Output Body"/>
          <p:cNvSpPr/>
          <p:nvPr/>
        </p:nvSpPr>
        <p:spPr>
          <a:xfrm>
            <a:off x="6200000" y="3420000"/>
            <a:ext cx="5200000" cy="1150000"/>
          </a:xfrm>
          <a:prstGeom prst="rect">
            <a:avLst/>
          </a:prstGeom>
          <a:noFill/>
          <a:ln/>
        </p:spPr>
        <p:txBody>
          <a:bodyPr wrap="square" lIns="0" tIns="0" rIns="0" bIns="0" rtlCol="0" anchor="t">
            <a:normAutofit/>
          </a:bodyPr>
          <a:lstStyle/>
          <a:p>
            <a:pPr marL="0" indent="0">
              <a:buNone/>
            </a:pPr>
            <a:r>
              <a:rPr lang="en-US" sz="1100" b="1" dirty="0" err="1">
                <a:solidFill>
                  <a:srgbClr val="1E5B58"/>
                </a:solidFill>
                <a:latin typeface="Consolas"/>
              </a:rPr>
              <a:t>parent_title</a:t>
            </a:r>
            <a:r>
              <a:rPr lang="en-US" sz="1100" b="1" dirty="0">
                <a:solidFill>
                  <a:srgbClr val="1E5B58"/>
                </a:solidFill>
                <a:latin typeface="Consolas"/>
              </a:rPr>
              <a:t>: This week's sign: More</a:t>
            </a:r>
          </a:p>
          <a:p>
            <a:pPr marL="0" indent="0">
              <a:buNone/>
            </a:pPr>
            <a:r>
              <a:rPr lang="en-US" sz="1100" b="1" dirty="0" err="1">
                <a:solidFill>
                  <a:srgbClr val="1E5B58"/>
                </a:solidFill>
                <a:latin typeface="Consolas"/>
              </a:rPr>
              <a:t>when_to_use</a:t>
            </a:r>
            <a:r>
              <a:rPr lang="en-US" sz="1100" b="1" dirty="0">
                <a:solidFill>
                  <a:srgbClr val="1E5B58"/>
                </a:solidFill>
                <a:latin typeface="Consolas"/>
              </a:rPr>
              <a:t>: Snack time, playtime</a:t>
            </a:r>
          </a:p>
          <a:p>
            <a:pPr marL="0" indent="0">
              <a:buNone/>
            </a:pPr>
            <a:r>
              <a:rPr lang="en-US" sz="1100" b="1" dirty="0" err="1">
                <a:solidFill>
                  <a:srgbClr val="1E5B58"/>
                </a:solidFill>
                <a:latin typeface="Consolas"/>
              </a:rPr>
              <a:t>practice_tip</a:t>
            </a:r>
            <a:r>
              <a:rPr lang="en-US" sz="1100" b="1" dirty="0">
                <a:solidFill>
                  <a:srgbClr val="1E5B58"/>
                </a:solidFill>
                <a:latin typeface="Consolas"/>
              </a:rPr>
              <a:t>: Follow the school reference</a:t>
            </a:r>
          </a:p>
          <a:p>
            <a:pPr marL="0" indent="0">
              <a:buNone/>
            </a:pPr>
            <a:r>
              <a:rPr lang="en-US" sz="1100" b="1" dirty="0" err="1">
                <a:solidFill>
                  <a:srgbClr val="1E5B58"/>
                </a:solidFill>
                <a:latin typeface="Consolas"/>
              </a:rPr>
              <a:t>requires_human_review</a:t>
            </a:r>
            <a:r>
              <a:rPr lang="en-US" sz="1100" b="1" dirty="0">
                <a:solidFill>
                  <a:srgbClr val="1E5B58"/>
                </a:solidFill>
                <a:latin typeface="Consolas"/>
              </a:rPr>
              <a:t>: true</a:t>
            </a:r>
            <a:endParaRPr lang="en-US" sz="1100" dirty="0"/>
          </a:p>
        </p:txBody>
      </p:sp>
      <p:sp>
        <p:nvSpPr>
          <p:cNvPr id="80" name="Closing Accent"/>
          <p:cNvSpPr/>
          <p:nvPr/>
        </p:nvSpPr>
        <p:spPr>
          <a:xfrm>
            <a:off x="566928" y="5000000"/>
            <a:ext cx="700000" cy="45000"/>
          </a:xfrm>
          <a:prstGeom prst="rect">
            <a:avLst/>
          </a:prstGeom>
          <a:solidFill>
            <a:srgbClr val="D98B5F"/>
          </a:solidFill>
          <a:ln>
            <a:noFill/>
          </a:ln>
        </p:spPr>
        <p:txBody>
          <a:bodyPr/>
          <a:lstStyle/>
          <a:p>
            <a:endParaRPr lang="en-US"/>
          </a:p>
        </p:txBody>
      </p:sp>
      <p:sp>
        <p:nvSpPr>
          <p:cNvPr id="81" name="Closing Text"/>
          <p:cNvSpPr/>
          <p:nvPr/>
        </p:nvSpPr>
        <p:spPr>
          <a:xfrm>
            <a:off x="566928" y="5210000"/>
            <a:ext cx="10800000" cy="580000"/>
          </a:xfrm>
          <a:prstGeom prst="rect">
            <a:avLst/>
          </a:prstGeom>
          <a:noFill/>
          <a:ln/>
        </p:spPr>
        <p:txBody>
          <a:bodyPr wrap="square" lIns="0" tIns="0" rIns="0" bIns="0" rtlCol="0" anchor="t">
            <a:normAutofit/>
          </a:bodyPr>
          <a:lstStyle/>
          <a:p>
            <a:pPr marL="0" indent="0">
              <a:buNone/>
            </a:pPr>
            <a:r>
              <a:rPr lang="en-US" sz="1800" b="1">
                <a:solidFill>
                  <a:srgbClr val="1E5B58"/>
                </a:solidFill>
                <a:latin typeface="Aptos Display"/>
              </a:rPr>
              <a:t>LangSmith evaluates the content step, not the video or sign correctness.</a:t>
            </a:r>
            <a:endParaRPr lang="en-US" sz="1800"/>
          </a:p>
        </p:txBody>
      </p:sp>
      <p:sp>
        <p:nvSpPr>
          <p:cNvPr id="90" name="Footer"/>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a:solidFill>
                  <a:srgbClr val="6F6F6F"/>
                </a:solidFill>
              </a:rPr>
              <a:t>KinderFlow - Early-stage commercial validation</a:t>
            </a:r>
            <a:endParaRPr lang="en-US" sz="1100"/>
          </a:p>
        </p:txBody>
      </p:sp>
      <p:sp>
        <p:nvSpPr>
          <p:cNvPr id="95" name="Slide Number Placeholder 0"/>
          <p:cNvSpPr>
            <a:spLocks noGrp="1"/>
          </p:cNvSpPr>
          <p:nvPr>
            <p:ph type="sldNum" sz="quarter" idx="4294967295"/>
          </p:nvPr>
        </p:nvSpPr>
        <p:spPr>
          <a:xfrm>
            <a:off x="11300000" y="6565392"/>
            <a:ext cx="800000" cy="250000"/>
          </a:xfrm>
          <a:prstGeom prst="rect">
            <a:avLst/>
          </a:prstGeom>
        </p:spPr>
        <p:txBody>
          <a:bodyPr/>
          <a:lstStyle>
            <a:lvl1pPr>
              <a:defRPr sz="700">
                <a:solidFill>
                  <a:srgbClr val="6F6F6F"/>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B71FEF-A9D7-09BF-F25A-2E896C427693}"/>
              </a:ext>
            </a:extLst>
          </p:cNvPr>
          <p:cNvSpPr txBox="1"/>
          <p:nvPr/>
        </p:nvSpPr>
        <p:spPr>
          <a:xfrm>
            <a:off x="548640" y="548640"/>
            <a:ext cx="10607040" cy="731520"/>
          </a:xfrm>
          <a:prstGeom prst="rect">
            <a:avLst/>
          </a:prstGeom>
          <a:noFill/>
        </p:spPr>
        <p:txBody>
          <a:bodyPr wrap="square" lIns="27432" tIns="18288" rIns="27432" bIns="18288">
            <a:normAutofit/>
          </a:bodyPr>
          <a:lstStyle/>
          <a:p>
            <a:pPr algn="l"/>
            <a:r>
              <a:rPr lang="en-US" sz="4000" b="1">
                <a:solidFill>
                  <a:srgbClr val="222222"/>
                </a:solidFill>
                <a:latin typeface="Aptos"/>
              </a:rPr>
              <a:t>One purchase. Every family reached.</a:t>
            </a:r>
          </a:p>
        </p:txBody>
      </p:sp>
      <p:sp>
        <p:nvSpPr>
          <p:cNvPr id="4" name="TextBox 3">
            <a:extLst>
              <a:ext uri="{FF2B5EF4-FFF2-40B4-BE49-F238E27FC236}">
                <a16:creationId xmlns:a16="http://schemas.microsoft.com/office/drawing/2014/main" id="{799E566F-1963-D47F-43C5-6389258A185B}"/>
              </a:ext>
            </a:extLst>
          </p:cNvPr>
          <p:cNvSpPr txBox="1"/>
          <p:nvPr/>
        </p:nvSpPr>
        <p:spPr>
          <a:xfrm>
            <a:off x="530352" y="6537960"/>
            <a:ext cx="5943600" cy="201168"/>
          </a:xfrm>
          <a:prstGeom prst="rect">
            <a:avLst/>
          </a:prstGeom>
          <a:noFill/>
        </p:spPr>
        <p:txBody>
          <a:bodyPr wrap="square" lIns="27432" tIns="18288" rIns="27432" bIns="18288">
            <a:spAutoFit/>
          </a:bodyPr>
          <a:lstStyle/>
          <a:p>
            <a:pPr algn="l"/>
            <a:r>
              <a:rPr sz="850" b="0">
                <a:solidFill>
                  <a:srgbClr val="6B7280"/>
                </a:solidFill>
                <a:latin typeface="Aptos"/>
              </a:rPr>
              <a:t>KinderFlow - Early-stage commercial validation</a:t>
            </a:r>
          </a:p>
        </p:txBody>
      </p:sp>
      <p:sp>
        <p:nvSpPr>
          <p:cNvPr id="5" name="TextBox 4">
            <a:extLst>
              <a:ext uri="{FF2B5EF4-FFF2-40B4-BE49-F238E27FC236}">
                <a16:creationId xmlns:a16="http://schemas.microsoft.com/office/drawing/2014/main" id="{DEA52201-0B53-EF39-E005-C80148AA083A}"/>
              </a:ext>
            </a:extLst>
          </p:cNvPr>
          <p:cNvSpPr txBox="1"/>
          <p:nvPr/>
        </p:nvSpPr>
        <p:spPr>
          <a:xfrm>
            <a:off x="11292840" y="6528816"/>
            <a:ext cx="594360" cy="201168"/>
          </a:xfrm>
          <a:prstGeom prst="rect">
            <a:avLst/>
          </a:prstGeom>
          <a:noFill/>
        </p:spPr>
        <p:txBody>
          <a:bodyPr wrap="square" lIns="27432" tIns="18288" rIns="27432" bIns="18288">
            <a:spAutoFit/>
          </a:bodyPr>
          <a:lstStyle/>
          <a:p>
            <a:pPr algn="r"/>
            <a:r>
              <a:rPr sz="850">
                <a:solidFill>
                  <a:srgbClr val="6B7280"/>
                </a:solidFill>
                <a:latin typeface="Aptos"/>
              </a:rPr>
              <a:t>12</a:t>
            </a:r>
          </a:p>
        </p:txBody>
      </p:sp>
      <p:sp>
        <p:nvSpPr>
          <p:cNvPr id="10" name="TextBox 9">
            <a:extLst>
              <a:ext uri="{FF2B5EF4-FFF2-40B4-BE49-F238E27FC236}">
                <a16:creationId xmlns:a16="http://schemas.microsoft.com/office/drawing/2014/main" id="{0195F53D-571F-CB5C-3F21-E58180BE5F3A}"/>
              </a:ext>
            </a:extLst>
          </p:cNvPr>
          <p:cNvSpPr txBox="1"/>
          <p:nvPr/>
        </p:nvSpPr>
        <p:spPr>
          <a:xfrm>
            <a:off x="548640" y="1965960"/>
            <a:ext cx="6400800" cy="206210"/>
          </a:xfrm>
          <a:prstGeom prst="rect">
            <a:avLst/>
          </a:prstGeom>
          <a:noFill/>
        </p:spPr>
        <p:txBody>
          <a:bodyPr wrap="square" lIns="27432" tIns="18288" rIns="27432" bIns="18288">
            <a:spAutoFit/>
          </a:bodyPr>
          <a:lstStyle/>
          <a:p>
            <a:pPr algn="l"/>
            <a:r>
              <a:rPr lang="en-US" sz="1100" b="1" spc="180">
                <a:solidFill>
                  <a:srgbClr val="6B7280"/>
                </a:solidFill>
                <a:latin typeface="Aptos"/>
              </a:rPr>
              <a:t>ONE PURCHASE BECOMES ONE FAMILY CARD</a:t>
            </a:r>
          </a:p>
        </p:txBody>
      </p:sp>
      <p:sp>
        <p:nvSpPr>
          <p:cNvPr id="11" name="Rounded Rectangle 10">
            <a:extLst>
              <a:ext uri="{FF2B5EF4-FFF2-40B4-BE49-F238E27FC236}">
                <a16:creationId xmlns:a16="http://schemas.microsoft.com/office/drawing/2014/main" id="{F43BEDAC-1E25-9444-CB53-4D4F7DBEF001}"/>
              </a:ext>
            </a:extLst>
          </p:cNvPr>
          <p:cNvSpPr/>
          <p:nvPr/>
        </p:nvSpPr>
        <p:spPr>
          <a:xfrm>
            <a:off x="548640" y="2469480"/>
            <a:ext cx="1691640" cy="914400"/>
          </a:xfrm>
          <a:prstGeom prst="roundRect">
            <a:avLst/>
          </a:prstGeom>
          <a:no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1F6F6B"/>
                </a:solidFill>
                <a:latin typeface="Aptos"/>
              </a:rPr>
              <a:t>School account</a:t>
            </a:r>
          </a:p>
        </p:txBody>
      </p:sp>
      <p:sp>
        <p:nvSpPr>
          <p:cNvPr id="12" name="TextBox 11">
            <a:extLst>
              <a:ext uri="{FF2B5EF4-FFF2-40B4-BE49-F238E27FC236}">
                <a16:creationId xmlns:a16="http://schemas.microsoft.com/office/drawing/2014/main" id="{90C8F10A-A979-44BB-6FAC-EA1A4D388591}"/>
              </a:ext>
            </a:extLst>
          </p:cNvPr>
          <p:cNvSpPr txBox="1"/>
          <p:nvPr/>
        </p:nvSpPr>
        <p:spPr>
          <a:xfrm>
            <a:off x="54864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Basic</a:t>
            </a:r>
          </a:p>
        </p:txBody>
      </p:sp>
      <p:sp>
        <p:nvSpPr>
          <p:cNvPr id="13" name="TextBox 12">
            <a:extLst>
              <a:ext uri="{FF2B5EF4-FFF2-40B4-BE49-F238E27FC236}">
                <a16:creationId xmlns:a16="http://schemas.microsoft.com/office/drawing/2014/main" id="{E9E89A25-0BB8-16A7-95CE-B054AF2E21CB}"/>
              </a:ext>
            </a:extLst>
          </p:cNvPr>
          <p:cNvSpPr txBox="1"/>
          <p:nvPr/>
        </p:nvSpPr>
        <p:spPr>
          <a:xfrm>
            <a:off x="2258568" y="2788920"/>
            <a:ext cx="146304" cy="228600"/>
          </a:xfrm>
          <a:prstGeom prst="rect">
            <a:avLst/>
          </a:prstGeom>
          <a:noFill/>
        </p:spPr>
        <p:txBody>
          <a:bodyPr wrap="square" lIns="27432" tIns="18288" rIns="27432" bIns="18288">
            <a:spAutoFit/>
          </a:bodyPr>
          <a:lstStyle/>
          <a:p>
            <a:pPr algn="ctr"/>
            <a:r>
              <a:rPr lang="en-US" sz="1200" b="1">
                <a:solidFill>
                  <a:srgbClr val="6B7280"/>
                </a:solidFill>
                <a:latin typeface="Aptos"/>
              </a:rPr>
              <a:t>→</a:t>
            </a:r>
            <a:endParaRPr sz="1200" b="1">
              <a:solidFill>
                <a:srgbClr val="6B7280"/>
              </a:solidFill>
              <a:latin typeface="Aptos"/>
            </a:endParaRPr>
          </a:p>
        </p:txBody>
      </p:sp>
      <p:sp>
        <p:nvSpPr>
          <p:cNvPr id="14" name="Rounded Rectangle 13">
            <a:extLst>
              <a:ext uri="{FF2B5EF4-FFF2-40B4-BE49-F238E27FC236}">
                <a16:creationId xmlns:a16="http://schemas.microsoft.com/office/drawing/2014/main" id="{F6A2FB16-A34E-FE33-76F9-CB17CAD349C2}"/>
              </a:ext>
            </a:extLst>
          </p:cNvPr>
          <p:cNvSpPr/>
          <p:nvPr/>
        </p:nvSpPr>
        <p:spPr>
          <a:xfrm>
            <a:off x="2423160" y="2469480"/>
            <a:ext cx="1691640" cy="914400"/>
          </a:xfrm>
          <a:prstGeom prst="roundRect">
            <a:avLst/>
          </a:prstGeom>
          <a:no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1F6F6B"/>
                </a:solidFill>
                <a:latin typeface="Aptos"/>
              </a:rPr>
              <a:t>Classroom group</a:t>
            </a:r>
          </a:p>
        </p:txBody>
      </p:sp>
      <p:sp>
        <p:nvSpPr>
          <p:cNvPr id="15" name="TextBox 14">
            <a:extLst>
              <a:ext uri="{FF2B5EF4-FFF2-40B4-BE49-F238E27FC236}">
                <a16:creationId xmlns:a16="http://schemas.microsoft.com/office/drawing/2014/main" id="{E0E5A318-F33C-1B35-8541-2113714E950E}"/>
              </a:ext>
            </a:extLst>
          </p:cNvPr>
          <p:cNvSpPr txBox="1"/>
          <p:nvPr/>
        </p:nvSpPr>
        <p:spPr>
          <a:xfrm>
            <a:off x="242316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1-2 years</a:t>
            </a:r>
          </a:p>
        </p:txBody>
      </p:sp>
      <p:sp>
        <p:nvSpPr>
          <p:cNvPr id="16" name="TextBox 15">
            <a:extLst>
              <a:ext uri="{FF2B5EF4-FFF2-40B4-BE49-F238E27FC236}">
                <a16:creationId xmlns:a16="http://schemas.microsoft.com/office/drawing/2014/main" id="{857C5C2F-C083-08C5-2C00-8013DC30F665}"/>
              </a:ext>
            </a:extLst>
          </p:cNvPr>
          <p:cNvSpPr txBox="1"/>
          <p:nvPr/>
        </p:nvSpPr>
        <p:spPr>
          <a:xfrm>
            <a:off x="4133088" y="2788920"/>
            <a:ext cx="146304" cy="228600"/>
          </a:xfrm>
          <a:prstGeom prst="rect">
            <a:avLst/>
          </a:prstGeom>
          <a:noFill/>
        </p:spPr>
        <p:txBody>
          <a:bodyPr wrap="square" lIns="27432" tIns="18288" rIns="27432" bIns="18288">
            <a:spAutoFit/>
          </a:bodyPr>
          <a:lstStyle/>
          <a:p>
            <a:pPr algn="ctr"/>
            <a:r>
              <a:rPr lang="en-US" sz="1200" b="1">
                <a:solidFill>
                  <a:srgbClr val="6B7280"/>
                </a:solidFill>
                <a:latin typeface="Aptos"/>
              </a:rPr>
              <a:t>→</a:t>
            </a:r>
            <a:endParaRPr sz="1200" b="1">
              <a:solidFill>
                <a:srgbClr val="6B7280"/>
              </a:solidFill>
              <a:latin typeface="Aptos"/>
            </a:endParaRPr>
          </a:p>
        </p:txBody>
      </p:sp>
      <p:sp>
        <p:nvSpPr>
          <p:cNvPr id="17" name="Rounded Rectangle 16">
            <a:extLst>
              <a:ext uri="{FF2B5EF4-FFF2-40B4-BE49-F238E27FC236}">
                <a16:creationId xmlns:a16="http://schemas.microsoft.com/office/drawing/2014/main" id="{CBC2907F-71B7-1301-082F-D02C78B0A100}"/>
              </a:ext>
            </a:extLst>
          </p:cNvPr>
          <p:cNvSpPr/>
          <p:nvPr/>
        </p:nvSpPr>
        <p:spPr>
          <a:xfrm>
            <a:off x="4297680" y="2469480"/>
            <a:ext cx="1691640" cy="914400"/>
          </a:xfrm>
          <a:prstGeom prst="roundRect">
            <a:avLst/>
          </a:prstGeom>
          <a:no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1F6F6B"/>
                </a:solidFill>
                <a:latin typeface="Aptos"/>
              </a:rPr>
              <a:t>Teacher</a:t>
            </a:r>
          </a:p>
        </p:txBody>
      </p:sp>
      <p:sp>
        <p:nvSpPr>
          <p:cNvPr id="18" name="TextBox 17">
            <a:extLst>
              <a:ext uri="{FF2B5EF4-FFF2-40B4-BE49-F238E27FC236}">
                <a16:creationId xmlns:a16="http://schemas.microsoft.com/office/drawing/2014/main" id="{D1508EB5-66B9-7F2C-CD4C-C1414DC6E650}"/>
              </a:ext>
            </a:extLst>
          </p:cNvPr>
          <p:cNvSpPr txBox="1"/>
          <p:nvPr/>
        </p:nvSpPr>
        <p:spPr>
          <a:xfrm>
            <a:off x="429768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Teacher 1</a:t>
            </a:r>
          </a:p>
        </p:txBody>
      </p:sp>
      <p:sp>
        <p:nvSpPr>
          <p:cNvPr id="19" name="TextBox 18">
            <a:extLst>
              <a:ext uri="{FF2B5EF4-FFF2-40B4-BE49-F238E27FC236}">
                <a16:creationId xmlns:a16="http://schemas.microsoft.com/office/drawing/2014/main" id="{84F2036C-6EB5-A1C4-BE28-25FB44D51EE8}"/>
              </a:ext>
            </a:extLst>
          </p:cNvPr>
          <p:cNvSpPr txBox="1"/>
          <p:nvPr/>
        </p:nvSpPr>
        <p:spPr>
          <a:xfrm>
            <a:off x="6007608" y="2788920"/>
            <a:ext cx="146304" cy="228600"/>
          </a:xfrm>
          <a:prstGeom prst="rect">
            <a:avLst/>
          </a:prstGeom>
          <a:noFill/>
        </p:spPr>
        <p:txBody>
          <a:bodyPr wrap="square" lIns="27432" tIns="18288" rIns="27432" bIns="18288">
            <a:spAutoFit/>
          </a:bodyPr>
          <a:lstStyle/>
          <a:p>
            <a:pPr algn="ctr"/>
            <a:r>
              <a:rPr lang="en-US" sz="1200" b="1">
                <a:solidFill>
                  <a:srgbClr val="6B7280"/>
                </a:solidFill>
                <a:latin typeface="Aptos"/>
              </a:rPr>
              <a:t>→</a:t>
            </a:r>
            <a:endParaRPr sz="1200" b="1">
              <a:solidFill>
                <a:srgbClr val="6B7280"/>
              </a:solidFill>
              <a:latin typeface="Aptos"/>
            </a:endParaRPr>
          </a:p>
        </p:txBody>
      </p:sp>
      <p:sp>
        <p:nvSpPr>
          <p:cNvPr id="20" name="Rounded Rectangle 19">
            <a:extLst>
              <a:ext uri="{FF2B5EF4-FFF2-40B4-BE49-F238E27FC236}">
                <a16:creationId xmlns:a16="http://schemas.microsoft.com/office/drawing/2014/main" id="{2223714E-F490-1A44-D067-3A62D0159233}"/>
              </a:ext>
            </a:extLst>
          </p:cNvPr>
          <p:cNvSpPr/>
          <p:nvPr/>
        </p:nvSpPr>
        <p:spPr>
          <a:xfrm>
            <a:off x="6172200" y="2469480"/>
            <a:ext cx="1691640" cy="914400"/>
          </a:xfrm>
          <a:prstGeom prst="roundRect">
            <a:avLst/>
          </a:prstGeom>
          <a:no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1F6F6B"/>
                </a:solidFill>
                <a:latin typeface="Aptos"/>
              </a:rPr>
              <a:t>Child profile</a:t>
            </a:r>
          </a:p>
        </p:txBody>
      </p:sp>
      <p:sp>
        <p:nvSpPr>
          <p:cNvPr id="21" name="TextBox 20">
            <a:extLst>
              <a:ext uri="{FF2B5EF4-FFF2-40B4-BE49-F238E27FC236}">
                <a16:creationId xmlns:a16="http://schemas.microsoft.com/office/drawing/2014/main" id="{89C7E33C-D1F5-0C88-5DF1-5ED3EA87E227}"/>
              </a:ext>
            </a:extLst>
          </p:cNvPr>
          <p:cNvSpPr txBox="1"/>
          <p:nvPr/>
        </p:nvSpPr>
        <p:spPr>
          <a:xfrm>
            <a:off x="617220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family access</a:t>
            </a:r>
          </a:p>
        </p:txBody>
      </p:sp>
      <p:sp>
        <p:nvSpPr>
          <p:cNvPr id="22" name="TextBox 21">
            <a:extLst>
              <a:ext uri="{FF2B5EF4-FFF2-40B4-BE49-F238E27FC236}">
                <a16:creationId xmlns:a16="http://schemas.microsoft.com/office/drawing/2014/main" id="{78378848-0AB4-61BA-2699-BFF422F95B65}"/>
              </a:ext>
            </a:extLst>
          </p:cNvPr>
          <p:cNvSpPr txBox="1"/>
          <p:nvPr/>
        </p:nvSpPr>
        <p:spPr>
          <a:xfrm>
            <a:off x="7882128" y="2788920"/>
            <a:ext cx="146304" cy="228600"/>
          </a:xfrm>
          <a:prstGeom prst="rect">
            <a:avLst/>
          </a:prstGeom>
          <a:noFill/>
        </p:spPr>
        <p:txBody>
          <a:bodyPr wrap="square" lIns="27432" tIns="18288" rIns="27432" bIns="18288">
            <a:spAutoFit/>
          </a:bodyPr>
          <a:lstStyle/>
          <a:p>
            <a:pPr algn="ctr"/>
            <a:r>
              <a:rPr lang="en-US" sz="1200" b="1">
                <a:solidFill>
                  <a:srgbClr val="6B7280"/>
                </a:solidFill>
                <a:latin typeface="Aptos"/>
              </a:rPr>
              <a:t>→</a:t>
            </a:r>
            <a:endParaRPr sz="1200" b="1">
              <a:solidFill>
                <a:srgbClr val="6B7280"/>
              </a:solidFill>
              <a:latin typeface="Aptos"/>
            </a:endParaRPr>
          </a:p>
        </p:txBody>
      </p:sp>
      <p:sp>
        <p:nvSpPr>
          <p:cNvPr id="23" name="Rounded Rectangle 22">
            <a:extLst>
              <a:ext uri="{FF2B5EF4-FFF2-40B4-BE49-F238E27FC236}">
                <a16:creationId xmlns:a16="http://schemas.microsoft.com/office/drawing/2014/main" id="{FB4B1129-C348-973A-BD71-EDFA51FD2613}"/>
              </a:ext>
            </a:extLst>
          </p:cNvPr>
          <p:cNvSpPr/>
          <p:nvPr/>
        </p:nvSpPr>
        <p:spPr>
          <a:xfrm>
            <a:off x="8046720" y="2469480"/>
            <a:ext cx="1691640" cy="914400"/>
          </a:xfrm>
          <a:prstGeom prst="roundRect">
            <a:avLst/>
          </a:prstGeom>
          <a:noFill/>
          <a:ln w="7620">
            <a:solidFill>
              <a:srgbClr val="DCE1E2"/>
            </a:solid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1F6F6B"/>
                </a:solidFill>
                <a:latin typeface="Aptos"/>
              </a:rPr>
              <a:t>Weekly sign</a:t>
            </a:r>
          </a:p>
        </p:txBody>
      </p:sp>
      <p:sp>
        <p:nvSpPr>
          <p:cNvPr id="24" name="TextBox 23">
            <a:extLst>
              <a:ext uri="{FF2B5EF4-FFF2-40B4-BE49-F238E27FC236}">
                <a16:creationId xmlns:a16="http://schemas.microsoft.com/office/drawing/2014/main" id="{6F2D603F-B8A4-AFAE-405E-C5B6E4C54D6A}"/>
              </a:ext>
            </a:extLst>
          </p:cNvPr>
          <p:cNvSpPr txBox="1"/>
          <p:nvPr/>
        </p:nvSpPr>
        <p:spPr>
          <a:xfrm>
            <a:off x="804672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MORE</a:t>
            </a:r>
          </a:p>
        </p:txBody>
      </p:sp>
      <p:sp>
        <p:nvSpPr>
          <p:cNvPr id="25" name="TextBox 24">
            <a:extLst>
              <a:ext uri="{FF2B5EF4-FFF2-40B4-BE49-F238E27FC236}">
                <a16:creationId xmlns:a16="http://schemas.microsoft.com/office/drawing/2014/main" id="{99B9C57F-E893-2007-0A15-B84F239BBC25}"/>
              </a:ext>
            </a:extLst>
          </p:cNvPr>
          <p:cNvSpPr txBox="1"/>
          <p:nvPr/>
        </p:nvSpPr>
        <p:spPr>
          <a:xfrm>
            <a:off x="9756648" y="2788920"/>
            <a:ext cx="146304" cy="228600"/>
          </a:xfrm>
          <a:prstGeom prst="rect">
            <a:avLst/>
          </a:prstGeom>
          <a:noFill/>
        </p:spPr>
        <p:txBody>
          <a:bodyPr wrap="square" lIns="27432" tIns="18288" rIns="27432" bIns="18288">
            <a:spAutoFit/>
          </a:bodyPr>
          <a:lstStyle/>
          <a:p>
            <a:pPr algn="ctr"/>
            <a:r>
              <a:rPr lang="en-US" sz="1200" b="1">
                <a:solidFill>
                  <a:srgbClr val="6B7280"/>
                </a:solidFill>
                <a:latin typeface="Aptos"/>
              </a:rPr>
              <a:t>→</a:t>
            </a:r>
            <a:endParaRPr sz="1200" b="1">
              <a:solidFill>
                <a:srgbClr val="6B7280"/>
              </a:solidFill>
              <a:latin typeface="Aptos"/>
            </a:endParaRPr>
          </a:p>
        </p:txBody>
      </p:sp>
      <p:sp>
        <p:nvSpPr>
          <p:cNvPr id="26" name="Rounded Rectangle 25">
            <a:extLst>
              <a:ext uri="{FF2B5EF4-FFF2-40B4-BE49-F238E27FC236}">
                <a16:creationId xmlns:a16="http://schemas.microsoft.com/office/drawing/2014/main" id="{C661D219-D2C8-7B96-9332-70197548C909}"/>
              </a:ext>
            </a:extLst>
          </p:cNvPr>
          <p:cNvSpPr/>
          <p:nvPr/>
        </p:nvSpPr>
        <p:spPr>
          <a:xfrm>
            <a:off x="9921240" y="2469480"/>
            <a:ext cx="1691640" cy="914400"/>
          </a:xfrm>
          <a:prstGeom prst="roundRect">
            <a:avLst/>
          </a:prstGeom>
          <a:solidFill>
            <a:srgbClr val="C97855"/>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27432" rtlCol="0" anchor="ctr"/>
          <a:lstStyle/>
          <a:p>
            <a:pPr algn="ctr"/>
            <a:r>
              <a:rPr lang="en-US" sz="1300" b="1">
                <a:solidFill>
                  <a:srgbClr val="FFFFFF"/>
                </a:solidFill>
                <a:latin typeface="Aptos"/>
              </a:rPr>
              <a:t>Prepared output</a:t>
            </a:r>
          </a:p>
        </p:txBody>
      </p:sp>
      <p:sp>
        <p:nvSpPr>
          <p:cNvPr id="27" name="TextBox 26">
            <a:extLst>
              <a:ext uri="{FF2B5EF4-FFF2-40B4-BE49-F238E27FC236}">
                <a16:creationId xmlns:a16="http://schemas.microsoft.com/office/drawing/2014/main" id="{1D708846-4CAF-D7EC-525D-8D92EC552BA6}"/>
              </a:ext>
            </a:extLst>
          </p:cNvPr>
          <p:cNvSpPr txBox="1"/>
          <p:nvPr/>
        </p:nvSpPr>
        <p:spPr>
          <a:xfrm>
            <a:off x="9921240" y="3456432"/>
            <a:ext cx="1691640" cy="183127"/>
          </a:xfrm>
          <a:prstGeom prst="rect">
            <a:avLst/>
          </a:prstGeom>
          <a:noFill/>
        </p:spPr>
        <p:txBody>
          <a:bodyPr wrap="square" lIns="27432" tIns="18288" rIns="27432" bIns="18288">
            <a:spAutoFit/>
          </a:bodyPr>
          <a:lstStyle/>
          <a:p>
            <a:pPr algn="ctr"/>
            <a:r>
              <a:rPr lang="en-US" sz="950" b="0">
                <a:solidFill>
                  <a:srgbClr val="6B7280"/>
                </a:solidFill>
                <a:latin typeface="Aptos"/>
              </a:rPr>
              <a:t>family card</a:t>
            </a:r>
          </a:p>
        </p:txBody>
      </p:sp>
      <p:sp>
        <p:nvSpPr>
          <p:cNvPr id="28" name="Rounded Rectangle 27">
            <a:extLst>
              <a:ext uri="{FF2B5EF4-FFF2-40B4-BE49-F238E27FC236}">
                <a16:creationId xmlns:a16="http://schemas.microsoft.com/office/drawing/2014/main" id="{0F0D56D6-CE2F-99D6-A458-6C75497FE50C}"/>
              </a:ext>
            </a:extLst>
          </p:cNvPr>
          <p:cNvSpPr/>
          <p:nvPr/>
        </p:nvSpPr>
        <p:spPr>
          <a:xfrm>
            <a:off x="548640" y="4297680"/>
            <a:ext cx="50292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l"/>
            <a:r>
              <a:rPr lang="en-US" sz="1500" b="1">
                <a:solidFill>
                  <a:srgbClr val="1F6F6B"/>
                </a:solidFill>
                <a:latin typeface="Aptos"/>
              </a:rPr>
              <a:t>Grows with premium packs.</a:t>
            </a:r>
          </a:p>
        </p:txBody>
      </p:sp>
      <p:sp>
        <p:nvSpPr>
          <p:cNvPr id="31" name="Rounded Rectangle 30">
            <a:extLst>
              <a:ext uri="{FF2B5EF4-FFF2-40B4-BE49-F238E27FC236}">
                <a16:creationId xmlns:a16="http://schemas.microsoft.com/office/drawing/2014/main" id="{12869C54-21C6-6EB8-AF5A-6DF7916B9C8E}"/>
              </a:ext>
            </a:extLst>
          </p:cNvPr>
          <p:cNvSpPr/>
          <p:nvPr/>
        </p:nvSpPr>
        <p:spPr>
          <a:xfrm>
            <a:off x="6309360" y="4297680"/>
            <a:ext cx="50292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l"/>
            <a:r>
              <a:rPr lang="en-US" sz="1500">
                <a:solidFill>
                  <a:srgbClr val="6B7280"/>
                </a:solidFill>
                <a:latin typeface="Aptos"/>
              </a:rPr>
              <a:t>No payments or login in the prototype.</a:t>
            </a:r>
          </a:p>
        </p:txBody>
      </p:sp>
      <p:sp>
        <p:nvSpPr>
          <p:cNvPr id="32" name="Rounded Rectangle 31">
            <a:extLst>
              <a:ext uri="{FF2B5EF4-FFF2-40B4-BE49-F238E27FC236}">
                <a16:creationId xmlns:a16="http://schemas.microsoft.com/office/drawing/2014/main" id="{FC95FE94-2EAA-0304-458D-C97838A37877}"/>
              </a:ext>
            </a:extLst>
          </p:cNvPr>
          <p:cNvSpPr/>
          <p:nvPr/>
        </p:nvSpPr>
        <p:spPr>
          <a:xfrm>
            <a:off x="548640" y="5120640"/>
            <a:ext cx="11064240" cy="685800"/>
          </a:xfrm>
          <a:prstGeom prst="roundRect">
            <a:avLst/>
          </a:prstGeom>
          <a:solidFill>
            <a:srgbClr val="F0F8F7"/>
          </a:solidFill>
          <a:ln w="12700">
            <a:solidFill>
              <a:srgbClr val="1F6F6B"/>
            </a:solidFill>
          </a:ln>
        </p:spPr>
        <p:style>
          <a:lnRef idx="1">
            <a:schemeClr val="accent1"/>
          </a:lnRef>
          <a:fillRef idx="3">
            <a:schemeClr val="accent1"/>
          </a:fillRef>
          <a:effectRef idx="2">
            <a:schemeClr val="accent1"/>
          </a:effectRef>
          <a:fontRef idx="minor">
            <a:schemeClr val="lt1"/>
          </a:fontRef>
        </p:style>
        <p:txBody>
          <a:bodyPr wrap="square" lIns="118872" tIns="82296" rIns="109728" bIns="64008" rtlCol="0" anchor="ctr"/>
          <a:lstStyle/>
          <a:p>
            <a:pPr algn="ctr"/>
            <a:r>
              <a:rPr lang="en-US" sz="2000" b="1">
                <a:solidFill>
                  <a:srgbClr val="1F6F6B"/>
                </a:solidFill>
                <a:latin typeface="Aptos"/>
              </a:rPr>
              <a:t>We do not sell content. We sell a weekly routine.</a:t>
            </a:r>
            <a:endParaRPr lang="en-US" sz="2000" b="1">
              <a:solidFill>
                <a:srgbClr val="6B7280"/>
              </a:solidFill>
              <a:latin typeface="Aptos"/>
            </a:endParaRPr>
          </a:p>
        </p:txBody>
      </p:sp>
    </p:spTree>
    <p:extLst>
      <p:ext uri="{BB962C8B-B14F-4D97-AF65-F5344CB8AC3E}">
        <p14:creationId xmlns:p14="http://schemas.microsoft.com/office/powerpoint/2010/main" val="2223648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dirty="0">
                <a:solidFill>
                  <a:srgbClr val="2E2E2E"/>
                </a:solidFill>
                <a:latin typeface="Aptos Display" pitchFamily="34" charset="0"/>
                <a:ea typeface="Aptos Display" pitchFamily="34" charset="-122"/>
                <a:cs typeface="Aptos Display" pitchFamily="34" charset="-120"/>
              </a:rPr>
              <a:t>A focused 8-9 week commercial validation phase, estimated €5.5k-€17.8k</a:t>
            </a:r>
            <a:endParaRPr lang="en-US" sz="2100" dirty="0"/>
          </a:p>
        </p:txBody>
      </p:sp>
      <p:sp>
        <p:nvSpPr>
          <p:cNvPr id="3" name="Shape 1"/>
          <p:cNvSpPr/>
          <p:nvPr/>
        </p:nvSpPr>
        <p:spPr>
          <a:xfrm>
            <a:off x="327993" y="1417320"/>
            <a:ext cx="2148840" cy="1737360"/>
          </a:xfrm>
          <a:prstGeom prst="roundRect">
            <a:avLst>
              <a:gd name="adj" fmla="val 3404"/>
            </a:avLst>
          </a:prstGeom>
          <a:solidFill>
            <a:srgbClr val="F4F0E8"/>
          </a:solidFill>
          <a:ln w="9525">
            <a:solidFill>
              <a:srgbClr val="E3D6C8"/>
            </a:solidFill>
            <a:prstDash val="solid"/>
          </a:ln>
        </p:spPr>
        <p:txBody>
          <a:bodyPr/>
          <a:lstStyle/>
          <a:p>
            <a:endParaRPr lang="en-US"/>
          </a:p>
        </p:txBody>
      </p:sp>
      <p:sp>
        <p:nvSpPr>
          <p:cNvPr id="4" name="Text 2"/>
          <p:cNvSpPr/>
          <p:nvPr/>
        </p:nvSpPr>
        <p:spPr>
          <a:xfrm>
            <a:off x="302413" y="1531624"/>
            <a:ext cx="2200000" cy="320032"/>
          </a:xfrm>
          <a:prstGeom prst="rect">
            <a:avLst/>
          </a:prstGeom>
          <a:noFill/>
          <a:ln/>
        </p:spPr>
        <p:txBody>
          <a:bodyPr wrap="square" lIns="0" tIns="0" rIns="0" bIns="0" rtlCol="0" anchor="ctr"/>
          <a:lstStyle/>
          <a:p>
            <a:pPr marL="0" indent="0" algn="ctr">
              <a:buNone/>
            </a:pPr>
            <a:r>
              <a:rPr lang="en-US" sz="1500" b="1" dirty="0">
                <a:solidFill>
                  <a:srgbClr val="2F7F7B"/>
                </a:solidFill>
              </a:rPr>
              <a:t>Technical feasibility</a:t>
            </a:r>
            <a:endParaRPr lang="en-US" sz="1500" dirty="0"/>
          </a:p>
        </p:txBody>
      </p:sp>
      <p:sp>
        <p:nvSpPr>
          <p:cNvPr id="5" name="Text 3"/>
          <p:cNvSpPr/>
          <p:nvPr/>
        </p:nvSpPr>
        <p:spPr>
          <a:xfrm>
            <a:off x="492585" y="1892808"/>
            <a:ext cx="1819656" cy="1143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1 week</a:t>
            </a:r>
            <a:endParaRPr lang="en-US" sz="1300" dirty="0"/>
          </a:p>
          <a:p>
            <a:pPr marL="0" indent="0" algn="ctr">
              <a:buNone/>
            </a:pPr>
            <a:endParaRPr lang="en-US" sz="1300" dirty="0"/>
          </a:p>
          <a:p>
            <a:pPr marL="0" indent="0" algn="ctr">
              <a:buNone/>
            </a:pPr>
            <a:r>
              <a:rPr lang="en-US" sz="1300" dirty="0">
                <a:solidFill>
                  <a:srgbClr val="2E2E2E"/>
                </a:solidFill>
              </a:rPr>
              <a:t>CV motion POC</a:t>
            </a:r>
            <a:endParaRPr lang="en-US" sz="1300" dirty="0"/>
          </a:p>
        </p:txBody>
      </p:sp>
      <p:sp>
        <p:nvSpPr>
          <p:cNvPr id="6" name="Shape 4"/>
          <p:cNvSpPr/>
          <p:nvPr/>
        </p:nvSpPr>
        <p:spPr>
          <a:xfrm>
            <a:off x="2641425" y="1417320"/>
            <a:ext cx="2148840" cy="1737360"/>
          </a:xfrm>
          <a:prstGeom prst="roundRect">
            <a:avLst>
              <a:gd name="adj" fmla="val 3404"/>
            </a:avLst>
          </a:prstGeom>
          <a:solidFill>
            <a:srgbClr val="F4F0E8"/>
          </a:solidFill>
          <a:ln w="9525">
            <a:solidFill>
              <a:srgbClr val="E3D6C8"/>
            </a:solidFill>
            <a:prstDash val="solid"/>
          </a:ln>
        </p:spPr>
        <p:txBody>
          <a:bodyPr/>
          <a:lstStyle/>
          <a:p>
            <a:endParaRPr lang="en-US"/>
          </a:p>
        </p:txBody>
      </p:sp>
      <p:sp>
        <p:nvSpPr>
          <p:cNvPr id="7" name="Text 5"/>
          <p:cNvSpPr/>
          <p:nvPr/>
        </p:nvSpPr>
        <p:spPr>
          <a:xfrm>
            <a:off x="2806017" y="1563624"/>
            <a:ext cx="1819656" cy="256032"/>
          </a:xfrm>
          <a:prstGeom prst="rect">
            <a:avLst/>
          </a:prstGeom>
          <a:noFill/>
          <a:ln/>
        </p:spPr>
        <p:txBody>
          <a:bodyPr wrap="square" lIns="0" tIns="0" rIns="0" bIns="0" rtlCol="0" anchor="ctr"/>
          <a:lstStyle/>
          <a:p>
            <a:pPr marL="0" indent="0" algn="ctr">
              <a:buNone/>
            </a:pPr>
            <a:r>
              <a:rPr lang="en-US" sz="1500" b="1" dirty="0">
                <a:solidFill>
                  <a:srgbClr val="2F7F7B"/>
                </a:solidFill>
              </a:rPr>
              <a:t>Content workflow</a:t>
            </a:r>
            <a:endParaRPr lang="en-US" sz="1500" dirty="0"/>
          </a:p>
        </p:txBody>
      </p:sp>
      <p:sp>
        <p:nvSpPr>
          <p:cNvPr id="8" name="Text 6"/>
          <p:cNvSpPr/>
          <p:nvPr/>
        </p:nvSpPr>
        <p:spPr>
          <a:xfrm>
            <a:off x="2806017" y="1892808"/>
            <a:ext cx="1819656" cy="1143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1 week</a:t>
            </a:r>
            <a:endParaRPr lang="en-US" sz="1300" dirty="0"/>
          </a:p>
          <a:p>
            <a:pPr marL="0" indent="0" algn="ctr">
              <a:buNone/>
            </a:pPr>
            <a:endParaRPr lang="en-US" sz="1300" dirty="0"/>
          </a:p>
          <a:p>
            <a:pPr marL="0" indent="0" algn="ctr">
              <a:buNone/>
            </a:pPr>
            <a:r>
              <a:rPr lang="en-US" sz="1300" dirty="0">
                <a:solidFill>
                  <a:srgbClr val="2E2E2E"/>
                </a:solidFill>
              </a:rPr>
              <a:t>n8n + LangSmith</a:t>
            </a:r>
            <a:endParaRPr lang="en-US" sz="1300" dirty="0"/>
          </a:p>
        </p:txBody>
      </p:sp>
      <p:sp>
        <p:nvSpPr>
          <p:cNvPr id="9" name="Shape 7"/>
          <p:cNvSpPr/>
          <p:nvPr/>
        </p:nvSpPr>
        <p:spPr>
          <a:xfrm>
            <a:off x="4954857" y="1417320"/>
            <a:ext cx="2148840" cy="1737360"/>
          </a:xfrm>
          <a:prstGeom prst="roundRect">
            <a:avLst>
              <a:gd name="adj" fmla="val 3404"/>
            </a:avLst>
          </a:prstGeom>
          <a:solidFill>
            <a:srgbClr val="F4F0E8"/>
          </a:solidFill>
          <a:ln w="9525">
            <a:solidFill>
              <a:srgbClr val="E3D6C8"/>
            </a:solidFill>
            <a:prstDash val="solid"/>
          </a:ln>
        </p:spPr>
        <p:txBody>
          <a:bodyPr/>
          <a:lstStyle/>
          <a:p>
            <a:endParaRPr lang="en-US"/>
          </a:p>
        </p:txBody>
      </p:sp>
      <p:sp>
        <p:nvSpPr>
          <p:cNvPr id="10" name="Text 8"/>
          <p:cNvSpPr/>
          <p:nvPr/>
        </p:nvSpPr>
        <p:spPr>
          <a:xfrm>
            <a:off x="5119449" y="1563624"/>
            <a:ext cx="1819656" cy="256032"/>
          </a:xfrm>
          <a:prstGeom prst="rect">
            <a:avLst/>
          </a:prstGeom>
          <a:noFill/>
          <a:ln/>
        </p:spPr>
        <p:txBody>
          <a:bodyPr wrap="square" lIns="0" tIns="0" rIns="0" bIns="0" rtlCol="0" anchor="ctr"/>
          <a:lstStyle/>
          <a:p>
            <a:pPr marL="0" indent="0" algn="ctr">
              <a:buNone/>
            </a:pPr>
            <a:r>
              <a:rPr lang="en-US" sz="1500" b="1" dirty="0">
                <a:solidFill>
                  <a:srgbClr val="2F7F7B"/>
                </a:solidFill>
              </a:rPr>
              <a:t>Concept validation</a:t>
            </a:r>
            <a:endParaRPr lang="en-US" sz="1500" dirty="0"/>
          </a:p>
        </p:txBody>
      </p:sp>
      <p:sp>
        <p:nvSpPr>
          <p:cNvPr id="11" name="Text 9"/>
          <p:cNvSpPr/>
          <p:nvPr/>
        </p:nvSpPr>
        <p:spPr>
          <a:xfrm>
            <a:off x="5119449" y="1892808"/>
            <a:ext cx="1819656" cy="1143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2 weeks</a:t>
            </a:r>
            <a:endParaRPr lang="en-US" sz="1300" dirty="0"/>
          </a:p>
          <a:p>
            <a:pPr marL="0" indent="0" algn="ctr">
              <a:buNone/>
            </a:pPr>
            <a:endParaRPr lang="en-US" sz="1300" dirty="0"/>
          </a:p>
          <a:p>
            <a:pPr marL="0" indent="0" algn="ctr">
              <a:buNone/>
            </a:pPr>
            <a:r>
              <a:rPr lang="en-US" sz="1300" dirty="0">
                <a:solidFill>
                  <a:srgbClr val="2E2E2E"/>
                </a:solidFill>
              </a:rPr>
              <a:t>Parent / educator feedback</a:t>
            </a:r>
            <a:endParaRPr lang="en-US" sz="1300" dirty="0"/>
          </a:p>
        </p:txBody>
      </p:sp>
      <p:sp>
        <p:nvSpPr>
          <p:cNvPr id="12" name="Shape 10"/>
          <p:cNvSpPr/>
          <p:nvPr/>
        </p:nvSpPr>
        <p:spPr>
          <a:xfrm>
            <a:off x="7268289" y="1417320"/>
            <a:ext cx="2148840" cy="1737360"/>
          </a:xfrm>
          <a:prstGeom prst="roundRect">
            <a:avLst>
              <a:gd name="adj" fmla="val 3404"/>
            </a:avLst>
          </a:prstGeom>
          <a:solidFill>
            <a:srgbClr val="F4F0E8"/>
          </a:solidFill>
          <a:ln w="9525">
            <a:solidFill>
              <a:srgbClr val="E3D6C8"/>
            </a:solidFill>
            <a:prstDash val="solid"/>
          </a:ln>
        </p:spPr>
        <p:txBody>
          <a:bodyPr/>
          <a:lstStyle/>
          <a:p>
            <a:endParaRPr lang="en-US"/>
          </a:p>
        </p:txBody>
      </p:sp>
      <p:sp>
        <p:nvSpPr>
          <p:cNvPr id="13" name="Text 11"/>
          <p:cNvSpPr/>
          <p:nvPr/>
        </p:nvSpPr>
        <p:spPr>
          <a:xfrm>
            <a:off x="7432881" y="1563624"/>
            <a:ext cx="1819656" cy="256032"/>
          </a:xfrm>
          <a:prstGeom prst="rect">
            <a:avLst/>
          </a:prstGeom>
          <a:noFill/>
          <a:ln/>
        </p:spPr>
        <p:txBody>
          <a:bodyPr wrap="square" lIns="0" tIns="0" rIns="0" bIns="0" rtlCol="0" anchor="ctr"/>
          <a:lstStyle/>
          <a:p>
            <a:pPr marL="0" indent="0" algn="ctr">
              <a:buNone/>
            </a:pPr>
            <a:r>
              <a:rPr lang="en-US" sz="1500" b="1" dirty="0">
                <a:solidFill>
                  <a:srgbClr val="2F7F7B"/>
                </a:solidFill>
              </a:rPr>
              <a:t>Service test</a:t>
            </a:r>
            <a:endParaRPr lang="en-US" sz="1500" dirty="0"/>
          </a:p>
        </p:txBody>
      </p:sp>
      <p:sp>
        <p:nvSpPr>
          <p:cNvPr id="14" name="Text 12"/>
          <p:cNvSpPr/>
          <p:nvPr/>
        </p:nvSpPr>
        <p:spPr>
          <a:xfrm>
            <a:off x="7432881" y="1892808"/>
            <a:ext cx="1819656" cy="1143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3-4 weeks</a:t>
            </a:r>
            <a:endParaRPr lang="en-US" sz="1300" dirty="0"/>
          </a:p>
          <a:p>
            <a:pPr marL="0" indent="0" algn="ctr">
              <a:buNone/>
            </a:pPr>
            <a:endParaRPr lang="en-US" sz="1300" dirty="0"/>
          </a:p>
          <a:p>
            <a:pPr marL="0" indent="0" algn="ctr">
              <a:buNone/>
            </a:pPr>
            <a:r>
              <a:rPr lang="en-US" sz="1300" dirty="0">
                <a:solidFill>
                  <a:srgbClr val="2E2E2E"/>
                </a:solidFill>
              </a:rPr>
              <a:t>3-5 signs</a:t>
            </a:r>
            <a:endParaRPr lang="en-US" sz="1300" dirty="0"/>
          </a:p>
        </p:txBody>
      </p:sp>
      <p:sp>
        <p:nvSpPr>
          <p:cNvPr id="15" name="Shape 13"/>
          <p:cNvSpPr/>
          <p:nvPr/>
        </p:nvSpPr>
        <p:spPr>
          <a:xfrm>
            <a:off x="9581721" y="1417320"/>
            <a:ext cx="2148840" cy="1737360"/>
          </a:xfrm>
          <a:prstGeom prst="roundRect">
            <a:avLst>
              <a:gd name="adj" fmla="val 3404"/>
            </a:avLst>
          </a:prstGeom>
          <a:solidFill>
            <a:srgbClr val="1E5B58"/>
          </a:solidFill>
          <a:ln>
            <a:noFill/>
          </a:ln>
        </p:spPr>
        <p:txBody>
          <a:bodyPr/>
          <a:lstStyle/>
          <a:p>
            <a:endParaRPr lang="en-US"/>
          </a:p>
        </p:txBody>
      </p:sp>
      <p:sp>
        <p:nvSpPr>
          <p:cNvPr id="16" name="Text 14"/>
          <p:cNvSpPr/>
          <p:nvPr/>
        </p:nvSpPr>
        <p:spPr>
          <a:xfrm>
            <a:off x="9746313" y="1563624"/>
            <a:ext cx="1819656" cy="256032"/>
          </a:xfrm>
          <a:prstGeom prst="rect">
            <a:avLst/>
          </a:prstGeom>
          <a:noFill/>
          <a:ln/>
        </p:spPr>
        <p:txBody>
          <a:bodyPr wrap="square" lIns="0" tIns="0" rIns="0" bIns="0" rtlCol="0" anchor="ctr"/>
          <a:lstStyle/>
          <a:p>
            <a:pPr marL="0" indent="0" algn="ctr">
              <a:buNone/>
            </a:pPr>
            <a:r>
              <a:rPr lang="en-US" sz="1500" b="1">
                <a:solidFill>
                  <a:srgbClr val="FFFFFF"/>
                </a:solidFill>
              </a:rPr>
              <a:t>Decision review</a:t>
            </a:r>
            <a:endParaRPr lang="en-US" sz="1500" dirty="0"/>
          </a:p>
        </p:txBody>
      </p:sp>
      <p:sp>
        <p:nvSpPr>
          <p:cNvPr id="17" name="Text 15"/>
          <p:cNvSpPr/>
          <p:nvPr/>
        </p:nvSpPr>
        <p:spPr>
          <a:xfrm>
            <a:off x="9746313" y="1892808"/>
            <a:ext cx="1819656" cy="1143000"/>
          </a:xfrm>
          <a:prstGeom prst="rect">
            <a:avLst/>
          </a:prstGeom>
          <a:noFill/>
          <a:ln/>
        </p:spPr>
        <p:txBody>
          <a:bodyPr wrap="square" lIns="254" tIns="254" rIns="254" bIns="254" rtlCol="0" anchor="ctr">
            <a:normAutofit/>
          </a:bodyPr>
          <a:lstStyle/>
          <a:p>
            <a:pPr marL="0" indent="0" algn="ctr">
              <a:buNone/>
            </a:pPr>
            <a:r>
              <a:rPr lang="en-US" sz="1300">
                <a:solidFill>
                  <a:srgbClr val="E3EDEC"/>
                </a:solidFill>
              </a:rPr>
              <a:t>1 week</a:t>
            </a:r>
            <a:endParaRPr lang="en-US" sz="1300" dirty="0"/>
          </a:p>
          <a:p>
            <a:pPr marL="0" indent="0" algn="ctr">
              <a:buNone/>
            </a:pPr>
            <a:endParaRPr lang="en-US" sz="1300" dirty="0"/>
          </a:p>
          <a:p>
            <a:pPr marL="0" indent="0" algn="ctr">
              <a:buNone/>
            </a:pPr>
            <a:r>
              <a:rPr lang="en-US" sz="1300">
                <a:solidFill>
                  <a:srgbClr val="E3EDEC"/>
                </a:solidFill>
              </a:rPr>
              <a:t>Continue / change / stop</a:t>
            </a:r>
            <a:endParaRPr lang="en-US" sz="1300" dirty="0"/>
          </a:p>
        </p:txBody>
      </p:sp>
      <p:sp>
        <p:nvSpPr>
          <p:cNvPr id="18" name="Shape 16"/>
          <p:cNvSpPr/>
          <p:nvPr/>
        </p:nvSpPr>
        <p:spPr>
          <a:xfrm>
            <a:off x="2057400" y="3703320"/>
            <a:ext cx="8092440" cy="960120"/>
          </a:xfrm>
          <a:prstGeom prst="roundRect">
            <a:avLst>
              <a:gd name="adj" fmla="val 7619"/>
            </a:avLst>
          </a:prstGeom>
          <a:solidFill>
            <a:srgbClr val="2F7F7B"/>
          </a:solidFill>
          <a:ln w="12700">
            <a:solidFill>
              <a:srgbClr val="2F7F7B"/>
            </a:solidFill>
            <a:prstDash val="solid"/>
          </a:ln>
        </p:spPr>
        <p:txBody>
          <a:bodyPr/>
          <a:lstStyle/>
          <a:p>
            <a:endParaRPr lang="en-US"/>
          </a:p>
        </p:txBody>
      </p:sp>
      <p:sp>
        <p:nvSpPr>
          <p:cNvPr id="19" name="Text 17"/>
          <p:cNvSpPr/>
          <p:nvPr/>
        </p:nvSpPr>
        <p:spPr>
          <a:xfrm>
            <a:off x="2194560" y="3922776"/>
            <a:ext cx="7818120" cy="320040"/>
          </a:xfrm>
          <a:prstGeom prst="rect">
            <a:avLst/>
          </a:prstGeom>
          <a:noFill/>
          <a:ln/>
        </p:spPr>
        <p:txBody>
          <a:bodyPr wrap="square" lIns="0" tIns="0" rIns="0" bIns="0" rtlCol="0" anchor="ctr"/>
          <a:lstStyle/>
          <a:p>
            <a:pPr marL="0" indent="0" algn="ctr">
              <a:buNone/>
            </a:pPr>
            <a:r>
              <a:rPr lang="en-US" sz="2000" b="1" dirty="0">
                <a:solidFill>
                  <a:srgbClr val="FFFFFF"/>
                </a:solidFill>
              </a:rPr>
              <a:t>€5.5k-€17.8k </a:t>
            </a:r>
            <a:r>
              <a:rPr lang="en-US" sz="2000" b="1">
                <a:solidFill>
                  <a:srgbClr val="FFFFFF"/>
                </a:solidFill>
              </a:rPr>
              <a:t>focused </a:t>
            </a:r>
            <a:r>
              <a:rPr lang="en-US" sz="2000" b="1" dirty="0">
                <a:solidFill>
                  <a:srgbClr val="FFFFFF"/>
                </a:solidFill>
              </a:rPr>
              <a:t>validation </a:t>
            </a:r>
            <a:r>
              <a:rPr lang="en-US" sz="2000" b="1">
                <a:solidFill>
                  <a:srgbClr val="FFFFFF"/>
                </a:solidFill>
              </a:rPr>
              <a:t>investment</a:t>
            </a:r>
            <a:endParaRPr lang="en-US" sz="2000" dirty="0"/>
          </a:p>
        </p:txBody>
      </p:sp>
      <p:sp>
        <p:nvSpPr>
          <p:cNvPr id="20" name="Text 18"/>
          <p:cNvSpPr/>
          <p:nvPr/>
        </p:nvSpPr>
        <p:spPr>
          <a:xfrm>
            <a:off x="1097280" y="5029200"/>
            <a:ext cx="9966960" cy="274320"/>
          </a:xfrm>
          <a:prstGeom prst="rect">
            <a:avLst/>
          </a:prstGeom>
          <a:noFill/>
          <a:ln/>
        </p:spPr>
        <p:txBody>
          <a:bodyPr wrap="square" lIns="0" tIns="0" rIns="0" bIns="0" rtlCol="0" anchor="ctr"/>
          <a:lstStyle/>
          <a:p>
            <a:pPr marL="0" indent="0" algn="ctr">
              <a:buNone/>
            </a:pPr>
            <a:r>
              <a:rPr lang="en-US" sz="1220" dirty="0">
                <a:solidFill>
                  <a:srgbClr val="2E2E2E"/>
                </a:solidFill>
              </a:rPr>
              <a:t>This is not a launch budget. It is the cost of buying </a:t>
            </a:r>
            <a:r>
              <a:rPr lang="en-US" sz="1220">
                <a:solidFill>
                  <a:srgbClr val="2E2E2E"/>
                </a:solidFill>
              </a:rPr>
              <a:t>the </a:t>
            </a:r>
            <a:r>
              <a:rPr lang="en-US" sz="1220" dirty="0">
                <a:solidFill>
                  <a:srgbClr val="2E2E2E"/>
                </a:solidFill>
              </a:rPr>
              <a:t>evidence before building more.</a:t>
            </a:r>
            <a:endParaRPr lang="en-US" sz="1220" dirty="0"/>
          </a:p>
        </p:txBody>
      </p:sp>
      <p:sp>
        <p:nvSpPr>
          <p:cNvPr id="21" name="Text 19"/>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dirty="0">
                <a:solidFill>
                  <a:srgbClr val="6F6F6F"/>
                </a:solidFill>
              </a:rPr>
              <a:t>KinderFlow - </a:t>
            </a:r>
            <a:r>
              <a:rPr lang="en-US" sz="1100">
                <a:solidFill>
                  <a:srgbClr val="6F6F6F"/>
                </a:solidFill>
              </a:rPr>
              <a:t>Early-stage commercial </a:t>
            </a:r>
            <a:r>
              <a:rPr lang="en-US" sz="1100" dirty="0">
                <a:solidFill>
                  <a:srgbClr val="6F6F6F"/>
                </a:solidFill>
              </a:rPr>
              <a:t>validation</a:t>
            </a:r>
            <a:endParaRPr lang="en-US" sz="11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10885-ED20-1BA6-F002-42D472FA5524}"/>
            </a:ext>
          </a:extLst>
        </p:cNvPr>
        <p:cNvGrpSpPr/>
        <p:nvPr/>
      </p:nvGrpSpPr>
      <p:grpSpPr>
        <a:xfrm>
          <a:off x="0" y="0"/>
          <a:ext cx="0" cy="0"/>
          <a:chOff x="0" y="0"/>
          <a:chExt cx="0" cy="0"/>
        </a:xfrm>
      </p:grpSpPr>
      <p:sp>
        <p:nvSpPr>
          <p:cNvPr id="60" name="Title Accent">
            <a:extLst>
              <a:ext uri="{FF2B5EF4-FFF2-40B4-BE49-F238E27FC236}">
                <a16:creationId xmlns:a16="http://schemas.microsoft.com/office/drawing/2014/main" id="{40322539-424C-377A-9700-C367380184AB}"/>
              </a:ext>
            </a:extLst>
          </p:cNvPr>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a:extLst>
              <a:ext uri="{FF2B5EF4-FFF2-40B4-BE49-F238E27FC236}">
                <a16:creationId xmlns:a16="http://schemas.microsoft.com/office/drawing/2014/main" id="{3DD41D78-A17C-B630-B096-3448CD4562B2}"/>
              </a:ext>
            </a:extLst>
          </p:cNvPr>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dirty="0">
                <a:solidFill>
                  <a:srgbClr val="2E2E2E"/>
                </a:solidFill>
                <a:latin typeface="Aptos Display" pitchFamily="34" charset="0"/>
                <a:ea typeface="Aptos Display" pitchFamily="34" charset="-122"/>
                <a:cs typeface="Aptos Display" pitchFamily="34" charset="-120"/>
              </a:rPr>
              <a:t>Why 8 to 9 weeks?</a:t>
            </a:r>
            <a:endParaRPr lang="en-US" sz="2100" dirty="0"/>
          </a:p>
        </p:txBody>
      </p:sp>
      <p:sp>
        <p:nvSpPr>
          <p:cNvPr id="21" name="Text 19">
            <a:extLst>
              <a:ext uri="{FF2B5EF4-FFF2-40B4-BE49-F238E27FC236}">
                <a16:creationId xmlns:a16="http://schemas.microsoft.com/office/drawing/2014/main" id="{50C7DCC1-17E6-59A4-B38F-050B32A4FF34}"/>
              </a:ext>
            </a:extLst>
          </p:cNvPr>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dirty="0">
                <a:solidFill>
                  <a:srgbClr val="6F6F6F"/>
                </a:solidFill>
              </a:rPr>
              <a:t>KinderFlow - </a:t>
            </a:r>
            <a:r>
              <a:rPr lang="en-US" sz="1100">
                <a:solidFill>
                  <a:srgbClr val="6F6F6F"/>
                </a:solidFill>
              </a:rPr>
              <a:t>Early-stage commercial </a:t>
            </a:r>
            <a:r>
              <a:rPr lang="en-US" sz="1100" dirty="0">
                <a:solidFill>
                  <a:srgbClr val="6F6F6F"/>
                </a:solidFill>
              </a:rPr>
              <a:t>validation</a:t>
            </a:r>
            <a:endParaRPr lang="en-US" sz="1100" dirty="0"/>
          </a:p>
        </p:txBody>
      </p:sp>
      <p:sp>
        <p:nvSpPr>
          <p:cNvPr id="25" name="Slide Number Placeholder 0">
            <a:extLst>
              <a:ext uri="{FF2B5EF4-FFF2-40B4-BE49-F238E27FC236}">
                <a16:creationId xmlns:a16="http://schemas.microsoft.com/office/drawing/2014/main" id="{8F1CB695-5917-252A-7F23-3411D604B0D9}"/>
              </a:ext>
            </a:extLst>
          </p:cNvPr>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15</a:t>
            </a:fld>
            <a:endParaRPr lang="en-US"/>
          </a:p>
        </p:txBody>
      </p:sp>
      <p:sp>
        <p:nvSpPr>
          <p:cNvPr id="22" name="Text 2">
            <a:extLst>
              <a:ext uri="{FF2B5EF4-FFF2-40B4-BE49-F238E27FC236}">
                <a16:creationId xmlns:a16="http://schemas.microsoft.com/office/drawing/2014/main" id="{01BD51A1-6984-A733-FBA7-224A42F01150}"/>
              </a:ext>
            </a:extLst>
          </p:cNvPr>
          <p:cNvSpPr/>
          <p:nvPr/>
        </p:nvSpPr>
        <p:spPr>
          <a:xfrm>
            <a:off x="658368" y="1133856"/>
            <a:ext cx="67665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B6F70"/>
                </a:solidFill>
                <a:effectLst/>
                <a:uLnTx/>
                <a:uFillTx/>
                <a:latin typeface="Aptos" pitchFamily="34" charset="0"/>
                <a:ea typeface="Aptos" pitchFamily="34" charset="-122"/>
                <a:cs typeface="Aptos" pitchFamily="34" charset="-120"/>
              </a:rPr>
              <a:t>A short validation phase before scaling</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3">
            <a:extLst>
              <a:ext uri="{FF2B5EF4-FFF2-40B4-BE49-F238E27FC236}">
                <a16:creationId xmlns:a16="http://schemas.microsoft.com/office/drawing/2014/main" id="{82DB485F-1409-524B-3F76-BBD3B3D80EA6}"/>
              </a:ext>
            </a:extLst>
          </p:cNvPr>
          <p:cNvSpPr/>
          <p:nvPr/>
        </p:nvSpPr>
        <p:spPr>
          <a:xfrm>
            <a:off x="640080" y="1719072"/>
            <a:ext cx="2578608" cy="2267712"/>
          </a:xfrm>
          <a:prstGeom prst="rect">
            <a:avLst/>
          </a:prstGeom>
          <a:solidFill>
            <a:srgbClr val="FFFFFF"/>
          </a:solidFill>
          <a:ln w="12700">
            <a:solidFill>
              <a:srgbClr val="B8DAD5"/>
            </a:solidFill>
          </a:ln>
        </p:spPr>
        <p:txBody>
          <a:bodyPr wrap="square" lIns="2286" tIns="2286" rIns="2286" bIns="228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1. Prepare</a:t>
            </a:r>
            <a:endParaRPr kumimoji="0" lang="en-US" sz="16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CV refinement</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Content setup</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Workflow setup</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4">
            <a:extLst>
              <a:ext uri="{FF2B5EF4-FFF2-40B4-BE49-F238E27FC236}">
                <a16:creationId xmlns:a16="http://schemas.microsoft.com/office/drawing/2014/main" id="{F99FBCFB-4792-DC85-C87B-3C7F4CA99E5D}"/>
              </a:ext>
            </a:extLst>
          </p:cNvPr>
          <p:cNvSpPr/>
          <p:nvPr/>
        </p:nvSpPr>
        <p:spPr>
          <a:xfrm>
            <a:off x="3474720" y="1719072"/>
            <a:ext cx="2578608" cy="2267712"/>
          </a:xfrm>
          <a:prstGeom prst="rect">
            <a:avLst/>
          </a:prstGeom>
          <a:solidFill>
            <a:srgbClr val="FFFFFF"/>
          </a:solidFill>
          <a:ln w="12700">
            <a:solidFill>
              <a:srgbClr val="B8DAD5"/>
            </a:solidFill>
          </a:ln>
        </p:spPr>
        <p:txBody>
          <a:bodyPr wrap="square" lIns="2286" tIns="2286" rIns="2286" bIns="228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2. Test</a:t>
            </a:r>
            <a:endParaRPr kumimoji="0" lang="en-US" sz="16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Teacher feedback</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Family feedback</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Usability checks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5">
            <a:extLst>
              <a:ext uri="{FF2B5EF4-FFF2-40B4-BE49-F238E27FC236}">
                <a16:creationId xmlns:a16="http://schemas.microsoft.com/office/drawing/2014/main" id="{3FF82C8C-2C97-5E6D-7525-B6A8AC494007}"/>
              </a:ext>
            </a:extLst>
          </p:cNvPr>
          <p:cNvSpPr/>
          <p:nvPr/>
        </p:nvSpPr>
        <p:spPr>
          <a:xfrm>
            <a:off x="6309360" y="1719072"/>
            <a:ext cx="2578608" cy="2267712"/>
          </a:xfrm>
          <a:prstGeom prst="rect">
            <a:avLst/>
          </a:prstGeom>
          <a:solidFill>
            <a:srgbClr val="FFFFFF"/>
          </a:solidFill>
          <a:ln w="12700">
            <a:solidFill>
              <a:srgbClr val="B8DAD5"/>
            </a:solidFill>
          </a:ln>
        </p:spPr>
        <p:txBody>
          <a:bodyPr wrap="square" lIns="2286" tIns="2286" rIns="2286" bIns="228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3. Pilot</a:t>
            </a:r>
            <a:endParaRPr kumimoji="0" lang="en-US" sz="16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3 to 5 signs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One school routine</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Real usage observation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6">
            <a:extLst>
              <a:ext uri="{FF2B5EF4-FFF2-40B4-BE49-F238E27FC236}">
                <a16:creationId xmlns:a16="http://schemas.microsoft.com/office/drawing/2014/main" id="{C71AC4F5-8AF7-7455-30EF-C4C6AAF1E920}"/>
              </a:ext>
            </a:extLst>
          </p:cNvPr>
          <p:cNvSpPr/>
          <p:nvPr/>
        </p:nvSpPr>
        <p:spPr>
          <a:xfrm>
            <a:off x="9144000" y="1719072"/>
            <a:ext cx="2578608" cy="2267712"/>
          </a:xfrm>
          <a:prstGeom prst="rect">
            <a:avLst/>
          </a:prstGeom>
          <a:solidFill>
            <a:srgbClr val="FFFFFF"/>
          </a:solidFill>
          <a:ln w="12700">
            <a:solidFill>
              <a:srgbClr val="B8DAD5"/>
            </a:solidFill>
          </a:ln>
        </p:spPr>
        <p:txBody>
          <a:bodyPr wrap="square" lIns="2286" tIns="2286" rIns="2286" bIns="228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4. Decide</a:t>
            </a:r>
            <a:endParaRPr kumimoji="0" lang="en-US" sz="16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Keep, refine or stop</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Pricing hypothesis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Next build scope</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7">
            <a:extLst>
              <a:ext uri="{FF2B5EF4-FFF2-40B4-BE49-F238E27FC236}">
                <a16:creationId xmlns:a16="http://schemas.microsoft.com/office/drawing/2014/main" id="{1201B882-043C-076A-572F-4D04CD98F559}"/>
              </a:ext>
            </a:extLst>
          </p:cNvPr>
          <p:cNvSpPr/>
          <p:nvPr/>
        </p:nvSpPr>
        <p:spPr>
          <a:xfrm>
            <a:off x="640080" y="4370832"/>
            <a:ext cx="4114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3B3A"/>
                </a:solidFill>
                <a:effectLst/>
                <a:uLnTx/>
                <a:uFillTx/>
                <a:latin typeface="Aptos Display" pitchFamily="34" charset="0"/>
                <a:ea typeface="Aptos Display" pitchFamily="34" charset="-122"/>
                <a:cs typeface="Aptos Display" pitchFamily="34" charset="-120"/>
              </a:rPr>
              <a:t>Output after 8 to 9 weeks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8">
            <a:extLst>
              <a:ext uri="{FF2B5EF4-FFF2-40B4-BE49-F238E27FC236}">
                <a16:creationId xmlns:a16="http://schemas.microsoft.com/office/drawing/2014/main" id="{BE3AD54A-F121-BDC3-132F-1C59B6D8400C}"/>
              </a:ext>
            </a:extLst>
          </p:cNvPr>
          <p:cNvSpPr/>
          <p:nvPr/>
        </p:nvSpPr>
        <p:spPr>
          <a:xfrm>
            <a:off x="640080" y="4809744"/>
            <a:ext cx="2542032" cy="502920"/>
          </a:xfrm>
          <a:prstGeom prst="rect">
            <a:avLst/>
          </a:prstGeom>
          <a:solidFill>
            <a:srgbClr val="E6F2F0"/>
          </a:solidFill>
          <a:ln w="6350">
            <a:solidFill>
              <a:srgbClr val="CFE7E3"/>
            </a:solidFill>
          </a:ln>
        </p:spPr>
        <p:txBody>
          <a:bodyPr wrap="square" lIns="1524" tIns="1524" rIns="1524" bIns="152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Adoption signal</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9">
            <a:extLst>
              <a:ext uri="{FF2B5EF4-FFF2-40B4-BE49-F238E27FC236}">
                <a16:creationId xmlns:a16="http://schemas.microsoft.com/office/drawing/2014/main" id="{50B7D343-02DE-92FB-27F4-C9F26A129FA2}"/>
              </a:ext>
            </a:extLst>
          </p:cNvPr>
          <p:cNvSpPr/>
          <p:nvPr/>
        </p:nvSpPr>
        <p:spPr>
          <a:xfrm>
            <a:off x="3456432" y="4809744"/>
            <a:ext cx="2542032" cy="502920"/>
          </a:xfrm>
          <a:prstGeom prst="rect">
            <a:avLst/>
          </a:prstGeom>
          <a:solidFill>
            <a:srgbClr val="E6F2F0"/>
          </a:solidFill>
          <a:ln w="6350">
            <a:solidFill>
              <a:srgbClr val="CFE7E3"/>
            </a:solidFill>
          </a:ln>
        </p:spPr>
        <p:txBody>
          <a:bodyPr wrap="square" lIns="1524" tIns="1524" rIns="1524" bIns="152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Workflow signal</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10">
            <a:extLst>
              <a:ext uri="{FF2B5EF4-FFF2-40B4-BE49-F238E27FC236}">
                <a16:creationId xmlns:a16="http://schemas.microsoft.com/office/drawing/2014/main" id="{A949A7EC-FEC0-9009-3FFF-BC302A2E621F}"/>
              </a:ext>
            </a:extLst>
          </p:cNvPr>
          <p:cNvSpPr/>
          <p:nvPr/>
        </p:nvSpPr>
        <p:spPr>
          <a:xfrm>
            <a:off x="6272784" y="4809744"/>
            <a:ext cx="2542032" cy="502920"/>
          </a:xfrm>
          <a:prstGeom prst="rect">
            <a:avLst/>
          </a:prstGeom>
          <a:solidFill>
            <a:srgbClr val="E6F2F0"/>
          </a:solidFill>
          <a:ln w="6350">
            <a:solidFill>
              <a:srgbClr val="CFE7E3"/>
            </a:solidFill>
          </a:ln>
        </p:spPr>
        <p:txBody>
          <a:bodyPr wrap="square" lIns="1524" tIns="1524" rIns="1524" bIns="152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Engagement signal</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11">
            <a:extLst>
              <a:ext uri="{FF2B5EF4-FFF2-40B4-BE49-F238E27FC236}">
                <a16:creationId xmlns:a16="http://schemas.microsoft.com/office/drawing/2014/main" id="{89B00C77-586C-8819-2C29-F5A50F35DFD2}"/>
              </a:ext>
            </a:extLst>
          </p:cNvPr>
          <p:cNvSpPr/>
          <p:nvPr/>
        </p:nvSpPr>
        <p:spPr>
          <a:xfrm>
            <a:off x="9089136" y="4809744"/>
            <a:ext cx="2542032" cy="502920"/>
          </a:xfrm>
          <a:prstGeom prst="rect">
            <a:avLst/>
          </a:prstGeom>
          <a:solidFill>
            <a:srgbClr val="E6F2F0"/>
          </a:solidFill>
          <a:ln w="6350">
            <a:solidFill>
              <a:srgbClr val="CFE7E3"/>
            </a:solidFill>
          </a:ln>
        </p:spPr>
        <p:txBody>
          <a:bodyPr wrap="square" lIns="1524" tIns="1524" rIns="1524" bIns="152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73B3A"/>
                </a:solidFill>
                <a:effectLst/>
                <a:uLnTx/>
                <a:uFillTx/>
                <a:latin typeface="Aptos" pitchFamily="34" charset="0"/>
                <a:ea typeface="Aptos" pitchFamily="34" charset="-122"/>
                <a:cs typeface="Aptos" pitchFamily="34" charset="-120"/>
              </a:rPr>
              <a:t>Pricing signal</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Text 12">
            <a:extLst>
              <a:ext uri="{FF2B5EF4-FFF2-40B4-BE49-F238E27FC236}">
                <a16:creationId xmlns:a16="http://schemas.microsoft.com/office/drawing/2014/main" id="{6E87F0F9-0EE2-76A6-44A0-DB6C73B6D23F}"/>
              </a:ext>
            </a:extLst>
          </p:cNvPr>
          <p:cNvSpPr/>
          <p:nvPr/>
        </p:nvSpPr>
        <p:spPr>
          <a:xfrm>
            <a:off x="640080" y="5806440"/>
            <a:ext cx="10927080" cy="475488"/>
          </a:xfrm>
          <a:prstGeom prst="rect">
            <a:avLst/>
          </a:prstGeom>
          <a:solidFill>
            <a:srgbClr val="0F766E"/>
          </a:solidFill>
          <a:ln>
            <a:solidFill>
              <a:srgbClr val="0F766E">
                <a:alpha val="0"/>
              </a:srgbClr>
            </a:solidFill>
          </a:ln>
        </p:spPr>
        <p:txBody>
          <a:bodyPr wrap="square" lIns="1524" tIns="1524" rIns="1524" bIns="152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The goal is not to launch the full product</a:t>
            </a:r>
            <a:r>
              <a:rPr lang="en-US" sz="1700" dirty="0">
                <a:solidFill>
                  <a:srgbClr val="FFFFFF"/>
                </a:solidFill>
                <a:latin typeface="Aptos" pitchFamily="34" charset="0"/>
                <a:ea typeface="Aptos" pitchFamily="34" charset="-122"/>
                <a:cs typeface="Aptos" pitchFamily="34" charset="-120"/>
              </a:rPr>
              <a:t>; </a:t>
            </a:r>
            <a:r>
              <a:rPr kumimoji="0" lang="en-US" sz="1700" b="0"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is to validate demand, usability and willingness to pay before scaling.</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2454914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FAF7EF"/>
        </a:solidFill>
        <a:effectLst/>
      </p:bgPr>
    </p:bg>
    <p:spTree>
      <p:nvGrpSpPr>
        <p:cNvPr id="1" name=""/>
        <p:cNvGrpSpPr/>
        <p:nvPr/>
      </p:nvGrpSpPr>
      <p:grpSpPr>
        <a:xfrm>
          <a:off x="0" y="0"/>
          <a:ext cx="0" cy="0"/>
          <a:chOff x="0" y="0"/>
          <a:chExt cx="0" cy="0"/>
        </a:xfrm>
      </p:grpSpPr>
      <p:sp>
        <p:nvSpPr>
          <p:cNvPr id="2" name="Cover Panel"/>
          <p:cNvSpPr/>
          <p:nvPr/>
        </p:nvSpPr>
        <p:spPr>
          <a:xfrm>
            <a:off x="0" y="0"/>
            <a:ext cx="12192000" cy="6858000"/>
          </a:xfrm>
          <a:prstGeom prst="rect">
            <a:avLst/>
          </a:prstGeom>
          <a:gradFill flip="none" rotWithShape="1">
            <a:gsLst>
              <a:gs pos="0">
                <a:srgbClr val="1E5B58"/>
              </a:gs>
              <a:gs pos="100000">
                <a:srgbClr val="2F7F7B"/>
              </a:gs>
            </a:gsLst>
            <a:lin ang="2700000" scaled="0"/>
          </a:gradFill>
          <a:ln>
            <a:noFill/>
          </a:ln>
        </p:spPr>
        <p:txBody>
          <a:bodyPr/>
          <a:lstStyle/>
          <a:p>
            <a:endParaRPr lang="en-US"/>
          </a:p>
        </p:txBody>
      </p:sp>
      <p:sp>
        <p:nvSpPr>
          <p:cNvPr id="21" name="Accent Rule"/>
          <p:cNvSpPr/>
          <p:nvPr/>
        </p:nvSpPr>
        <p:spPr>
          <a:xfrm>
            <a:off x="1200000" y="2750000"/>
            <a:ext cx="1100000" cy="60000"/>
          </a:xfrm>
          <a:prstGeom prst="rect">
            <a:avLst/>
          </a:prstGeom>
          <a:solidFill>
            <a:srgbClr val="D98B5F"/>
          </a:solidFill>
          <a:ln>
            <a:noFill/>
          </a:ln>
        </p:spPr>
        <p:txBody>
          <a:bodyPr/>
          <a:lstStyle/>
          <a:p>
            <a:endParaRPr lang="en-US"/>
          </a:p>
        </p:txBody>
      </p:sp>
      <p:sp>
        <p:nvSpPr>
          <p:cNvPr id="3" name="Text 1"/>
          <p:cNvSpPr/>
          <p:nvPr/>
        </p:nvSpPr>
        <p:spPr>
          <a:xfrm>
            <a:off x="1200000" y="3050000"/>
            <a:ext cx="8400000" cy="2000000"/>
          </a:xfrm>
          <a:prstGeom prst="rect">
            <a:avLst/>
          </a:prstGeom>
          <a:noFill/>
          <a:ln/>
        </p:spPr>
        <p:txBody>
          <a:bodyPr wrap="square" lIns="0" tIns="0" rIns="0" bIns="0" rtlCol="0" anchor="t">
            <a:normAutofit fontScale="77500" lnSpcReduction="20000"/>
          </a:bodyPr>
          <a:lstStyle/>
          <a:p>
            <a:pPr marL="0" indent="0">
              <a:buNone/>
            </a:pPr>
            <a:r>
              <a:rPr lang="en-US" sz="4000" b="1">
                <a:solidFill>
                  <a:srgbClr val="FFFFFF"/>
                </a:solidFill>
                <a:latin typeface="Aptos Display" pitchFamily="34" charset="0"/>
                <a:ea typeface="Aptos Display" pitchFamily="34" charset="-122"/>
                <a:cs typeface="Aptos Display" pitchFamily="34" charset="-120"/>
              </a:rPr>
              <a:t>School and home speaking the same language to the child. If validated, the same motion-first approach could later be explored in other structured communication contexts, with specialist validation.</a:t>
            </a:r>
            <a:endParaRPr lang="en-US" sz="4000"/>
          </a:p>
        </p:txBody>
      </p:sp>
      <p:sp>
        <p:nvSpPr>
          <p:cNvPr id="8" name="Text 6"/>
          <p:cNvSpPr/>
          <p:nvPr/>
        </p:nvSpPr>
        <p:spPr>
          <a:xfrm>
            <a:off x="914400" y="6420000"/>
            <a:ext cx="5200000" cy="201168"/>
          </a:xfrm>
          <a:prstGeom prst="rect">
            <a:avLst/>
          </a:prstGeom>
          <a:noFill/>
          <a:ln/>
        </p:spPr>
        <p:txBody>
          <a:bodyPr wrap="square" lIns="0" tIns="0" rIns="0" bIns="0" rtlCol="0" anchor="ctr"/>
          <a:lstStyle/>
          <a:p>
            <a:pPr marL="0" indent="0">
              <a:buNone/>
            </a:pPr>
            <a:r>
              <a:rPr lang="en-US" sz="1100" err="1">
                <a:solidFill>
                  <a:srgbClr val="9FC4C1"/>
                </a:solidFill>
              </a:rPr>
              <a:t>KinderFlow</a:t>
            </a:r>
            <a:r>
              <a:rPr lang="en-US" sz="1100">
                <a:solidFill>
                  <a:srgbClr val="9FC4C1"/>
                </a:solidFill>
              </a:rPr>
              <a:t> - Early-stage commercial validation</a:t>
            </a:r>
            <a:endParaRPr lang="en-US" sz="110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60" name="Title Accent"/>
          <p:cNvSpPr/>
          <p:nvPr/>
        </p:nvSpPr>
        <p:spPr>
          <a:xfrm>
            <a:off x="566928" y="841248"/>
            <a:ext cx="777240" cy="50292"/>
          </a:xfrm>
          <a:prstGeom prst="rect">
            <a:avLst/>
          </a:prstGeom>
          <a:solidFill>
            <a:srgbClr val="D98B5F"/>
          </a:solidFill>
          <a:ln>
            <a:noFill/>
          </a:ln>
        </p:spPr>
        <p:txBody>
          <a:bodyPr/>
          <a:lstStyle/>
          <a:p>
            <a:endParaRPr lang="en-US"/>
          </a:p>
        </p:txBody>
      </p:sp>
      <p:sp>
        <p:nvSpPr>
          <p:cNvPr id="2" name="Text 0"/>
          <p:cNvSpPr/>
          <p:nvPr/>
        </p:nvSpPr>
        <p:spPr>
          <a:xfrm>
            <a:off x="566928" y="329184"/>
            <a:ext cx="10881360" cy="411480"/>
          </a:xfrm>
          <a:prstGeom prst="rect">
            <a:avLst/>
          </a:prstGeom>
          <a:noFill/>
          <a:ln/>
        </p:spPr>
        <p:txBody>
          <a:bodyPr wrap="square" lIns="0" tIns="0" rIns="0" bIns="0" rtlCol="0" anchor="ctr"/>
          <a:lstStyle/>
          <a:p>
            <a:pPr marL="0" indent="0">
              <a:buNone/>
            </a:pPr>
            <a:r>
              <a:rPr lang="en-US" sz="2100" b="1" dirty="0">
                <a:solidFill>
                  <a:srgbClr val="2E2E2E"/>
                </a:solidFill>
                <a:latin typeface="Aptos Display" pitchFamily="34" charset="0"/>
                <a:ea typeface="Aptos Display" pitchFamily="34" charset="-122"/>
                <a:cs typeface="Aptos Display" pitchFamily="34" charset="-120"/>
              </a:rPr>
              <a:t>The ask: a focused 8-9 week commercial validation investment of €5.5k-€17.8k</a:t>
            </a:r>
            <a:endParaRPr lang="en-US" sz="2100" dirty="0"/>
          </a:p>
        </p:txBody>
      </p:sp>
      <p:sp>
        <p:nvSpPr>
          <p:cNvPr id="3" name="Shape 1"/>
          <p:cNvSpPr/>
          <p:nvPr/>
        </p:nvSpPr>
        <p:spPr>
          <a:xfrm>
            <a:off x="731520" y="1560000"/>
            <a:ext cx="3337560" cy="1900000"/>
          </a:xfrm>
          <a:prstGeom prst="roundRect">
            <a:avLst>
              <a:gd name="adj" fmla="val 2192"/>
            </a:avLst>
          </a:prstGeom>
          <a:solidFill>
            <a:srgbClr val="F3EFE7"/>
          </a:solidFill>
          <a:ln w="9525">
            <a:solidFill>
              <a:srgbClr val="E3D6C8">
                <a:alpha val="85000"/>
              </a:srgbClr>
            </a:solidFill>
            <a:prstDash val="solid"/>
          </a:ln>
        </p:spPr>
        <p:txBody>
          <a:bodyPr/>
          <a:lstStyle/>
          <a:p>
            <a:endParaRPr lang="en-US"/>
          </a:p>
        </p:txBody>
      </p:sp>
      <p:sp>
        <p:nvSpPr>
          <p:cNvPr id="4" name="Text 2"/>
          <p:cNvSpPr/>
          <p:nvPr/>
        </p:nvSpPr>
        <p:spPr>
          <a:xfrm>
            <a:off x="896112" y="1760000"/>
            <a:ext cx="3008376" cy="256032"/>
          </a:xfrm>
          <a:prstGeom prst="rect">
            <a:avLst/>
          </a:prstGeom>
          <a:noFill/>
          <a:ln/>
        </p:spPr>
        <p:txBody>
          <a:bodyPr wrap="square" lIns="0" tIns="0" rIns="0" bIns="0" rtlCol="0" anchor="ctr"/>
          <a:lstStyle/>
          <a:p>
            <a:pPr marL="0" indent="0" algn="ctr">
              <a:buNone/>
            </a:pPr>
            <a:r>
              <a:rPr lang="en-US" sz="1400" b="1" dirty="0">
                <a:solidFill>
                  <a:srgbClr val="2F7F7B"/>
                </a:solidFill>
              </a:rPr>
              <a:t>Credible today</a:t>
            </a:r>
            <a:endParaRPr lang="en-US" sz="1400" dirty="0"/>
          </a:p>
        </p:txBody>
      </p:sp>
      <p:sp>
        <p:nvSpPr>
          <p:cNvPr id="5" name="Text 3"/>
          <p:cNvSpPr/>
          <p:nvPr/>
        </p:nvSpPr>
        <p:spPr>
          <a:xfrm>
            <a:off x="896112" y="2150000"/>
            <a:ext cx="3008376" cy="1150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Market access</a:t>
            </a:r>
            <a:endParaRPr lang="en-US" sz="1300" dirty="0"/>
          </a:p>
          <a:p>
            <a:pPr marL="0" indent="0" algn="ctr">
              <a:buNone/>
            </a:pPr>
            <a:r>
              <a:rPr lang="en-US" sz="1300" dirty="0">
                <a:solidFill>
                  <a:srgbClr val="2E2E2E"/>
                </a:solidFill>
              </a:rPr>
              <a:t>Madrid ecosystem</a:t>
            </a:r>
            <a:endParaRPr lang="en-US" sz="1300" dirty="0"/>
          </a:p>
          <a:p>
            <a:pPr marL="0" indent="0" algn="ctr">
              <a:buNone/>
            </a:pPr>
            <a:r>
              <a:rPr lang="en-US" sz="1300" dirty="0">
                <a:solidFill>
                  <a:srgbClr val="2E2E2E"/>
                </a:solidFill>
              </a:rPr>
              <a:t>Existing category</a:t>
            </a:r>
            <a:endParaRPr lang="en-US" sz="1300" dirty="0"/>
          </a:p>
          <a:p>
            <a:pPr marL="0" indent="0" algn="ctr">
              <a:buNone/>
            </a:pPr>
            <a:r>
              <a:rPr lang="en-US" sz="1300" dirty="0">
                <a:solidFill>
                  <a:srgbClr val="2E2E2E"/>
                </a:solidFill>
              </a:rPr>
              <a:t>Clear positioning</a:t>
            </a:r>
            <a:endParaRPr lang="en-US" sz="1300" dirty="0"/>
          </a:p>
          <a:p>
            <a:pPr marL="0" indent="0" algn="ctr">
              <a:buNone/>
            </a:pPr>
            <a:r>
              <a:rPr lang="en-US" sz="1300" dirty="0">
                <a:solidFill>
                  <a:srgbClr val="2E2E2E"/>
                </a:solidFill>
              </a:rPr>
              <a:t>Technical feasibility signal</a:t>
            </a:r>
            <a:endParaRPr lang="en-US" sz="1300" dirty="0"/>
          </a:p>
        </p:txBody>
      </p:sp>
      <p:sp>
        <p:nvSpPr>
          <p:cNvPr id="6" name="Shape 4"/>
          <p:cNvSpPr/>
          <p:nvPr/>
        </p:nvSpPr>
        <p:spPr>
          <a:xfrm>
            <a:off x="4434840" y="1560000"/>
            <a:ext cx="3337560" cy="1900000"/>
          </a:xfrm>
          <a:prstGeom prst="roundRect">
            <a:avLst>
              <a:gd name="adj" fmla="val 2192"/>
            </a:avLst>
          </a:prstGeom>
          <a:solidFill>
            <a:srgbClr val="F3EFE7"/>
          </a:solidFill>
          <a:ln w="9525">
            <a:solidFill>
              <a:srgbClr val="E3D6C8">
                <a:alpha val="85000"/>
              </a:srgbClr>
            </a:solidFill>
            <a:prstDash val="solid"/>
          </a:ln>
        </p:spPr>
        <p:txBody>
          <a:bodyPr/>
          <a:lstStyle/>
          <a:p>
            <a:endParaRPr lang="en-US"/>
          </a:p>
        </p:txBody>
      </p:sp>
      <p:sp>
        <p:nvSpPr>
          <p:cNvPr id="7" name="Text 5"/>
          <p:cNvSpPr/>
          <p:nvPr/>
        </p:nvSpPr>
        <p:spPr>
          <a:xfrm>
            <a:off x="4599432" y="1760000"/>
            <a:ext cx="3008376" cy="256032"/>
          </a:xfrm>
          <a:prstGeom prst="rect">
            <a:avLst/>
          </a:prstGeom>
          <a:noFill/>
          <a:ln/>
        </p:spPr>
        <p:txBody>
          <a:bodyPr wrap="square" lIns="0" tIns="0" rIns="0" bIns="0" rtlCol="0" anchor="ctr"/>
          <a:lstStyle/>
          <a:p>
            <a:pPr marL="0" indent="0" algn="ctr">
              <a:buNone/>
            </a:pPr>
            <a:r>
              <a:rPr lang="en-US" sz="1400" b="1" dirty="0">
                <a:solidFill>
                  <a:srgbClr val="D98B5F"/>
                </a:solidFill>
              </a:rPr>
              <a:t>Not proven</a:t>
            </a:r>
            <a:r>
              <a:rPr lang="en-US" sz="1400" b="1">
                <a:solidFill>
                  <a:srgbClr val="D98B5F"/>
                </a:solidFill>
              </a:rPr>
              <a:t> yet</a:t>
            </a:r>
            <a:endParaRPr lang="en-US" sz="1400" dirty="0"/>
          </a:p>
        </p:txBody>
      </p:sp>
      <p:sp>
        <p:nvSpPr>
          <p:cNvPr id="8" name="Text 6"/>
          <p:cNvSpPr/>
          <p:nvPr/>
        </p:nvSpPr>
        <p:spPr>
          <a:xfrm>
            <a:off x="4599432" y="2150000"/>
            <a:ext cx="3008376" cy="1150000"/>
          </a:xfrm>
          <a:prstGeom prst="rect">
            <a:avLst/>
          </a:prstGeom>
          <a:noFill/>
          <a:ln/>
        </p:spPr>
        <p:txBody>
          <a:bodyPr wrap="square" lIns="254" tIns="254" rIns="254" bIns="254" rtlCol="0" anchor="ctr">
            <a:normAutofit/>
          </a:bodyPr>
          <a:lstStyle/>
          <a:p>
            <a:pPr marL="0" indent="0" algn="ctr">
              <a:buNone/>
            </a:pPr>
            <a:r>
              <a:rPr lang="en-US" sz="1300" dirty="0">
                <a:solidFill>
                  <a:srgbClr val="2E2E2E"/>
                </a:solidFill>
              </a:rPr>
              <a:t>Willingness to pay</a:t>
            </a:r>
            <a:endParaRPr lang="en-US" sz="1300" dirty="0"/>
          </a:p>
          <a:p>
            <a:pPr marL="0" indent="0" algn="ctr">
              <a:buNone/>
            </a:pPr>
            <a:r>
              <a:rPr lang="en-US" sz="1300" dirty="0">
                <a:solidFill>
                  <a:srgbClr val="2E2E2E"/>
                </a:solidFill>
              </a:rPr>
              <a:t>Educator adoption</a:t>
            </a:r>
            <a:endParaRPr lang="en-US" sz="1300" dirty="0"/>
          </a:p>
          <a:p>
            <a:pPr marL="0" indent="0" algn="ctr">
              <a:buNone/>
            </a:pPr>
            <a:r>
              <a:rPr lang="en-US" sz="1300" dirty="0">
                <a:solidFill>
                  <a:srgbClr val="2E2E2E"/>
                </a:solidFill>
              </a:rPr>
              <a:t>Engagement</a:t>
            </a:r>
            <a:endParaRPr lang="en-US" sz="1300" dirty="0"/>
          </a:p>
          <a:p>
            <a:pPr marL="0" indent="0" algn="ctr">
              <a:buNone/>
            </a:pPr>
            <a:r>
              <a:rPr lang="en-US" sz="1300" dirty="0">
                <a:solidFill>
                  <a:srgbClr val="2E2E2E"/>
                </a:solidFill>
              </a:rPr>
              <a:t>Retention</a:t>
            </a:r>
            <a:endParaRPr lang="en-US" sz="1300" dirty="0"/>
          </a:p>
          <a:p>
            <a:pPr marL="0" indent="0" algn="ctr">
              <a:buNone/>
            </a:pPr>
            <a:r>
              <a:rPr lang="en-US" sz="1300" dirty="0">
                <a:solidFill>
                  <a:srgbClr val="2E2E2E"/>
                </a:solidFill>
              </a:rPr>
              <a:t>Acquisition economics</a:t>
            </a:r>
            <a:endParaRPr lang="en-US" sz="1300" dirty="0"/>
          </a:p>
        </p:txBody>
      </p:sp>
      <p:sp>
        <p:nvSpPr>
          <p:cNvPr id="9" name="Shape 7"/>
          <p:cNvSpPr/>
          <p:nvPr/>
        </p:nvSpPr>
        <p:spPr>
          <a:xfrm>
            <a:off x="8138160" y="1560000"/>
            <a:ext cx="3337560" cy="1900000"/>
          </a:xfrm>
          <a:prstGeom prst="roundRect">
            <a:avLst>
              <a:gd name="adj" fmla="val 2192"/>
            </a:avLst>
          </a:prstGeom>
          <a:solidFill>
            <a:srgbClr val="1E5B58"/>
          </a:solidFill>
          <a:ln>
            <a:noFill/>
          </a:ln>
        </p:spPr>
        <p:txBody>
          <a:bodyPr/>
          <a:lstStyle/>
          <a:p>
            <a:endParaRPr lang="en-US"/>
          </a:p>
        </p:txBody>
      </p:sp>
      <p:sp>
        <p:nvSpPr>
          <p:cNvPr id="10" name="Text 8"/>
          <p:cNvSpPr/>
          <p:nvPr/>
        </p:nvSpPr>
        <p:spPr>
          <a:xfrm>
            <a:off x="8302752" y="1760000"/>
            <a:ext cx="3008376" cy="256032"/>
          </a:xfrm>
          <a:prstGeom prst="rect">
            <a:avLst/>
          </a:prstGeom>
          <a:noFill/>
          <a:ln/>
        </p:spPr>
        <p:txBody>
          <a:bodyPr wrap="square" lIns="0" tIns="0" rIns="0" bIns="0" rtlCol="0" anchor="ctr"/>
          <a:lstStyle/>
          <a:p>
            <a:pPr marL="0" indent="0" algn="ctr">
              <a:buNone/>
            </a:pPr>
            <a:r>
              <a:rPr lang="en-US" sz="1400" b="1" dirty="0">
                <a:solidFill>
                  <a:schemeClr val="bg1"/>
                </a:solidFill>
              </a:rPr>
              <a:t>Next 8-9 weeks</a:t>
            </a:r>
            <a:endParaRPr lang="en-US" sz="1400" dirty="0">
              <a:solidFill>
                <a:schemeClr val="bg1"/>
              </a:solidFill>
            </a:endParaRPr>
          </a:p>
        </p:txBody>
      </p:sp>
      <p:sp>
        <p:nvSpPr>
          <p:cNvPr id="11" name="Text 9"/>
          <p:cNvSpPr/>
          <p:nvPr/>
        </p:nvSpPr>
        <p:spPr>
          <a:xfrm>
            <a:off x="8302752" y="2150000"/>
            <a:ext cx="3008376" cy="1150000"/>
          </a:xfrm>
          <a:prstGeom prst="rect">
            <a:avLst/>
          </a:prstGeom>
          <a:noFill/>
          <a:ln/>
        </p:spPr>
        <p:txBody>
          <a:bodyPr wrap="square" lIns="254" tIns="254" rIns="254" bIns="254" rtlCol="0" anchor="ctr">
            <a:normAutofit/>
          </a:bodyPr>
          <a:lstStyle/>
          <a:p>
            <a:pPr marL="0" indent="0" algn="ctr">
              <a:buNone/>
            </a:pPr>
            <a:r>
              <a:rPr lang="en-US" sz="1300" dirty="0">
                <a:solidFill>
                  <a:schemeClr val="bg1"/>
                </a:solidFill>
              </a:rPr>
              <a:t>Test 3-5 signs</a:t>
            </a:r>
          </a:p>
          <a:p>
            <a:pPr marL="0" indent="0" algn="ctr">
              <a:buNone/>
            </a:pPr>
            <a:r>
              <a:rPr lang="en-US" sz="1300" dirty="0">
                <a:solidFill>
                  <a:schemeClr val="bg1"/>
                </a:solidFill>
              </a:rPr>
              <a:t>Parent interviews</a:t>
            </a:r>
          </a:p>
          <a:p>
            <a:pPr marL="0" indent="0" algn="ctr">
              <a:buNone/>
            </a:pPr>
            <a:r>
              <a:rPr lang="en-US" sz="1300" dirty="0">
                <a:solidFill>
                  <a:schemeClr val="bg1"/>
                </a:solidFill>
              </a:rPr>
              <a:t>School workflow test</a:t>
            </a:r>
          </a:p>
          <a:p>
            <a:pPr marL="0" indent="0" algn="ctr">
              <a:buNone/>
            </a:pPr>
            <a:r>
              <a:rPr lang="en-US" sz="1300" dirty="0">
                <a:solidFill>
                  <a:schemeClr val="bg1"/>
                </a:solidFill>
              </a:rPr>
              <a:t>Expert review</a:t>
            </a:r>
          </a:p>
          <a:p>
            <a:pPr marL="0" indent="0" algn="ctr">
              <a:buNone/>
            </a:pPr>
            <a:r>
              <a:rPr lang="en-US" sz="1300" dirty="0">
                <a:solidFill>
                  <a:schemeClr val="bg1"/>
                </a:solidFill>
              </a:rPr>
              <a:t>Continue / change / stop</a:t>
            </a:r>
          </a:p>
        </p:txBody>
      </p:sp>
      <p:sp>
        <p:nvSpPr>
          <p:cNvPr id="12" name="Shape 10"/>
          <p:cNvSpPr/>
          <p:nvPr/>
        </p:nvSpPr>
        <p:spPr>
          <a:xfrm>
            <a:off x="1828800" y="4150000"/>
            <a:ext cx="8503920" cy="594360"/>
          </a:xfrm>
          <a:prstGeom prst="roundRect">
            <a:avLst>
              <a:gd name="adj" fmla="val 12308"/>
            </a:avLst>
          </a:prstGeom>
          <a:solidFill>
            <a:srgbClr val="2F7F7B"/>
          </a:solidFill>
          <a:ln w="12700">
            <a:solidFill>
              <a:srgbClr val="2F7F7B"/>
            </a:solidFill>
            <a:prstDash val="solid"/>
          </a:ln>
        </p:spPr>
        <p:txBody>
          <a:bodyPr/>
          <a:lstStyle/>
          <a:p>
            <a:endParaRPr lang="en-US"/>
          </a:p>
        </p:txBody>
      </p:sp>
      <p:sp>
        <p:nvSpPr>
          <p:cNvPr id="13" name="Text 11"/>
          <p:cNvSpPr/>
          <p:nvPr/>
        </p:nvSpPr>
        <p:spPr>
          <a:xfrm>
            <a:off x="1965960" y="4323736"/>
            <a:ext cx="8229600" cy="228600"/>
          </a:xfrm>
          <a:prstGeom prst="rect">
            <a:avLst/>
          </a:prstGeom>
          <a:noFill/>
          <a:ln/>
        </p:spPr>
        <p:txBody>
          <a:bodyPr wrap="square" lIns="0" tIns="0" rIns="0" bIns="0" rtlCol="0" anchor="ctr"/>
          <a:lstStyle/>
          <a:p>
            <a:pPr marL="0" indent="0" algn="ctr">
              <a:buNone/>
            </a:pPr>
            <a:r>
              <a:rPr lang="en-US" sz="1600" b="1" dirty="0">
                <a:solidFill>
                  <a:srgbClr val="FFFFFF"/>
                </a:solidFill>
              </a:rPr>
              <a:t>Proceed with a focused 8-9 week commercial validation phase before scaling.</a:t>
            </a:r>
            <a:endParaRPr lang="en-US" sz="1600" dirty="0"/>
          </a:p>
        </p:txBody>
      </p:sp>
      <p:sp>
        <p:nvSpPr>
          <p:cNvPr id="14" name="Text 12"/>
          <p:cNvSpPr/>
          <p:nvPr/>
        </p:nvSpPr>
        <p:spPr>
          <a:xfrm>
            <a:off x="566928" y="6565392"/>
            <a:ext cx="6766560" cy="220000"/>
          </a:xfrm>
          <a:prstGeom prst="rect">
            <a:avLst/>
          </a:prstGeom>
          <a:noFill/>
          <a:ln/>
        </p:spPr>
        <p:txBody>
          <a:bodyPr wrap="square" lIns="0" tIns="0" rIns="0" bIns="0" rtlCol="0" anchor="ctr"/>
          <a:lstStyle/>
          <a:p>
            <a:pPr marL="0" indent="0">
              <a:buNone/>
            </a:pPr>
            <a:r>
              <a:rPr lang="en-US" sz="1100" dirty="0">
                <a:solidFill>
                  <a:srgbClr val="6F6F6F"/>
                </a:solidFill>
              </a:rPr>
              <a:t>KinderFlow - </a:t>
            </a:r>
            <a:r>
              <a:rPr lang="en-US" sz="1100">
                <a:solidFill>
                  <a:srgbClr val="6F6F6F"/>
                </a:solidFill>
              </a:rPr>
              <a:t>Early-stage commercial </a:t>
            </a:r>
            <a:r>
              <a:rPr lang="en-US" sz="1100" dirty="0">
                <a:solidFill>
                  <a:srgbClr val="6F6F6F"/>
                </a:solidFill>
              </a:rPr>
              <a:t>validation</a:t>
            </a:r>
            <a:endParaRPr lang="en-US" sz="1100" dirty="0"/>
          </a:p>
        </p:txBody>
      </p:sp>
      <p:sp>
        <p:nvSpPr>
          <p:cNvPr id="25" name="Slide Number Placeholder 0"/>
          <p:cNvSpPr>
            <a:spLocks noGrp="1"/>
          </p:cNvSpPr>
          <p:nvPr>
            <p:ph type="sldNum" sz="quarter" idx="4294967295"/>
          </p:nvPr>
        </p:nvSpPr>
        <p:spPr>
          <a:xfrm>
            <a:off x="1147572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F6F6F"/>
                </a:solidFill>
                <a:latin typeface="Aptos"/>
                <a:ea typeface="Aptos"/>
                <a:cs typeface="Aptos"/>
              </a:defRPr>
            </a:lvl1pPr>
          </a:lstStyle>
          <a:p>
            <a:pPr algn="l"/>
            <a:fld id="{F7021451-1387-4CA6-816F-3879F97B5CBC}" type="slidenum">
              <a:rPr lang="en-US" b="0"/>
              <a:t>17</a:t>
            </a:fld>
            <a:endParaRPr lang="en-US"/>
          </a:p>
        </p:txBody>
      </p:sp>
      <p:sp>
        <p:nvSpPr>
          <p:cNvPr id="70" name="Upside Line"/>
          <p:cNvSpPr/>
          <p:nvPr/>
        </p:nvSpPr>
        <p:spPr>
          <a:xfrm>
            <a:off x="824564" y="5150000"/>
            <a:ext cx="10542872" cy="500000"/>
          </a:xfrm>
          <a:prstGeom prst="rect">
            <a:avLst/>
          </a:prstGeom>
          <a:noFill/>
          <a:ln>
            <a:noFill/>
          </a:ln>
        </p:spPr>
        <p:txBody>
          <a:bodyPr wrap="square" lIns="0" tIns="0" rIns="0" bIns="0" rtlCol="0" anchor="ctr"/>
          <a:lstStyle/>
          <a:p>
            <a:pPr marL="0" indent="0" algn="ctr">
              <a:buNone/>
            </a:pPr>
            <a:r>
              <a:rPr lang="en-US" sz="1250" dirty="0">
                <a:solidFill>
                  <a:srgbClr val="6F6F6F"/>
                </a:solidFill>
              </a:rPr>
              <a:t>The upside for </a:t>
            </a:r>
            <a:r>
              <a:rPr lang="en-US" sz="1250">
                <a:solidFill>
                  <a:srgbClr val="6F6F6F"/>
                </a:solidFill>
              </a:rPr>
              <a:t>KinderFlow</a:t>
            </a:r>
            <a:r>
              <a:rPr lang="en-US" sz="1250" dirty="0">
                <a:solidFill>
                  <a:srgbClr val="6F6F6F"/>
                </a:solidFill>
              </a:rPr>
              <a:t>: a differentiated B2B service to sell to early-years </a:t>
            </a:r>
            <a:r>
              <a:rPr lang="en-US" sz="1250">
                <a:solidFill>
                  <a:srgbClr val="6F6F6F"/>
                </a:solidFill>
              </a:rPr>
              <a:t>centers</a:t>
            </a:r>
            <a:r>
              <a:rPr lang="en-US" sz="1250" dirty="0">
                <a:solidFill>
                  <a:srgbClr val="6F6F6F"/>
                </a:solidFill>
              </a:rPr>
              <a:t>, </a:t>
            </a:r>
            <a:r>
              <a:rPr lang="en-US" sz="1250">
                <a:solidFill>
                  <a:srgbClr val="6F6F6F"/>
                </a:solidFill>
              </a:rPr>
              <a:t>built on a </a:t>
            </a:r>
            <a:r>
              <a:rPr lang="en-US" sz="1250" dirty="0">
                <a:solidFill>
                  <a:srgbClr val="6F6F6F"/>
                </a:solidFill>
              </a:rPr>
              <a:t>content pipeline </a:t>
            </a:r>
            <a:r>
              <a:rPr lang="en-US" sz="1250">
                <a:solidFill>
                  <a:srgbClr val="6F6F6F"/>
                </a:solidFill>
              </a:rPr>
              <a:t>we own</a:t>
            </a:r>
            <a:r>
              <a:rPr lang="en-US" sz="1250" dirty="0">
                <a:solidFill>
                  <a:srgbClr val="6F6F6F"/>
                </a:solidFill>
              </a:rPr>
              <a: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897</TotalTime>
  <Words>2282</Words>
  <Application>Microsoft Macintosh PowerPoint</Application>
  <PresentationFormat>Panorámica</PresentationFormat>
  <Paragraphs>296</Paragraphs>
  <Slides>17</Slides>
  <Notes>13</Notes>
  <HiddenSlides>0</HiddenSlides>
  <MMClips>3</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vt:lpstr>
      <vt:lpstr>Aptos Display</vt:lpstr>
      <vt:lpstr>Arial</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KinderFlow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Kinder Signs - Market Opportunity</dc:title>
  <dc:subject>KinderFlow market opportunity assessment</dc:subject>
  <dc:creator>Gretel Ceballos Bustamante</dc:creator>
  <cp:lastModifiedBy>Gretel Ceballos Bustamante</cp:lastModifiedBy>
  <cp:revision>31</cp:revision>
  <dcterms:created xsi:type="dcterms:W3CDTF">2026-08-31T14:18:34Z</dcterms:created>
  <dcterms:modified xsi:type="dcterms:W3CDTF">2026-09-01T12:45:18Z</dcterms:modified>
</cp:coreProperties>
</file>